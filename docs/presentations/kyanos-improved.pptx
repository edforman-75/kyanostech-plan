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/>
          <a:p>
            <a:r>
              <a:t>"Thanasi, thank you for your time. When voters want to learn about a candidate, they don't visit campaign websites anymore—they ask AI.</a:t>
            </a:r>
          </a:p>
          <a:p/>
          <a:p>
            <a:r>
              <a:t>Kyanos ensures AI gives them the right answer."</a:t>
            </a:r>
          </a:p>
          <a:p/>
          <a:p>
            <a:r>
              <a:t>TRANSITION: "Let me start with a lesson we should have learned in 2024..."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/>
          <a:p>
            <a:r>
              <a:t>"You watched this happen. Joe Rogan's endorsement reached 14 million people. Progressives had no equivalent infrastructure.</a:t>
            </a:r>
          </a:p>
          <a:p/>
          <a:p>
            <a:r>
              <a:t>The same pattern is emerging with AI. Three companies—Google, OpenAI, Meta—control most AI information access.</a:t>
            </a:r>
          </a:p>
          <a:p/>
          <a:p>
            <a:r>
              <a:t>History doesn't repeat, but it rhymes. We have one chance to get ahead."</a:t>
            </a:r>
          </a:p>
          <a:p/>
          <a:p>
            <a:r>
              <a:t>TRANSITION: "But AI isn't just another podcast moment. The data shows it's more consequential..."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/>
          <a:p>
            <a:r>
              <a:t>"58% of Google searches end without a click—voters get their answer from AI and never visit a campaign website.</a:t>
            </a:r>
          </a:p>
          <a:p/>
          <a:p>
            <a:r>
              <a:t>When AI controls the answers, controlling what AI learns becomes critical. That's what Kyanos does.</a:t>
            </a:r>
          </a:p>
          <a:p/>
          <a:p>
            <a:r>
              <a:t>Three platforms matter now: Google AI Overviews, ChatGPT, and Meta AI—especially WhatsApp for Hispanic communities."</a:t>
            </a:r>
          </a:p>
          <a:p/>
          <a:p>
            <a:r>
              <a:t>TRANSITION: "And here's what makes this urgent: AI isn't just reaching voters. It's moving them..."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/>
          <a:p>
            <a:r>
              <a:t>"MIT research published in Nature confirms AI chatbots are 4x more persuasive than TV advertising. David Rand called it 'a shockingly large effect.'</a:t>
            </a:r>
          </a:p>
          <a:p/>
          <a:p>
            <a:r>
              <a:t>And the cost? $1-10 per voter influenced vs $100-600 for TV. That's 4x the persuasion at 1/60th the cost.</a:t>
            </a:r>
          </a:p>
          <a:p/>
          <a:p>
            <a:r>
              <a:t>This makes AI the dominant battleground for 2026 and beyond."</a:t>
            </a:r>
          </a:p>
          <a:p/>
          <a:p>
            <a:r>
              <a:t>TRANSITION: "But there's another dimension to this..."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/>
          <a:p>
            <a:r>
              <a:t>"Three pressure points: $9B+ in government contracts. Section 230 liability exposure. And an administration that demands loyalty.</a:t>
            </a:r>
          </a:p>
          <a:p/>
          <a:p>
            <a:r>
              <a:t>I'm not suggesting bad faith. But responsible corporate governance requires managing political risk. In this environment, that risk runs one direction.</a:t>
            </a:r>
          </a:p>
          <a:p/>
          <a:p>
            <a:r>
              <a:t>Without independent monitoring, progressive voices become invisible by design. That's why Kyanos exists."</a:t>
            </a:r>
          </a:p>
          <a:p/>
          <a:p>
            <a:r>
              <a:t>TRANSITION: "So what exactly are we building?"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/>
          <a:p>
            <a:r>
              <a:t>"Four steps: Monitor what AI says. Trace where it got that information. Diagnose root causes and rank by impact. Then provide specific fixes campaigns can execute immediately.</a:t>
            </a:r>
          </a:p>
          <a:p/>
          <a:p>
            <a:r>
              <a:t>We're not generic SEO—we're campaign-focused. We don't just generate reports—we provide ready-to-execute action items.</a:t>
            </a:r>
          </a:p>
          <a:p/>
          <a:p>
            <a:r>
              <a:t>And if AI models shift against progressives, we detect it first and sound the alarm."</a:t>
            </a:r>
          </a:p>
          <a:p/>
          <a:p>
            <a:r>
              <a:t>TRANSITION: "Let me show you how this works in practice..."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/>
          <a:p>
            <a:r>
              <a:t>"Here's a concrete example. Voter asks AI about a candidate's abortion position. AI says 'no clear position stated'—but the candidate has a clear position.</a:t>
            </a:r>
          </a:p>
          <a:p/>
          <a:p>
            <a:r>
              <a:t>We trace it: the issues page exists but lacks structured data AI can parse.</a:t>
            </a:r>
          </a:p>
          <a:p/>
          <a:p>
            <a:r>
              <a:t>The fix: Add structured FAQ, clear position statement, schema.org markup, submit to Google.</a:t>
            </a:r>
          </a:p>
          <a:p/>
          <a:p>
            <a:r>
              <a:t>Result: From confusion to clarity in 48 hours."</a:t>
            </a:r>
          </a:p>
          <a:p/>
          <a:p>
            <a:r>
              <a:t>TRANSITION: "Beyond Panopticon, we have a complete product suite..."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/>
          <a:p>
            <a:r>
              <a:t>"Panopticon is the flagship—MVP+, launching Q2 2026. It's where campaigns see what AI says and get fixes.</a:t>
            </a:r>
          </a:p>
          <a:p/>
          <a:p>
            <a:r>
              <a:t>GoodInk surfaces positive press coverage. Adwatch monitors opponent advertising. TripWire detects when competitors change messaging.</a:t>
            </a:r>
          </a:p>
          <a:p/>
          <a:p>
            <a:r>
              <a:t>Watchtower is our geographic monitoring network—it detects regional AI variation, critical for statewide and national campaigns."</a:t>
            </a:r>
          </a:p>
          <a:p/>
          <a:p>
            <a:r>
              <a:t>TRANSITION: "Now let me explain how we've structured this to be permanent and accountable..."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/>
          <a:p>
            <a:r>
              <a:t>"There's no direct competitor because the category doesn't exist yet.</a:t>
            </a:r>
          </a:p>
          <a:p/>
          <a:p>
            <a:r>
              <a:t>SEO tools aren't built for AI or politics. AI monitoring tools don't understand campaigns. Political tech focuses on voter data, not AI presence.</a:t>
            </a:r>
          </a:p>
          <a:p/>
          <a:p>
            <a:r>
              <a:t>We're first mover, and our trust structure means we can't be acquired by opponents.</a:t>
            </a:r>
          </a:p>
          <a:p/>
          <a:p>
            <a:r>
              <a:t>Network effects matter: more campaigns means better intelligence means stronger accountability."</a:t>
            </a:r>
          </a:p>
          <a:p/>
          <a:p>
            <a:r>
              <a:t>TRANSITION: "Let me explain our governance structure..."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/>
          <a:p>
            <a:r>
              <a:t>"We're following the Catalist model—trusted by Democratic campaigns since 2006.</a:t>
            </a:r>
          </a:p>
          <a:p/>
          <a:p>
            <a:r>
              <a:t>Trust owns 100% of the LLC. Mission is locked to progressives. Cannot be sold to opponents.</a:t>
            </a:r>
          </a:p>
          <a:p/>
          <a:p>
            <a:r>
              <a:t>Major funders get board seats—that's part of the value proposition. You're not buying equity. You're building permanent infrastructure."</a:t>
            </a:r>
          </a:p>
          <a:p/>
          <a:p>
            <a:r>
              <a:t>TRANSITION: "Let me introduce the team..."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/>
          <a:p>
            <a:r>
              <a:t>"I'm the architect, not the operator. 35 years in Silicon Valley, 11 startups, Stanford MBA.</a:t>
            </a:r>
          </a:p>
          <a:p/>
          <a:p>
            <a:r>
              <a:t>We're hiring a CEO with deep progressive foundation relationships. Technical lead builds Bentham. Research director ensures quality.</a:t>
            </a:r>
          </a:p>
          <a:p/>
          <a:p>
            <a:r>
              <a:t>Board includes progressive leaders, foundation reps, labor reps, and independent experts. Major funders get board seats."</a:t>
            </a:r>
          </a:p>
          <a:p/>
          <a:p>
            <a:r>
              <a:t>TRANSITION: "Here's the growth trajectory..."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/>
          <a:p>
            <a:r>
              <a:t>"2026 is a free year—we serve 200 campaigns at no cost. 15 statewide, 50 Congressional, 110 local, plus organizations.</a:t>
            </a:r>
          </a:p>
          <a:p/>
          <a:p>
            <a:r>
              <a:t>Why free? To build reference base and prove ROI. Case studies and testimonials for 2027 sales.</a:t>
            </a:r>
          </a:p>
          <a:p/>
          <a:p>
            <a:r>
              <a:t>By 2027 we launch paid subscriptions and reach breakeven. By 2028—presidential cycle—466 clients, $2.8M revenue, $850K surplus."</a:t>
            </a:r>
          </a:p>
          <a:p/>
          <a:p>
            <a:r>
              <a:t>TRANSITION: "Here's what we're asking for..."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/>
          <a:p>
            <a:r>
              <a:t>"We're asking for $1 million. Min $750K, reach $1.25M. Commitments needed by March 15.</a:t>
            </a:r>
          </a:p>
          <a:p/>
          <a:p>
            <a:r>
              <a:t>65% goes to personnel—5 FTEs. 15% contractors. Rest is infrastructure, marketing, operations.</a:t>
            </a:r>
          </a:p>
          <a:p/>
          <a:p>
            <a:r>
              <a:t>What does $1M enable? 200 campaigns served free. 5 FTEs hired. 4 products launched. $850K annual surplus by 2028."</a:t>
            </a:r>
          </a:p>
          <a:p/>
          <a:p>
            <a:r>
              <a:t>TRANSITION: "Let me tell you why I'm in this room specifically..."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/>
          <a:p>
            <a:r>
              <a:t>"Investing In US was founded on this observation: technology changes politics faster than politics adapts.</a:t>
            </a:r>
          </a:p>
          <a:p/>
          <a:p>
            <a:r>
              <a:t>You've invested in voter registration, candidate pipelines, media ecosystems. Kyanos is the AI layer that makes all of those more effective.</a:t>
            </a:r>
          </a:p>
          <a:p/>
          <a:p>
            <a:r>
              <a:t>Vote.org registers voters—we ensure they find accurate info when they research. Run for Something builds candidates—we help them compete in AI environments.</a:t>
            </a:r>
          </a:p>
          <a:p/>
          <a:p>
            <a:r>
              <a:t>Here's my ask: bring this to Reid and Dmitri. If it resonates, I'll give you everything you need to make the case internally.</a:t>
            </a:r>
          </a:p>
          <a:p/>
          <a:p>
            <a:r>
              <a:t>Help keep progressives visible when information access determines outcomes."</a:t>
            </a:r>
          </a:p>
          <a:p/>
          <a:p>
            <a:r>
              <a:t>FINAL: "What questions do you have? What would they need to see?"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yanos-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097280"/>
            <a:ext cx="2011680" cy="2011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2004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1A365D"/>
                </a:solidFill>
              </a:defRPr>
            </a:pPr>
            <a:r>
              <a:t>KYANOS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BC0"/>
                </a:solidFill>
              </a:defRPr>
            </a:pPr>
            <a:r>
              <a:t>When Voters Ask, What Will AI Say?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6634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C757D"/>
                </a:solidFill>
              </a:defRPr>
            </a:pPr>
            <a:r>
              <a:t>AI Monitoring for Progressive Campaigns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Ed Forman, Founder  •  For Thanasi Dilos, Investing In US  •  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365D"/>
                </a:solidFill>
              </a:defRPr>
            </a:pPr>
            <a:r>
              <a:t>We Missed Podcasts. AI Is Next.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029200" cy="4114800"/>
          </a:xfrm>
          <a:prstGeom prst="roundRect">
            <a:avLst>
              <a:gd name="adj" fmla="val 5000"/>
            </a:avLst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6B35"/>
                </a:solidFill>
              </a:defRPr>
            </a:pPr>
            <a:r>
              <a:t>2020-2024: PODCASTS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6B35"/>
                </a:solidFill>
              </a:defRPr>
            </a:pPr>
            <a:r>
              <a:t>14M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C757D"/>
                </a:solidFill>
              </a:defRPr>
            </a:pPr>
            <a:r>
              <a:t>viewers saw Rogan's</a:t>
            </a:r>
            <a:br/>
            <a:r>
              <a:t>Trump endorsement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6B35"/>
                </a:solidFill>
              </a:defRPr>
            </a:pPr>
            <a:r>
              <a:t>Progressives arrived late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52160" y="3474720"/>
            <a:ext cx="731520" cy="457200"/>
          </a:xfrm>
          <a:prstGeom prst="rightArrow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0" y="1645920"/>
            <a:ext cx="5029200" cy="41148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ECC71"/>
                </a:solidFill>
              </a:defRPr>
            </a:pPr>
            <a:r>
              <a:t>2024-2028: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5029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A365D"/>
                </a:solidFill>
              </a:defRPr>
            </a:pPr>
            <a:r>
              <a:t>Google AI • ChatGPT • Meta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2004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6C757D"/>
                </a:solidFill>
              </a:defRPr>
            </a:pPr>
            <a:r>
              <a:t>Three companies control</a:t>
            </a:r>
            <a:br/>
            <a:r>
              <a:t>most AI information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57200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ECC71"/>
                </a:solidFill>
              </a:defRPr>
            </a:pPr>
            <a:r>
              <a:t>We can lead this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852160"/>
            <a:ext cx="10789920" cy="731520"/>
          </a:xfrm>
          <a:prstGeom prst="roundRect">
            <a:avLst>
              <a:gd name="adj" fmla="val 20000"/>
            </a:avLst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9893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FFFFFF"/>
                </a:solidFill>
              </a:defRPr>
            </a:pPr>
            <a:r>
              <a:t>History doesn't repeat, but it rhymes — we have one chance to get ahead.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365D"/>
                </a:solidFill>
              </a:defRPr>
            </a:pPr>
            <a:r>
              <a:t>AI Controls the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07BC0"/>
                </a:solidFill>
              </a:defRPr>
            </a:pPr>
            <a:r>
              <a:t>58%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6C757D"/>
                </a:solidFill>
              </a:defRPr>
            </a:pPr>
            <a:r>
              <a:t>of searches end</a:t>
            </a:r>
            <a:br/>
            <a:r>
              <a:t>without a click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18872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07BC0"/>
                </a:solidFill>
              </a:defRPr>
            </a:pPr>
            <a:r>
              <a:t>50%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21945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6C757D"/>
                </a:solidFill>
              </a:defRPr>
            </a:pPr>
            <a:r>
              <a:t>show AI</a:t>
            </a:r>
            <a:br/>
            <a:r>
              <a:t>Overviews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18872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07BC0"/>
                </a:solidFill>
              </a:defRPr>
            </a:pPr>
            <a:r>
              <a:t>100M+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1945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6C757D"/>
                </a:solidFill>
              </a:defRPr>
            </a:pPr>
            <a:r>
              <a:t>weekly ChatGPT</a:t>
            </a:r>
            <a:br/>
            <a:r>
              <a:t>users in 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118872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6B35"/>
                </a:solidFill>
              </a:defRPr>
            </a:pPr>
            <a:r>
              <a:t>45-60%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21945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6C757D"/>
                </a:solidFill>
              </a:defRPr>
            </a:pPr>
            <a:r>
              <a:t>voter queries</a:t>
            </a:r>
            <a:br/>
            <a:r>
              <a:t>by AI in 2028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10789920" cy="109728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8862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A365D"/>
                </a:solidFill>
              </a:defRPr>
            </a:pPr>
            <a:r>
              <a:t>When AI controls the answers, controlling what AI learns becomes critical.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29200"/>
            <a:ext cx="3474720" cy="1371600"/>
          </a:xfrm>
          <a:prstGeom prst="roundRect">
            <a:avLst>
              <a:gd name="adj" fmla="val 15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2578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Google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607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Appears before all links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5029200"/>
            <a:ext cx="3474720" cy="1371600"/>
          </a:xfrm>
          <a:prstGeom prst="roundRect">
            <a:avLst>
              <a:gd name="adj" fmla="val 15000"/>
            </a:avLst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52578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ChatGPT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7607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100M+ active researchers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5029200"/>
            <a:ext cx="3474720" cy="1371600"/>
          </a:xfrm>
          <a:prstGeom prst="roundRect">
            <a:avLst>
              <a:gd name="adj" fmla="val 15000"/>
            </a:avLst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52578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Meta AI / WhatsApp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57607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Critical for Hispanic voters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365D"/>
                </a:solidFill>
              </a:defRPr>
            </a:pPr>
            <a:r>
              <a:t>4x More Persuasive at 1/60th the Cost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0" y="365760"/>
            <a:ext cx="3017520" cy="457200"/>
          </a:xfrm>
          <a:prstGeom prst="roundRect">
            <a:avLst>
              <a:gd name="adj" fmla="val 3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4114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7BC0"/>
                </a:solidFill>
              </a:defRPr>
            </a:pPr>
            <a:r>
              <a:t>Nature &amp; Science, Dec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C757D"/>
                </a:solidFill>
              </a:defRPr>
            </a:pPr>
            <a:r>
              <a:t>TV Advertising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2286000" cy="731520"/>
          </a:xfrm>
          <a:prstGeom prst="roundRect">
            <a:avLst>
              <a:gd name="adj" fmla="val 20000"/>
            </a:avLst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7BC0"/>
                </a:solidFill>
              </a:defRPr>
            </a:pPr>
            <a:r>
              <a:t>AI Chatbots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383280"/>
            <a:ext cx="9144000" cy="731520"/>
          </a:xfrm>
          <a:prstGeom prst="roundRect">
            <a:avLst>
              <a:gd name="adj" fmla="val 5000"/>
            </a:avLst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4x MORE PERSUASIVE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572000"/>
            <a:ext cx="4572000" cy="164592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6C757D"/>
                </a:solidFill>
              </a:defRPr>
            </a:pPr>
            <a:r>
              <a:t>$100-600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778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C757D"/>
                </a:solidFill>
              </a:defRPr>
            </a:pPr>
            <a:r>
              <a:t>per voter influenced (TV)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572000"/>
            <a:ext cx="4572000" cy="164592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75488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ECC71"/>
                </a:solidFill>
              </a:defRPr>
            </a:pPr>
            <a:r>
              <a:t>$1-10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5778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C757D"/>
                </a:solidFill>
              </a:defRPr>
            </a:pPr>
            <a:r>
              <a:t>per voter influenced (AI)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0058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C757D"/>
                </a:solidFill>
              </a:defRPr>
            </a:pPr>
            <a:r>
              <a:t>"A shockingly large effect" — David Rand, MIT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365D"/>
                </a:solidFill>
              </a:defRPr>
            </a:pPr>
            <a:r>
              <a:t>Three Pressure Points on AI Platforms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3200400" cy="274320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6B35"/>
                </a:solidFill>
              </a:defRPr>
            </a:pPr>
            <a:r>
              <a:t>$9B+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A365D"/>
                </a:solidFill>
              </a:defRPr>
            </a:pPr>
            <a:r>
              <a:t>Government</a:t>
            </a:r>
            <a:br/>
            <a:r>
              <a:t>Contracts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DoD, Intelligence Community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371600"/>
            <a:ext cx="3200400" cy="274320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6B35"/>
                </a:solidFill>
              </a:defRPr>
            </a:pPr>
            <a:r>
              <a:t>230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56032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A365D"/>
                </a:solidFill>
              </a:defRPr>
            </a:pPr>
            <a:r>
              <a:t>Section 230</a:t>
            </a:r>
            <a:br/>
            <a:r>
              <a:t>Exposure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3832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Liability, antitrust, mergers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371600"/>
            <a:ext cx="3200400" cy="274320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4592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6B35"/>
                </a:solidFill>
              </a:defRPr>
            </a:pPr>
            <a:r>
              <a:t>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56032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A365D"/>
                </a:solidFill>
              </a:defRPr>
            </a:pPr>
            <a:r>
              <a:t>Political</a:t>
            </a:r>
            <a:br/>
            <a:r>
              <a:t>Pressure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3832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Administration demands loyalty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572000"/>
            <a:ext cx="10789920" cy="1828800"/>
          </a:xfrm>
          <a:prstGeom prst="roundRect">
            <a:avLst>
              <a:gd name="adj" fmla="val 10000"/>
            </a:avLst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Without independent monitoring,</a:t>
            </a:r>
          </a:p>
          <a:p>
            <a:pPr algn="ctr">
              <a:defRPr sz="2800" b="1">
                <a:solidFill>
                  <a:srgbClr val="FF6B35"/>
                </a:solidFill>
              </a:defRPr>
            </a:pPr>
            <a:r>
              <a:t>progressive voices become invisible by design.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365D"/>
                </a:solidFill>
              </a:defRPr>
            </a:pPr>
            <a:r>
              <a:t>Kyanos: Monitor → Trace → Diagnose → Fix</a:t>
            </a:r>
          </a:p>
        </p:txBody>
      </p:sp>
      <p:sp>
        <p:nvSpPr>
          <p:cNvPr id="3" name="Oval 2"/>
          <p:cNvSpPr/>
          <p:nvPr/>
        </p:nvSpPr>
        <p:spPr>
          <a:xfrm>
            <a:off x="1463040" y="1371600"/>
            <a:ext cx="1280160" cy="1280160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645920"/>
            <a:ext cx="1280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A365D"/>
                </a:solidFill>
              </a:defRPr>
            </a:pPr>
            <a:r>
              <a:t>MONITOR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See what AI</a:t>
            </a:r>
            <a:br/>
            <a:r>
              <a:t>says about you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91839" y="1828800"/>
            <a:ext cx="457200" cy="36576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389120" y="1371600"/>
            <a:ext cx="1280160" cy="1280160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645920"/>
            <a:ext cx="1280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8346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A365D"/>
                </a:solidFill>
              </a:defRPr>
            </a:pPr>
            <a:r>
              <a:t>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29184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Find where it</a:t>
            </a:r>
            <a:br/>
            <a:r>
              <a:t>got that info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217920" y="1828800"/>
            <a:ext cx="457200" cy="36576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0" y="1371600"/>
            <a:ext cx="1280160" cy="1280160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1645920"/>
            <a:ext cx="1280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8346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A365D"/>
                </a:solidFill>
              </a:defRPr>
            </a:pPr>
            <a:r>
              <a:t>DIAGNOSE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29184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Rank issues</a:t>
            </a:r>
            <a:br/>
            <a:r>
              <a:t>by impact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144000" y="1828800"/>
            <a:ext cx="457200" cy="36576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1371600"/>
            <a:ext cx="1280160" cy="1280160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0" y="1645920"/>
            <a:ext cx="1280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28346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A365D"/>
                </a:solidFill>
              </a:defRPr>
            </a:pPr>
            <a:r>
              <a:t>FIX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329184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CMS-specific</a:t>
            </a:r>
            <a:br/>
            <a:r>
              <a:t>action steps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114800"/>
            <a:ext cx="5029200" cy="210312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2519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A365D"/>
                </a:solidFill>
              </a:defRPr>
            </a:pPr>
            <a:r>
              <a:t>What Makes Us Different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6634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ECC71"/>
                </a:solidFill>
              </a:defRPr>
            </a:pPr>
            <a:r>
              <a:t>✓ Campaign-focused, not generic SEO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0292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ECC71"/>
                </a:solidFill>
              </a:defRPr>
            </a:pPr>
            <a:r>
              <a:t>✓ AI-native, not search rankings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394959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ECC71"/>
                </a:solidFill>
              </a:defRPr>
            </a:pPr>
            <a:r>
              <a:t>✓ Root causes, not just reports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760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ECC71"/>
                </a:solidFill>
              </a:defRPr>
            </a:pPr>
            <a:r>
              <a:t>✓ Ready-to-execute fixes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114800"/>
            <a:ext cx="5303520" cy="2103120"/>
          </a:xfrm>
          <a:prstGeom prst="roundRect">
            <a:avLst>
              <a:gd name="adj" fmla="val 8000"/>
            </a:avLst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42519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🔔 Early Warning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75488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If AI models shift against progressives, we detect it first and sound the alarm.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365D"/>
                </a:solidFill>
              </a:defRPr>
            </a:pPr>
            <a:r>
              <a:t>From AI Confusion to Clear Messaging in 48 Hours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914400"/>
          </a:xfrm>
          <a:prstGeom prst="roundRect">
            <a:avLst>
              <a:gd name="adj" fmla="val 15000"/>
            </a:avLst>
          </a:prstGeom>
          <a:solidFill>
            <a:srgbClr val="4AB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💬 "What does [Candidate] think about abortion?"</a:t>
            </a:r>
          </a:p>
        </p:txBody>
      </p:sp>
      <p:sp>
        <p:nvSpPr>
          <p:cNvPr id="5" name="Down Arrow 4"/>
          <p:cNvSpPr/>
          <p:nvPr/>
        </p:nvSpPr>
        <p:spPr>
          <a:xfrm>
            <a:off x="3017520" y="2194560"/>
            <a:ext cx="457200" cy="365760"/>
          </a:xfrm>
          <a:prstGeom prst="down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5029200" cy="1097280"/>
          </a:xfrm>
          <a:prstGeom prst="roundRect">
            <a:avLst>
              <a:gd name="adj" fmla="val 10000"/>
            </a:avLst>
          </a:prstGeom>
          <a:solidFill>
            <a:srgbClr val="FFC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6B35"/>
                </a:solidFill>
              </a:defRPr>
            </a:pPr>
            <a:r>
              <a:t>❌ AI Response:</a:t>
            </a:r>
          </a:p>
          <a:p>
            <a:pPr>
              <a:defRPr sz="1400" i="1">
                <a:solidFill>
                  <a:srgbClr val="6C757D"/>
                </a:solidFill>
              </a:defRPr>
            </a:pPr>
            <a:r>
              <a:t>"The candidate has not stated a clear position..."</a:t>
            </a:r>
          </a:p>
        </p:txBody>
      </p:sp>
      <p:sp>
        <p:nvSpPr>
          <p:cNvPr id="8" name="Down Arrow 7"/>
          <p:cNvSpPr/>
          <p:nvPr/>
        </p:nvSpPr>
        <p:spPr>
          <a:xfrm>
            <a:off x="3017520" y="3840480"/>
            <a:ext cx="457200" cy="365760"/>
          </a:xfrm>
          <a:prstGeom prst="down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4297680"/>
            <a:ext cx="5029200" cy="1097280"/>
          </a:xfrm>
          <a:prstGeom prst="roundRect">
            <a:avLst>
              <a:gd name="adj" fmla="val 10000"/>
            </a:avLst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6B35"/>
                </a:solidFill>
              </a:defRPr>
            </a:pPr>
            <a:r>
              <a:t>🔍 Root Cause:</a:t>
            </a:r>
          </a:p>
          <a:p>
            <a:pPr>
              <a:defRPr sz="1400">
                <a:solidFill>
                  <a:srgbClr val="6C757D"/>
                </a:solidFill>
              </a:defRPr>
            </a:pPr>
            <a:r>
              <a:t>Issues page missing structured data markup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303520" cy="50292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3716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ECC71"/>
                </a:solidFill>
              </a:defRPr>
            </a:pPr>
            <a:r>
              <a:t>✓ THE FIX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A365D"/>
                </a:solidFill>
              </a:defRPr>
            </a:pPr>
            <a:r>
              <a:t>1. Add structured FAQ to issues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5176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A365D"/>
                </a:solidFill>
              </a:defRPr>
            </a:pPr>
            <a:r>
              <a:t>2. Include clear position statement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9184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A365D"/>
                </a:solidFill>
              </a:defRPr>
            </a:pPr>
            <a:r>
              <a:t>3. Add schema.org markup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93192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A365D"/>
                </a:solidFill>
              </a:defRPr>
            </a:pPr>
            <a:r>
              <a:t>4. Submit to Google Search Console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4754880"/>
            <a:ext cx="4754880" cy="1097280"/>
          </a:xfrm>
          <a:prstGeom prst="roundRect">
            <a:avLst>
              <a:gd name="adj" fmla="val 1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502920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✓ AI now shows correct position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365D"/>
                </a:solidFill>
              </a:defRPr>
            </a:pPr>
            <a:r>
              <a:t>The Kyanos Product Suite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303520" cy="219456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38100">
            <a:solidFill>
              <a:srgbClr val="007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37160" cy="219456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nopt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371600"/>
            <a:ext cx="548640" cy="548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846320" y="1280160"/>
            <a:ext cx="914400" cy="365760"/>
          </a:xfrm>
          <a:prstGeom prst="roundRect">
            <a:avLst>
              <a:gd name="adj" fmla="val 40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3258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MVP+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37160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BC0"/>
                </a:solidFill>
              </a:defRPr>
            </a:pPr>
            <a:r>
              <a:t>PANOPTICON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AI Monitoring &amp; Remediation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688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C757D"/>
                </a:solidFill>
              </a:defRPr>
            </a:pPr>
            <a:r>
              <a:t>Core product • Launching Q2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097280"/>
            <a:ext cx="5303520" cy="219456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381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1097280"/>
            <a:ext cx="137160" cy="2194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good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59" y="1371600"/>
            <a:ext cx="548640" cy="54864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10607040" y="1280160"/>
            <a:ext cx="914400" cy="365760"/>
          </a:xfrm>
          <a:prstGeom prst="roundRect">
            <a:avLst>
              <a:gd name="adj" fmla="val 40000"/>
            </a:avLst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13258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MVP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37160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9688"/>
                </a:solidFill>
              </a:defRPr>
            </a:pPr>
            <a:r>
              <a:t>GOODINK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0116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Positive Press Discovery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4688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C757D"/>
                </a:solidFill>
              </a:defRPr>
            </a:pPr>
            <a:r>
              <a:t>Surface coverage worth featuring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566160"/>
            <a:ext cx="5303520" cy="219456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381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566160"/>
            <a:ext cx="137160" cy="219456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adwat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840480"/>
            <a:ext cx="548640" cy="54864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4846320" y="3749040"/>
            <a:ext cx="914400" cy="365760"/>
          </a:xfrm>
          <a:prstGeom prst="roundRect">
            <a:avLst>
              <a:gd name="adj" fmla="val 40000"/>
            </a:avLst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3794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MVP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38404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7B1FA2"/>
                </a:solidFill>
              </a:defRPr>
            </a:pPr>
            <a:r>
              <a:t>ADWATCH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4805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Ad Monitoring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9377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C757D"/>
                </a:solidFill>
              </a:defRPr>
            </a:pPr>
            <a:r>
              <a:t>Track opponent ads across platforms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3566160"/>
            <a:ext cx="5303520" cy="219456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381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92240" y="3566160"/>
            <a:ext cx="137160" cy="21945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tripwi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59" y="3840480"/>
            <a:ext cx="548640" cy="54864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10607040" y="3749040"/>
            <a:ext cx="914400" cy="365760"/>
          </a:xfrm>
          <a:prstGeom prst="roundRect">
            <a:avLst>
              <a:gd name="adj" fmla="val 40000"/>
            </a:avLst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07040" y="3794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MVP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38404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7C00"/>
                </a:solidFill>
              </a:defRPr>
            </a:pPr>
            <a:r>
              <a:t>TRIPWIRE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4805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Opponent Monitoring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9377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C757D"/>
                </a:solidFill>
              </a:defRPr>
            </a:pPr>
            <a:r>
              <a:t>Know when competitors shift messaging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760720"/>
            <a:ext cx="10789920" cy="822960"/>
          </a:xfrm>
          <a:prstGeom prst="roundRect">
            <a:avLst>
              <a:gd name="adj" fmla="val 15000"/>
            </a:avLst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9436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🗼 WATCHTOWER: Geographic monitoring detects regional AI variation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365D"/>
                </a:solidFill>
              </a:defRPr>
            </a:pPr>
            <a:r>
              <a:t>First Mover in Progressive AI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A365D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560320" y="109728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A365D"/>
                </a:solidFill>
              </a:defRPr>
            </a:pPr>
            <a:r>
              <a:t>Political</a:t>
            </a:r>
            <a:br/>
            <a:r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09728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A365D"/>
                </a:solidFill>
              </a:defRPr>
            </a:pPr>
            <a:r>
              <a:t>AI Bias</a:t>
            </a:r>
            <a:br/>
            <a:r>
              <a:t>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A365D"/>
                </a:solidFill>
              </a:defRPr>
            </a:pPr>
            <a:r>
              <a:t>Root</a:t>
            </a:r>
            <a:br/>
            <a:r>
              <a:t>Causes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09728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A365D"/>
                </a:solidFill>
              </a:defRPr>
            </a:pPr>
            <a:r>
              <a:t>Actionable</a:t>
            </a:r>
            <a:br/>
            <a:r>
              <a:t>Fixes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109728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A365D"/>
                </a:solidFill>
              </a:defRPr>
            </a:pPr>
            <a:r>
              <a:t>Progressive</a:t>
            </a:r>
            <a:br/>
            <a:r>
              <a:t>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6C757D"/>
                </a:solidFill>
              </a:defRPr>
            </a:pPr>
            <a:r>
              <a:t>SEMrush / Ahrefs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874519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CCCCC"/>
                </a:solidFill>
              </a:defRPr>
            </a:pPr>
            <a:r>
              <a:t>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874519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CCCCC"/>
                </a:solidFill>
              </a:defRPr>
            </a:pPr>
            <a:r>
              <a:t>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874519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CCCCC"/>
                </a:solidFill>
              </a:defRPr>
            </a:pPr>
            <a:r>
              <a:t>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874519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CCCCC"/>
                </a:solidFill>
              </a:defRPr>
            </a:pPr>
            <a:r>
              <a:t>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1874519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CCCCC"/>
                </a:solidFill>
              </a:defRPr>
            </a:pPr>
            <a:r>
              <a:t>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83464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6C757D"/>
                </a:solidFill>
              </a:defRPr>
            </a:pPr>
            <a:r>
              <a:t>AI Monitoring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7889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CCCCC"/>
                </a:solidFill>
              </a:defRPr>
            </a:pPr>
            <a:r>
              <a:t>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7889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CCCCC"/>
                </a:solidFill>
              </a:defRPr>
            </a:pPr>
            <a:r>
              <a:t>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7889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CCCCC"/>
                </a:solidFill>
              </a:defRPr>
            </a:pPr>
            <a:r>
              <a:t>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7889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CCCCC"/>
                </a:solidFill>
              </a:defRPr>
            </a:pPr>
            <a:r>
              <a:t>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27889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CCCCC"/>
                </a:solidFill>
              </a:defRPr>
            </a:pPr>
            <a:r>
              <a:t>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49039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6C757D"/>
                </a:solidFill>
              </a:defRPr>
            </a:pPr>
            <a:r>
              <a:t>NGP VAN / Catalist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37033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ECC71"/>
                </a:solidFill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7033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CCCCC"/>
                </a:solidFill>
              </a:defRPr>
            </a:pPr>
            <a:r>
              <a:t>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7033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CCCCC"/>
                </a:solidFill>
              </a:defRPr>
            </a:pPr>
            <a:r>
              <a:t>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7033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CCCCC"/>
                </a:solidFill>
              </a:defRPr>
            </a:pPr>
            <a:r>
              <a:t>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37033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ECC71"/>
                </a:solidFill>
              </a:defRPr>
            </a:pPr>
            <a:r>
              <a:t>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480560"/>
            <a:ext cx="11155680" cy="822960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66344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BC0"/>
                </a:solidFill>
              </a:defRPr>
            </a:pPr>
            <a:r>
              <a:t>KYANOS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46177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ECC71"/>
                </a:solidFill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46177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ECC71"/>
                </a:solidFill>
              </a:defRPr>
            </a:pPr>
            <a: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6177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ECC71"/>
                </a:solidFill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6177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ECC71"/>
                </a:solidFill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46177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ECC71"/>
                </a:solidFill>
              </a:defRPr>
            </a:pPr>
            <a:r>
              <a:t>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303520"/>
            <a:ext cx="10789920" cy="1280160"/>
          </a:xfrm>
          <a:prstGeom prst="roundRect">
            <a:avLst>
              <a:gd name="adj" fmla="val 10000"/>
            </a:avLst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440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BDEFB"/>
                </a:solidFill>
              </a:defRPr>
            </a:pPr>
            <a:r>
              <a:t>NETWORK EFFECTS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8064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More campaigns → Better intelligence → Stronger platform accountability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365D"/>
                </a:solidFill>
              </a:defRPr>
            </a:pPr>
            <a:r>
              <a:t>Trust-Owned. Mission-Locked. Permanent.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097280"/>
            <a:ext cx="5029200" cy="1097280"/>
          </a:xfrm>
          <a:prstGeom prst="roundRect">
            <a:avLst>
              <a:gd name="adj" fmla="val 15000"/>
            </a:avLst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0" y="123444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KYANOS TRUST</a:t>
            </a:r>
          </a:p>
          <a:p>
            <a:pPr algn="ctr">
              <a:defRPr sz="1400">
                <a:solidFill>
                  <a:srgbClr val="BBDEFB"/>
                </a:solidFill>
              </a:defRPr>
            </a:pPr>
            <a:r>
              <a:t>Board of progressive leaders</a:t>
            </a:r>
          </a:p>
        </p:txBody>
      </p:sp>
      <p:sp>
        <p:nvSpPr>
          <p:cNvPr id="5" name="Down Arrow 4"/>
          <p:cNvSpPr/>
          <p:nvPr/>
        </p:nvSpPr>
        <p:spPr>
          <a:xfrm>
            <a:off x="5852160" y="2286000"/>
            <a:ext cx="640080" cy="548640"/>
          </a:xfrm>
          <a:prstGeom prst="downArrow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0" y="2926080"/>
            <a:ext cx="5029200" cy="914400"/>
          </a:xfrm>
          <a:prstGeom prst="roundRect">
            <a:avLst>
              <a:gd name="adj" fmla="val 15000"/>
            </a:avLst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31089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KYANOS LLC (100% trust-owned)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ECC71"/>
                </a:solidFill>
              </a:defRPr>
            </a:pPr>
            <a:r>
              <a:t>✓ Mission locked to progressives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ECC71"/>
                </a:solidFill>
              </a:defRPr>
            </a:pPr>
            <a:r>
              <a:t>✓ Cannot be sold to opponents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ECC71"/>
                </a:solidFill>
              </a:defRPr>
            </a:pPr>
            <a:r>
              <a:t>✓ No equity, no hostile exits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137160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A365D"/>
                </a:solidFill>
              </a:defRPr>
            </a:pPr>
            <a:r>
              <a:t>Major funders get board seats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19202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A365D"/>
                </a:solidFill>
              </a:defRPr>
            </a:pPr>
            <a:r>
              <a:t>Transparent governance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24688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A365D"/>
                </a:solidFill>
              </a:defRPr>
            </a:pPr>
            <a:r>
              <a:t>Permanent infrastructure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10789920" cy="23774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389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A365D"/>
                </a:solidFill>
              </a:defRPr>
            </a:pPr>
            <a:r>
              <a:t>THE CATALIST PRECEDENT — Trusted by Democratic campaigns since 2006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02920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BC0"/>
                </a:solidFill>
              </a:defRPr>
            </a:pPr>
            <a:r>
              <a:t>2006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6692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C757D"/>
                </a:solidFill>
              </a:defRPr>
            </a:pPr>
            <a:r>
              <a:t>Founded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502920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BC0"/>
                </a:solidFill>
              </a:defRPr>
            </a:pPr>
            <a:r>
              <a:t>$5M+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56692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C757D"/>
                </a:solidFill>
              </a:defRPr>
            </a:pPr>
            <a:r>
              <a:t>Initial funding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502920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BC0"/>
                </a:solidFill>
              </a:defRPr>
            </a:pPr>
            <a:r>
              <a:t>Trust LLC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56692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C757D"/>
                </a:solidFill>
              </a:defRPr>
            </a:pPr>
            <a:r>
              <a:t>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502920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BC0"/>
                </a:solidFill>
              </a:defRPr>
            </a:pPr>
            <a:r>
              <a:t>Every major</a:t>
            </a:r>
            <a:br/>
            <a:r>
              <a:t>Dem campaign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56692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C757D"/>
                </a:solidFill>
              </a:defRPr>
            </a:pPr>
            <a:r>
              <a:t>Today serves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365D"/>
                </a:solidFill>
              </a:defRPr>
            </a:pPr>
            <a:r>
              <a:t>Built for Long-Term Impact, Not Quick Exits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4572000" cy="256032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" y="1371600"/>
            <a:ext cx="1371600" cy="1371600"/>
          </a:xfrm>
          <a:prstGeom prst="ellipse">
            <a:avLst/>
          </a:prstGeom>
          <a:solidFill>
            <a:srgbClr val="4AB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371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365D"/>
                </a:solidFill>
              </a:defRPr>
            </a:pPr>
            <a:r>
              <a:t>Ed Forman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7373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7BC0"/>
                </a:solidFill>
              </a:defRPr>
            </a:pPr>
            <a:r>
              <a:t>Founder &amp; Architect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1945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757D"/>
                </a:solidFill>
              </a:defRPr>
            </a:pPr>
            <a:r>
              <a:t>• 35 years Silicon Valley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5603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757D"/>
                </a:solidFill>
              </a:defRPr>
            </a:pPr>
            <a:r>
              <a:t>• 11 startups (early employee)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9260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757D"/>
                </a:solidFill>
              </a:defRPr>
            </a:pPr>
            <a:r>
              <a:t>• Stanford MBA, taught there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09728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LAUNCH TEAM (Q2 2026)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1554480"/>
            <a:ext cx="1737360" cy="1005840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1691639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CEO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05740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C757D"/>
                </a:solidFill>
              </a:defRPr>
            </a:pPr>
            <a:r>
              <a:t>Strategy &amp; fundraising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1554480"/>
            <a:ext cx="1737360" cy="1005840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1691639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Tech Lead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05740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C757D"/>
                </a:solidFill>
              </a:defRPr>
            </a:pPr>
            <a:r>
              <a:t>Bentham infrastructure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1554480"/>
            <a:ext cx="1737360" cy="1005840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1691639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Research Dir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205740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C757D"/>
                </a:solidFill>
              </a:defRPr>
            </a:pPr>
            <a:r>
              <a:t>Methodology &amp; quality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743200"/>
            <a:ext cx="1737360" cy="1005840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88036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Ops Manager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324612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C757D"/>
                </a:solidFill>
              </a:defRPr>
            </a:pPr>
            <a:r>
              <a:t>Client delivery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2743200"/>
            <a:ext cx="1737360" cy="1005840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0" y="288036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Marketing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324612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C757D"/>
                </a:solidFill>
              </a:defRPr>
            </a:pPr>
            <a:r>
              <a:t>Partnerships &amp; sales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931920"/>
            <a:ext cx="10789920" cy="265176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1148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A365D"/>
                </a:solidFill>
              </a:defRPr>
            </a:pPr>
            <a:r>
              <a:t>BOARD OF TRUSTEES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" y="4663440"/>
            <a:ext cx="2286000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007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8006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Progressive</a:t>
            </a:r>
            <a:br/>
            <a:r>
              <a:t>Leaders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5778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C757D"/>
                </a:solidFill>
              </a:defRPr>
            </a:pPr>
            <a:r>
              <a:t>Mission fidelity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0" y="4663440"/>
            <a:ext cx="2286000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007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0" y="48006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Foundation</a:t>
            </a:r>
            <a:br/>
            <a:r>
              <a:t>Reps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55778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C757D"/>
                </a:solidFill>
              </a:defRPr>
            </a:pPr>
            <a:r>
              <a:t>Major funder seats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0" y="4663440"/>
            <a:ext cx="2286000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007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48006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Labor</a:t>
            </a:r>
            <a:br/>
            <a:r>
              <a:t>Reps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5778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C757D"/>
                </a:solidFill>
              </a:defRPr>
            </a:pPr>
            <a:r>
              <a:t>Union alignment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26880" y="4663440"/>
            <a:ext cx="2286000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007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0" y="48006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Independent</a:t>
            </a:r>
            <a:br/>
            <a:r>
              <a:t>Expert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55778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C757D"/>
                </a:solidFill>
              </a:defRPr>
            </a:pPr>
            <a:r>
              <a:t>Tech/political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365D"/>
                </a:solidFill>
              </a:defRPr>
            </a:pPr>
            <a:r>
              <a:t>2026 Free Year Builds Reference Base and Proves ROI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3474720" cy="32004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A365D"/>
                </a:solidFill>
              </a:defRPr>
            </a:pPr>
            <a: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FREE YEAR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3474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07BC0"/>
                </a:solidFill>
              </a:defRPr>
            </a:pPr>
            <a:r>
              <a:t>200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C757D"/>
                </a:solidFill>
              </a:defRPr>
            </a:pPr>
            <a:r>
              <a:t>campaigns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6C757D"/>
                </a:solidFill>
              </a:defRPr>
            </a:pPr>
            <a:r>
              <a:t>$0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389120" y="2560320"/>
            <a:ext cx="365760" cy="365760"/>
          </a:xfrm>
          <a:prstGeom prst="right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1097280"/>
            <a:ext cx="3474720" cy="3200400"/>
          </a:xfrm>
          <a:prstGeom prst="roundRect">
            <a:avLst>
              <a:gd name="adj" fmla="val 8000"/>
            </a:avLst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2801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A365D"/>
                </a:solidFill>
              </a:defRPr>
            </a:pPr>
            <a:r>
              <a:t>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373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LAUNCH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94560"/>
            <a:ext cx="3474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07BC0"/>
                </a:solidFill>
              </a:defRPr>
            </a:pPr>
            <a:r>
              <a:t>150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0175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C757D"/>
                </a:solidFill>
              </a:defRPr>
            </a:pPr>
            <a:r>
              <a:t>clients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4747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ECC71"/>
                </a:solidFill>
              </a:defRPr>
            </a:pPr>
            <a:r>
              <a:t>$1.2M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229600" y="2560320"/>
            <a:ext cx="365760" cy="365760"/>
          </a:xfrm>
          <a:prstGeom prst="right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0" y="1097280"/>
            <a:ext cx="3474720" cy="3200400"/>
          </a:xfrm>
          <a:prstGeom prst="roundRect">
            <a:avLst>
              <a:gd name="adj" fmla="val 8000"/>
            </a:avLst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2801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A365D"/>
                </a:solidFill>
              </a:defRPr>
            </a:pPr>
            <a:r>
              <a:t>2028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7373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194560"/>
            <a:ext cx="3474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07BC0"/>
                </a:solidFill>
              </a:defRPr>
            </a:pPr>
            <a:r>
              <a:t>466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0175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C757D"/>
                </a:solidFill>
              </a:defRPr>
            </a:pPr>
            <a:r>
              <a:t>clients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4747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ECC71"/>
                </a:solidFill>
              </a:defRPr>
            </a:pPr>
            <a:r>
              <a:t>$2.8M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5720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2026 Free Year Breakdown: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029200"/>
            <a:ext cx="2286000" cy="137160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12064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7BC0"/>
                </a:solidFill>
              </a:defRPr>
            </a:pPr>
            <a:r>
              <a:t>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852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Statewide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0" y="5029200"/>
            <a:ext cx="2286000" cy="137160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512064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7BC0"/>
                </a:solidFill>
              </a:defRPr>
            </a:pPr>
            <a:r>
              <a:t>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5852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Congressional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5029200"/>
            <a:ext cx="2286000" cy="137160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12064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7BC0"/>
                </a:solidFill>
              </a:defRPr>
            </a:pPr>
            <a:r>
              <a:t>110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852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Local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5029200"/>
            <a:ext cx="2286000" cy="137160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0" y="512064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7BC0"/>
                </a:solidFill>
              </a:defRPr>
            </a:pPr>
            <a:r>
              <a:t>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5852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Other orgs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365D"/>
                </a:solidFill>
              </a:defRPr>
            </a:pPr>
            <a:r>
              <a:t>$1M to Build Progressive AI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007BC0"/>
                </a:solidFill>
              </a:defRPr>
            </a:pPr>
            <a:r>
              <a:t>$1,000,000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C757D"/>
                </a:solidFill>
              </a:defRPr>
            </a:pPr>
            <a:r>
              <a:t>Min: $750K  •  Target: $1M  •  Reach: $1.25M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6B35"/>
                </a:solidFill>
              </a:defRPr>
            </a:pPr>
            <a:r>
              <a:t>📅 Commitments by March 15,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00584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USE OF FUNDS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371600"/>
            <a:ext cx="3268980" cy="411480"/>
          </a:xfrm>
          <a:prstGeom prst="roundRect">
            <a:avLst>
              <a:gd name="adj" fmla="val 20000"/>
            </a:avLst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1417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Personnel (5 FTEs): $650K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14173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757D"/>
                </a:solidFill>
              </a:defRPr>
            </a:pPr>
            <a:r>
              <a:t>65%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920240"/>
            <a:ext cx="754380" cy="411480"/>
          </a:xfrm>
          <a:prstGeom prst="roundRect">
            <a:avLst>
              <a:gd name="adj" fmla="val 20000"/>
            </a:avLst>
          </a:prstGeom>
          <a:solidFill>
            <a:srgbClr val="4AB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19659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C757D"/>
                </a:solidFill>
              </a:defRPr>
            </a:pPr>
            <a:r>
              <a:t>Contractors: $150K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19659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757D"/>
                </a:solidFill>
              </a:defRPr>
            </a:pPr>
            <a:r>
              <a:t>15%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2468880"/>
            <a:ext cx="251460" cy="411480"/>
          </a:xfrm>
          <a:prstGeom prst="roundRect">
            <a:avLst>
              <a:gd name="adj" fmla="val 20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25146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C757D"/>
                </a:solidFill>
              </a:defRPr>
            </a:pPr>
            <a:r>
              <a:t>Infrastructure: $48K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25146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757D"/>
                </a:solidFill>
              </a:defRPr>
            </a:pPr>
            <a:r>
              <a:t>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3017520"/>
            <a:ext cx="201168" cy="41148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0" y="3063239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C757D"/>
                </a:solidFill>
              </a:defRPr>
            </a:pPr>
            <a:r>
              <a:t>Marketing: $40K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3063239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757D"/>
                </a:solidFill>
              </a:defRPr>
            </a:pPr>
            <a:r>
              <a:t>4%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3566160"/>
            <a:ext cx="553212" cy="411480"/>
          </a:xfrm>
          <a:prstGeom prst="roundRect">
            <a:avLst>
              <a:gd name="adj" fmla="val 20000"/>
            </a:avLst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7840" y="3611879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C757D"/>
                </a:solidFill>
              </a:defRPr>
            </a:pPr>
            <a:r>
              <a:t>Other: $112K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3611879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757D"/>
                </a:solidFill>
              </a:defRPr>
            </a:pPr>
            <a:r>
              <a:t>11%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840480"/>
            <a:ext cx="10789920" cy="256032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ECC71"/>
                </a:solidFill>
              </a:defRPr>
            </a:pPr>
            <a:r>
              <a:t>WHAT $1M ENABLES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48056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7BC0"/>
                </a:solidFill>
              </a:defRPr>
            </a:pPr>
            <a:r>
              <a:t>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3035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campaigns</a:t>
            </a:r>
            <a:br/>
            <a:r>
              <a:t>served free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48056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7BC0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53035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FTEs</a:t>
            </a:r>
            <a:br/>
            <a:r>
              <a:t>hired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48056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7BC0"/>
                </a:solidFill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3035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products</a:t>
            </a:r>
            <a:br/>
            <a:r>
              <a:t>launched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448056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7BC0"/>
                </a:solidFill>
              </a:defRPr>
            </a:pPr>
            <a:r>
              <a:t>$850K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53035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surplus</a:t>
            </a:r>
            <a:br/>
            <a:r>
              <a:t>by 2028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365D"/>
                </a:solidFill>
              </a:defRPr>
            </a:pPr>
            <a:r>
              <a:t>Kyanos Completes Your Portfolio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0789920" cy="109728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i="1">
                <a:solidFill>
                  <a:srgbClr val="1A365D"/>
                </a:solidFill>
              </a:defRPr>
            </a:pPr>
            <a:r>
              <a:t>"Technology is changing politics faster than politics is adapting."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7BC0"/>
                </a:solidFill>
              </a:defRPr>
            </a:pPr>
            <a:r>
              <a:t>— Investing In US founding principle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2743200" cy="731520"/>
          </a:xfrm>
          <a:prstGeom prst="roundRect">
            <a:avLst>
              <a:gd name="adj" fmla="val 15000"/>
            </a:avLst>
          </a:prstGeom>
          <a:solidFill>
            <a:srgbClr val="4AB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Vote.org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Voter registration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56032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→ We ensure they find accurate info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291840"/>
            <a:ext cx="2743200" cy="731520"/>
          </a:xfrm>
          <a:prstGeom prst="roundRect">
            <a:avLst>
              <a:gd name="adj" fmla="val 15000"/>
            </a:avLst>
          </a:prstGeom>
          <a:solidFill>
            <a:srgbClr val="4AB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News for Democracy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033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Media ecosystem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47472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→ We ensure AI surfaces accurate news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206240"/>
            <a:ext cx="2743200" cy="731520"/>
          </a:xfrm>
          <a:prstGeom prst="roundRect">
            <a:avLst>
              <a:gd name="adj" fmla="val 15000"/>
            </a:avLst>
          </a:prstGeom>
          <a:solidFill>
            <a:srgbClr val="4AB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97679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Run for Something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177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Candidate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38912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→ We help them compete in 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03520"/>
            <a:ext cx="10789920" cy="1280160"/>
          </a:xfrm>
          <a:prstGeom prst="roundRect">
            <a:avLst>
              <a:gd name="adj" fmla="val 12000"/>
            </a:avLst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4864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Help keep progressives visible</a:t>
            </a:r>
          </a:p>
          <a:p>
            <a:pPr algn="ctr">
              <a:defRPr sz="2400">
                <a:solidFill>
                  <a:srgbClr val="BBDEFB"/>
                </a:solidFill>
              </a:defRPr>
            </a:pPr>
            <a:r>
              <a:t>when information access determines outcomes.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