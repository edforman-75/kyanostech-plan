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"Thanasi, thank you for your time. I reached out to Investing In US because you understand something most political operatives don't: the next communication revolution isn't coming—it's already here.</a:t>
            </a:r>
          </a:p>
          <a:p/>
          <a:p>
            <a:r>
              <a:t>You and Reid founded Investing In US on the thesis that technology changes politics faster than politics adapts. That's exactly what's happening with AI.</a:t>
            </a:r>
          </a:p>
          <a:p/>
          <a:p>
            <a:r>
              <a:t>Kyanos is the infrastructure play for progressive politics in the AI era. I want to show you why this belongs in your portfolio."</a:t>
            </a:r>
          </a:p>
          <a:p/>
          <a:p>
            <a:r>
              <a:t>TRANSITION: "Let me start with a lesson we should have learned in 2024..."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"You watched this happen. Joe Rogan's endorsement of Trump reached 14 million people in a single episode. Progressives had no equivalent infrastructure.</a:t>
            </a:r>
          </a:p>
          <a:p/>
          <a:p>
            <a:r>
              <a:t>The same pattern is emerging with AI. Right now, most campaigns treat AI as a curiosity—something the tech team might mention, not something the campaign manager prioritizes.</a:t>
            </a:r>
          </a:p>
          <a:p/>
          <a:p>
            <a:r>
              <a:t>That's exactly how we treated podcasts in 2020."</a:t>
            </a:r>
          </a:p>
          <a:p/>
          <a:p>
            <a:r>
              <a:t>TRANSITION: "But AI isn't just another podcast moment. The data shows it's more consequential..."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"This isn't about some future scenario. 58% of Google searches already end without a click—voters get their answer from AI Overviews and never visit a campaign website.</a:t>
            </a:r>
          </a:p>
          <a:p/>
          <a:p>
            <a:r>
              <a:t>By the time voters are making choices in 2028, nearly half of all political information queries will be answered inside AI environments, not on campaign websites.</a:t>
            </a:r>
          </a:p>
          <a:p/>
          <a:p>
            <a:r>
              <a:t>The mission of the candidate website has transformed. It's no longer primarily a destination for voters—it's the source material that AI systems draw from when voters research."</a:t>
            </a:r>
          </a:p>
          <a:p/>
          <a:p>
            <a:r>
              <a:t>TRANSITION: "And here's what makes this urgent: AI isn't just reaching voters. It's moving them—more effectively than any medium we've ever measured..."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"Thanasi, this is peer-reviewed research from the world's most prestigious scientific journals, published just last month.</a:t>
            </a:r>
          </a:p>
          <a:p/>
          <a:p>
            <a:r>
              <a:t>AI chatbots are the most persuasive political communication channel ever measured in controlled experiments. Four times more effective than television advertising.</a:t>
            </a:r>
          </a:p>
          <a:p/>
          <a:p>
            <a:r>
              <a:t>And the beauty of AI optimization: it costs a fraction of TV. We're talking $1-10 per voter influenced, compared to $100-600 for broadcast television.</a:t>
            </a:r>
          </a:p>
          <a:p/>
          <a:p>
            <a:r>
              <a:t>This isn't just about keeping pace. It's about finding a lever that actually works when traditional contact doesn't."</a:t>
            </a:r>
          </a:p>
          <a:p/>
          <a:p>
            <a:r>
              <a:t>TRANSITION: "But there's another dimension to this that I know you've been thinking about..."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"You know these companies better than I do. You know the pressures they face.</a:t>
            </a:r>
          </a:p>
          <a:p/>
          <a:p>
            <a:r>
              <a:t>I'm not suggesting bad faith. I'm suggesting that the incentive structures are misaligned. When an administration is willing to punish perceived disloyalty—and when companies have billions in government contracts at stake—caution has a political direction.</a:t>
            </a:r>
          </a:p>
          <a:p/>
          <a:p>
            <a:r>
              <a:t>That's why external monitoring matters. Campaigns and the progressive movement can't rely on platforms to self-police. We need independent visibility into how AI systems represent political topics—and the ability to sound the alarm if something changes.</a:t>
            </a:r>
          </a:p>
          <a:p/>
          <a:p>
            <a:r>
              <a:t>Kyanos provides that watchdog function."</a:t>
            </a:r>
          </a:p>
          <a:p/>
          <a:p>
            <a:r>
              <a:t>TRANSITION: "So what exactly are we building?"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"The name Kyanos comes from the ancient Greek word for blue—the root of 'cyan.' We chose it because we're building something foundational: the infrastructure that keeps progressives visible in the AI era.</a:t>
            </a:r>
          </a:p>
          <a:p/>
          <a:p>
            <a:r>
              <a:t>Our methodology is simple: Observe what AI says, Trace where it got that information, Diagnose the root cause, and Prescribe specific fixes.</a:t>
            </a:r>
          </a:p>
          <a:p/>
          <a:p>
            <a:r>
              <a:t>We don't just hand over a report. We monitor execution, coach the team through implementation, and confirm when AI systems update their responses."</a:t>
            </a:r>
          </a:p>
          <a:p/>
          <a:p>
            <a:r>
              <a:t>TRANSITION: "Let me show you how this works in practice..."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"Here's a concrete example. ChatGPT says a candidate supports a policy they actually oppose. We don't just flag the error—we trace it.</a:t>
            </a:r>
          </a:p>
          <a:p/>
          <a:p>
            <a:r>
              <a:t>Maybe it's a Wikipedia entry that needs correcting. Maybe it's a misquoted news article that's been indexed. Maybe the campaign's issues page is missing or poorly structured.</a:t>
            </a:r>
          </a:p>
          <a:p/>
          <a:p>
            <a:r>
              <a:t>Then we tell the campaign exactly what needs to happen. The comms director gets the messaging guidance. The web developer gets the technical specs. We provide templates, code snippets, everything they need to execute.</a:t>
            </a:r>
          </a:p>
          <a:p/>
          <a:p>
            <a:r>
              <a:t>And we don't walk away. We track implementation and confirm when AI systems update."</a:t>
            </a:r>
          </a:p>
          <a:p/>
          <a:p>
            <a:r>
              <a:t>TRANSITION: "Beyond Panopticon, we have a complete product suite..."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"Panopticon is the flagship—it's where campaigns see what AI says about them and get fixes.</a:t>
            </a:r>
          </a:p>
          <a:p/>
          <a:p>
            <a:r>
              <a:t>GoodInk solves a different problem: campaigns often miss positive press coverage they could be featuring. We surface that automatically.</a:t>
            </a:r>
          </a:p>
          <a:p/>
          <a:p>
            <a:r>
              <a:t>Adwatch monitors the political advertising landscape—what opponents are running, where, and how it's targeting voters.</a:t>
            </a:r>
          </a:p>
          <a:p/>
          <a:p>
            <a:r>
              <a:t>TripWire watches opponent websites for changes. When they update their messaging or positions, campaigns know immediately.</a:t>
            </a:r>
          </a:p>
          <a:p/>
          <a:p>
            <a:r>
              <a:t>All of this runs on Bentham, our extraction infrastructure. It's named after Jeremy Bentham, the philosopher who designed the original Panopticon."</a:t>
            </a:r>
          </a:p>
          <a:p/>
          <a:p>
            <a:r>
              <a:t>ADDITIONAL:</a:t>
            </a:r>
          </a:p>
          <a:p>
            <a:r>
              <a:t>• Watchtower: Distributed observation network for geographic monitoring</a:t>
            </a:r>
          </a:p>
          <a:p>
            <a:r>
              <a:t>• Bentham Infrastructure: The extraction engine powering all products</a:t>
            </a:r>
          </a:p>
          <a:p/>
          <a:p>
            <a:r>
              <a:t>TRANSITION: "Now let me explain how we've structured this to be permanent and accountable..."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"I know you've seen a lot of pitch decks. Most promise equity and exits. This is different.</a:t>
            </a:r>
          </a:p>
          <a:p/>
          <a:p>
            <a:r>
              <a:t>We're not optimizing for an exit. We're building infrastructure that the progressive movement will rely on for decades. The trust structure ensures that.</a:t>
            </a:r>
          </a:p>
          <a:p/>
          <a:p>
            <a:r>
              <a:t>Catalist proved this model works. They took foundation funding in 2006, built permanent infrastructure, and now serve virtually every major Democratic campaign. We're following the same playbook.</a:t>
            </a:r>
          </a:p>
          <a:p/>
          <a:p>
            <a:r>
              <a:t>Your investment doesn't come with equity—there is no equity. What you get is a seat at the table for governance, and the knowledge that you helped build something permanent."</a:t>
            </a:r>
          </a:p>
          <a:p/>
          <a:p>
            <a:r>
              <a:t>TRANSITION: "Here's the market we're going after..."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"The 2026 free year is strategic. We're investing $330K of the raise to serve 200 campaigns at no cost. That builds our reference base and generates the case studies we need to sell in 2027.</a:t>
            </a:r>
          </a:p>
          <a:p/>
          <a:p>
            <a:r>
              <a:t>The go-to-market is deliberately low-friction. Small campaigns get self-service—enter your info, system configures automatically. Larger campaigns come through consultants who already have trusted relationships.</a:t>
            </a:r>
          </a:p>
          <a:p/>
          <a:p>
            <a:r>
              <a:t>By 2028, we project 466 clients and $2.8M in revenue. We're cash-flow positive by late 2027."</a:t>
            </a:r>
          </a:p>
          <a:p/>
          <a:p>
            <a:r>
              <a:t>TRANSITION: "You're going to ask about competition..."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"You'll notice there's no direct competitor. That's because the category doesn't exist yet.</a:t>
            </a:r>
          </a:p>
          <a:p/>
          <a:p>
            <a:r>
              <a:t>SEO tools aren't built for AI. AI monitoring tools aren't built for politics. Political tech companies are focused on voter data, not AI presence.</a:t>
            </a:r>
          </a:p>
          <a:p/>
          <a:p>
            <a:r>
              <a:t>We're the first mover in progressive AI monitoring, and our trust structure means we can't be acquired by someone who would use this against us.</a:t>
            </a:r>
          </a:p>
          <a:p/>
          <a:p>
            <a:r>
              <a:t>The network effects matter here. Every campaign we serve makes our intelligence better. Every fix we implement teaches us more about how AI systems source information."</a:t>
            </a:r>
          </a:p>
          <a:p/>
          <a:p>
            <a:r>
              <a:t>TRANSITION: "Let me introduce the team..."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"I'm the architect, not the operator. My role is to assemble the team, frame the problem, and design a structure that outlasts any individual.</a:t>
            </a:r>
          </a:p>
          <a:p/>
          <a:p>
            <a:r>
              <a:t>We'll hire a CEO with deep relationships in the progressive funding community. The technical lead will build Bentham and the product suite. Research director ensures methodology rigor.</a:t>
            </a:r>
          </a:p>
          <a:p/>
          <a:p>
            <a:r>
              <a:t>The board of trustees governs the trust and ensures mission fidelity. Major funders get board seats—that's part of the value proposition for foundation investors."</a:t>
            </a:r>
          </a:p>
          <a:p/>
          <a:p>
            <a:r>
              <a:t>TRANSITION: "Here's what we're asking for..."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"We're asking for $1 million. That funds a full year of building and a free access program for 200 campaigns in 2026.</a:t>
            </a:r>
          </a:p>
          <a:p/>
          <a:p>
            <a:r>
              <a:t>Why can $1 million do what would have taken $5 million a few years ago? AI-assisted development has fundamentally changed the economics. We practice what we preach—Kyanos is built with the same AI capabilities we help campaigns leverage.</a:t>
            </a:r>
          </a:p>
          <a:p/>
          <a:p>
            <a:r>
              <a:t>The timeline is tight by design. We need commitments by March 15 to be operational by June and serving campaigns before the 2026 cycle heats up."</a:t>
            </a:r>
          </a:p>
          <a:p/>
          <a:p>
            <a:r>
              <a:t>TRANSITION: "Let me tell you why I'm in this room specifically..."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"Thanasi, Investing In US was founded on a simple observation: technology is changing politics faster than politics is adapting.</a:t>
            </a:r>
          </a:p>
          <a:p/>
          <a:p>
            <a:r>
              <a:t>That's exactly what we're seeing with AI. Political operatives are treating chatbots like a curiosity while conservatives are already optimizing for them.</a:t>
            </a:r>
          </a:p>
          <a:p/>
          <a:p>
            <a:r>
              <a:t>You've already invested in voter registration, candidate pipelines, and media ecosystems. Kyanos is the missing layer—ensuring that when voters use AI to research candidates, they find accurate information.</a:t>
            </a:r>
          </a:p>
          <a:p/>
          <a:p>
            <a:r>
              <a:t>And here's what I know about Investing In US: you're not looking for financial returns. You're looking for democratic returns. You want to build infrastructure that outlasts any single campaign or election cycle.</a:t>
            </a:r>
          </a:p>
          <a:p/>
          <a:p>
            <a:r>
              <a:t>That's what Kyanos is. Trust-owned. Mission-locked. Built to serve progressives permanently.</a:t>
            </a:r>
          </a:p>
          <a:p/>
          <a:p>
            <a:r>
              <a:t>The window is now. By 2028, the patterns will be set. The question is whether progressives have infrastructure in place—or whether we're playing catch-up on AI like we did with podcasts.</a:t>
            </a:r>
          </a:p>
          <a:p/>
          <a:p>
            <a:r>
              <a:t>Here's my ask: I'd like you to bring this to Reid and Dmitri. If this resonates with you—if you see how it completes your portfolio—I want to give you everything you need to make the case internally.</a:t>
            </a:r>
          </a:p>
          <a:p/>
          <a:p>
            <a:r>
              <a:t>What questions do you have? What would they need to see?"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1371600"/>
          </a:xfrm>
          <a:prstGeom prst="rect">
            <a:avLst/>
          </a:prstGeom>
          <a:noFill/>
        </p:spPr>
        <p:txBody>
          <a:bodyPr wrap="none">
            <a:spAutoFit/>
          </a:bodyPr>
          <a:lstStyle/>
          <a:p>
            <a:pPr algn="ctr">
              <a:defRPr sz="5400" b="1"/>
            </a:pPr>
            <a:r>
              <a:t>Kyanos</a:t>
            </a:r>
          </a:p>
        </p:txBody>
      </p:sp>
      <p:sp>
        <p:nvSpPr>
          <p:cNvPr id="3" name="TextBox 2"/>
          <p:cNvSpPr txBox="1"/>
          <p:nvPr/>
        </p:nvSpPr>
        <p:spPr>
          <a:xfrm>
            <a:off x="457200" y="3657600"/>
            <a:ext cx="8229600" cy="914400"/>
          </a:xfrm>
          <a:prstGeom prst="rect">
            <a:avLst/>
          </a:prstGeom>
          <a:noFill/>
        </p:spPr>
        <p:txBody>
          <a:bodyPr wrap="none">
            <a:spAutoFit/>
          </a:bodyPr>
          <a:lstStyle/>
          <a:p>
            <a:pPr algn="ctr">
              <a:defRPr sz="2400"/>
            </a:pPr>
            <a:r>
              <a:t>Keeping Progressives Visible in the AI Era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600" b="1"/>
            </a:pPr>
            <a:r>
              <a:t>We Missed Podcasts. AI Is Next.</a:t>
            </a:r>
          </a:p>
        </p:txBody>
      </p:sp>
      <p:sp>
        <p:nvSpPr>
          <p:cNvPr id="3" name="TextBox 2"/>
          <p:cNvSpPr txBox="1"/>
          <p:nvPr/>
        </p:nvSpPr>
        <p:spPr>
          <a:xfrm>
            <a:off x="457200" y="1188720"/>
            <a:ext cx="8229600" cy="5029200"/>
          </a:xfrm>
          <a:prstGeom prst="rect">
            <a:avLst/>
          </a:prstGeom>
          <a:noFill/>
        </p:spPr>
        <p:txBody>
          <a:bodyPr wrap="square">
            <a:spAutoFit/>
          </a:bodyPr>
          <a:lstStyle/>
          <a:p>
            <a:pPr>
              <a:defRPr sz="1800"/>
            </a:pPr>
            <a:r>
              <a:t>In 2020, progressives dismissed podcasts as entertainment for young men.</a:t>
            </a:r>
          </a:p>
          <a:p>
            <a:pPr>
              <a:spcBef>
                <a:spcPts val="600"/>
              </a:spcBef>
            </a:pPr>
          </a:p>
          <a:p>
            <a:pPr>
              <a:defRPr sz="1800"/>
            </a:pPr>
            <a:r>
              <a:t>Meanwhile, conservatives built an ecosystem that reached millions of persuadable voters every week.</a:t>
            </a:r>
          </a:p>
          <a:p>
            <a:pPr>
              <a:spcBef>
                <a:spcPts val="600"/>
              </a:spcBef>
            </a:pPr>
          </a:p>
          <a:p>
            <a:pPr>
              <a:defRPr sz="1800"/>
            </a:pPr>
            <a:r>
              <a:t>By the time we took it seriously, we were years behind.</a:t>
            </a:r>
          </a:p>
          <a:p>
            <a:pPr>
              <a:spcBef>
                <a:spcPts val="600"/>
              </a:spcBef>
            </a:pPr>
          </a:p>
          <a:p>
            <a:pPr>
              <a:spcBef>
                <a:spcPts val="1200"/>
              </a:spcBef>
              <a:defRPr b="1" sz="2000"/>
            </a:pPr>
            <a:r>
              <a:t>The Pattern Repeats</a:t>
            </a:r>
          </a:p>
          <a:p>
            <a:pPr>
              <a:spcBef>
                <a:spcPts val="600"/>
              </a:spcBef>
              <a:defRPr sz="1800"/>
            </a:pPr>
            <a:r>
              <a:t>2020-2024: Podcasts (Joe Rogan, Lex Fridman)</a:t>
            </a:r>
          </a:p>
          <a:p>
            <a:pPr>
              <a:spcBef>
                <a:spcPts val="600"/>
              </a:spcBef>
              <a:defRPr sz="1800"/>
            </a:pPr>
            <a:r>
              <a:t>2024-2028: AI Chatbots (Google AI Overviews, ChatGPT, WhatsApp AI)</a:t>
            </a:r>
          </a:p>
          <a:p>
            <a:pPr>
              <a:spcBef>
                <a:spcPts val="600"/>
              </a:spcBef>
            </a:pPr>
          </a:p>
          <a:p>
            <a:pPr>
              <a:defRPr sz="1800"/>
            </a:pPr>
            <a:r>
              <a:t>Progressives arrived late to podcasts. We have a chance to lead on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600" b="1"/>
            </a:pPr>
            <a:r>
              <a:t>By 2028, AI Will Answer Half of All Voter Queries</a:t>
            </a:r>
          </a:p>
        </p:txBody>
      </p:sp>
      <p:sp>
        <p:nvSpPr>
          <p:cNvPr id="3" name="TextBox 2"/>
          <p:cNvSpPr txBox="1"/>
          <p:nvPr/>
        </p:nvSpPr>
        <p:spPr>
          <a:xfrm>
            <a:off x="457200" y="1188720"/>
            <a:ext cx="8229600" cy="5029200"/>
          </a:xfrm>
          <a:prstGeom prst="rect">
            <a:avLst/>
          </a:prstGeom>
          <a:noFill/>
        </p:spPr>
        <p:txBody>
          <a:bodyPr wrap="square">
            <a:spAutoFit/>
          </a:bodyPr>
          <a:lstStyle/>
          <a:p>
            <a:pPr>
              <a:spcBef>
                <a:spcPts val="1200"/>
              </a:spcBef>
              <a:defRPr b="1" sz="2000"/>
            </a:pPr>
            <a:r>
              <a:t>Current State</a:t>
            </a:r>
          </a:p>
          <a:p>
            <a:pPr>
              <a:spcBef>
                <a:spcPts val="600"/>
              </a:spcBef>
              <a:defRPr sz="1800"/>
            </a:pPr>
            <a:r>
              <a:t>58.5% of Google searches end without a click</a:t>
            </a:r>
          </a:p>
          <a:p>
            <a:pPr>
              <a:spcBef>
                <a:spcPts val="600"/>
              </a:spcBef>
              <a:defRPr sz="1800"/>
            </a:pPr>
            <a:r>
              <a:t>50% of Google queries show AI Overviews</a:t>
            </a:r>
          </a:p>
          <a:p>
            <a:pPr>
              <a:spcBef>
                <a:spcPts val="600"/>
              </a:spcBef>
              <a:defRPr sz="1800"/>
            </a:pPr>
            <a:r>
              <a:t>100M+ weekly ChatGPT users in US</a:t>
            </a:r>
          </a:p>
          <a:p>
            <a:pPr>
              <a:spcBef>
                <a:spcPts val="600"/>
              </a:spcBef>
            </a:pPr>
          </a:p>
          <a:p>
            <a:pPr>
              <a:spcBef>
                <a:spcPts val="1200"/>
              </a:spcBef>
              <a:defRPr b="1" sz="2000"/>
            </a:pPr>
            <a:r>
              <a:t>What Matters Right Now</a:t>
            </a:r>
          </a:p>
          <a:p>
            <a:pPr>
              <a:spcBef>
                <a:spcPts val="600"/>
              </a:spcBef>
              <a:defRPr sz="1800"/>
            </a:pPr>
            <a:r>
              <a:t>Google AI Overviews - appears before any links</a:t>
            </a:r>
          </a:p>
          <a:p>
            <a:pPr>
              <a:spcBef>
                <a:spcPts val="600"/>
              </a:spcBef>
              <a:defRPr sz="1800"/>
            </a:pPr>
            <a:r>
              <a:t>ChatGPT - 100M+ weekly US users actively researching</a:t>
            </a:r>
          </a:p>
          <a:p>
            <a:pPr>
              <a:spcBef>
                <a:spcPts val="600"/>
              </a:spcBef>
              <a:defRPr sz="1800"/>
            </a:pPr>
            <a:r>
              <a:t>WhatsApp AI - critical channel for Hispanic communities</a:t>
            </a:r>
          </a:p>
          <a:p>
            <a:pPr>
              <a:spcBef>
                <a:spcPts val="600"/>
              </a:spcBef>
            </a:pPr>
          </a:p>
          <a:p>
            <a:pPr>
              <a:spcBef>
                <a:spcPts val="1200"/>
              </a:spcBef>
              <a:defRPr b="1" sz="2000"/>
            </a:pPr>
            <a:r>
              <a:t>The Trend Is Clear</a:t>
            </a:r>
          </a:p>
          <a:p>
            <a:pPr>
              <a:spcBef>
                <a:spcPts val="600"/>
              </a:spcBef>
              <a:defRPr sz="1800"/>
            </a:pPr>
            <a:r>
              <a:t>Amazon Alexa+ launched Feb 2025 (Prime-bundled)</a:t>
            </a:r>
          </a:p>
          <a:p>
            <a:pPr>
              <a:spcBef>
                <a:spcPts val="600"/>
              </a:spcBef>
              <a:defRPr sz="1800"/>
            </a:pPr>
            <a:r>
              <a:t>Apple partnering with Google for AI capabilities</a:t>
            </a:r>
          </a:p>
          <a:p>
            <a:pPr>
              <a:spcBef>
                <a:spcPts val="600"/>
              </a:spcBef>
              <a:defRPr sz="1800"/>
            </a:pPr>
            <a:r>
              <a:t>Voice AI coming to kitchens, cars, living rooms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600" b="1"/>
            </a:pPr>
            <a:r>
              <a:t>AI Is 4x More Persuasive Than Television</a:t>
            </a:r>
          </a:p>
        </p:txBody>
      </p:sp>
      <p:sp>
        <p:nvSpPr>
          <p:cNvPr id="3" name="TextBox 2"/>
          <p:cNvSpPr txBox="1"/>
          <p:nvPr/>
        </p:nvSpPr>
        <p:spPr>
          <a:xfrm>
            <a:off x="457200" y="1188720"/>
            <a:ext cx="8229600" cy="5029200"/>
          </a:xfrm>
          <a:prstGeom prst="rect">
            <a:avLst/>
          </a:prstGeom>
          <a:noFill/>
        </p:spPr>
        <p:txBody>
          <a:bodyPr wrap="square">
            <a:spAutoFit/>
          </a:bodyPr>
          <a:lstStyle/>
          <a:p>
            <a:pPr>
              <a:spcBef>
                <a:spcPts val="1200"/>
              </a:spcBef>
              <a:defRPr b="1" sz="2000"/>
            </a:pPr>
            <a:r>
              <a:t>December 2025: Landmark Studies in Nature and Science</a:t>
            </a:r>
          </a:p>
          <a:p>
            <a:pPr>
              <a:spcBef>
                <a:spcPts val="600"/>
              </a:spcBef>
            </a:pPr>
          </a:p>
          <a:p>
            <a:pPr>
              <a:spcBef>
                <a:spcPts val="600"/>
              </a:spcBef>
              <a:defRPr sz="1800"/>
            </a:pPr>
            <a:r>
              <a:t>Pro-Harris AI chatbot moved Trump supporters 3.9 points</a:t>
            </a:r>
          </a:p>
          <a:p>
            <a:pPr>
              <a:spcBef>
                <a:spcPts val="600"/>
              </a:spcBef>
              <a:defRPr sz="1800"/>
            </a:pPr>
            <a:r>
              <a:t>4x larger effect than TV advertising</a:t>
            </a:r>
          </a:p>
          <a:p>
            <a:pPr>
              <a:spcBef>
                <a:spcPts val="600"/>
              </a:spcBef>
              <a:defRPr sz="1800"/>
            </a:pPr>
            <a:r>
              <a:t>Canadian and Polish elections: ~10 percentage points shift</a:t>
            </a:r>
          </a:p>
          <a:p>
            <a:pPr>
              <a:spcBef>
                <a:spcPts val="600"/>
              </a:spcBef>
              <a:defRPr sz="1800"/>
            </a:pPr>
            <a:r>
              <a:t>AI optimized for persuasion: up to 25 percentage points</a:t>
            </a:r>
          </a:p>
          <a:p>
            <a:pPr>
              <a:spcBef>
                <a:spcPts val="600"/>
              </a:spcBef>
            </a:pPr>
          </a:p>
          <a:p>
            <a:pPr>
              <a:defRPr sz="1800"/>
            </a:pPr>
            <a:r>
              <a:t>"This is a shockingly large effect... especially in the context of presidential politics." — David Rand, MIT</a:t>
            </a:r>
          </a:p>
          <a:p>
            <a:pPr>
              <a:spcBef>
                <a:spcPts val="600"/>
              </a:spcBef>
            </a:pPr>
          </a:p>
          <a:p>
            <a:pPr>
              <a:spcBef>
                <a:spcPts val="1200"/>
              </a:spcBef>
              <a:defRPr b="1" sz="2000"/>
            </a:pPr>
            <a:r>
              <a:t>Meanwhile, Traditional Contact Has Near-Zero Effect</a:t>
            </a:r>
          </a:p>
          <a:p>
            <a:pPr>
              <a:spcBef>
                <a:spcPts val="600"/>
              </a:spcBef>
            </a:pPr>
          </a:p>
          <a:p>
            <a:pPr>
              <a:defRPr sz="1800"/>
            </a:pPr>
            <a:r>
              <a:t>Kalla &amp; Broockman (2018): 49 field experiments showed campaign contact and advertising have approximately zero effect on candidate choice.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600" b="1"/>
            </a:pPr>
            <a:r>
              <a:t>AI Platforms Face Structural Pressure</a:t>
            </a:r>
          </a:p>
        </p:txBody>
      </p:sp>
      <p:sp>
        <p:nvSpPr>
          <p:cNvPr id="3" name="TextBox 2"/>
          <p:cNvSpPr txBox="1"/>
          <p:nvPr/>
        </p:nvSpPr>
        <p:spPr>
          <a:xfrm>
            <a:off x="457200" y="1188720"/>
            <a:ext cx="8229600" cy="5029200"/>
          </a:xfrm>
          <a:prstGeom prst="rect">
            <a:avLst/>
          </a:prstGeom>
          <a:noFill/>
        </p:spPr>
        <p:txBody>
          <a:bodyPr wrap="square">
            <a:spAutoFit/>
          </a:bodyPr>
          <a:lstStyle/>
          <a:p>
            <a:pPr>
              <a:spcBef>
                <a:spcPts val="1200"/>
              </a:spcBef>
              <a:defRPr b="1" sz="2000"/>
            </a:pPr>
            <a:r>
              <a:t>The Concentration Problem</a:t>
            </a:r>
          </a:p>
          <a:p>
            <a:pPr>
              <a:spcBef>
                <a:spcPts val="600"/>
              </a:spcBef>
              <a:defRPr sz="1800"/>
            </a:pPr>
            <a:r>
              <a:t>Microsoft partners exclusively with OpenAI</a:t>
            </a:r>
          </a:p>
          <a:p>
            <a:pPr>
              <a:spcBef>
                <a:spcPts val="600"/>
              </a:spcBef>
              <a:defRPr sz="1800"/>
            </a:pPr>
            <a:r>
              <a:t>Amazon and Google invested billions in Anthropic</a:t>
            </a:r>
          </a:p>
          <a:p>
            <a:pPr>
              <a:spcBef>
                <a:spcPts val="600"/>
              </a:spcBef>
              <a:defRPr sz="1800"/>
            </a:pPr>
            <a:r>
              <a:t>Meta distributes Llama at platform scale</a:t>
            </a:r>
          </a:p>
          <a:p>
            <a:pPr>
              <a:spcBef>
                <a:spcPts val="600"/>
              </a:spcBef>
            </a:pPr>
          </a:p>
          <a:p>
            <a:pPr>
              <a:spcBef>
                <a:spcPts val="1200"/>
              </a:spcBef>
              <a:defRPr b="1" sz="2000"/>
            </a:pPr>
            <a:r>
              <a:t>The Leverage Points</a:t>
            </a:r>
          </a:p>
          <a:p>
            <a:pPr>
              <a:spcBef>
                <a:spcPts val="600"/>
              </a:spcBef>
              <a:defRPr sz="1800"/>
            </a:pPr>
            <a:r>
              <a:t>Government contracts (DoD JWCC: $9B, IC C2E: tens of billions)</a:t>
            </a:r>
          </a:p>
          <a:p>
            <a:pPr>
              <a:spcBef>
                <a:spcPts val="600"/>
              </a:spcBef>
              <a:defRPr sz="1800"/>
            </a:pPr>
            <a:r>
              <a:t>Regulatory exposure (antitrust, Section 230, mergers)</a:t>
            </a:r>
          </a:p>
          <a:p>
            <a:pPr>
              <a:spcBef>
                <a:spcPts val="600"/>
              </a:spcBef>
              <a:defRPr sz="1800"/>
            </a:pPr>
            <a:r>
              <a:t>Political pressure from administration demanding loyalty</a:t>
            </a:r>
          </a:p>
          <a:p>
            <a:pPr>
              <a:spcBef>
                <a:spcPts val="600"/>
              </a:spcBef>
            </a:pPr>
          </a:p>
          <a:p>
            <a:pPr>
              <a:spcBef>
                <a:spcPts val="1200"/>
              </a:spcBef>
              <a:defRPr b="1" sz="2000"/>
            </a:pPr>
            <a:r>
              <a:t>The Risk</a:t>
            </a:r>
          </a:p>
          <a:p>
            <a:pPr>
              <a:defRPr sz="1800"/>
            </a:pPr>
            <a:r>
              <a:t>This isn't about tech leaders' intentions—many are personally progressive.</a:t>
            </a:r>
          </a:p>
          <a:p>
            <a:pPr>
              <a:spcBef>
                <a:spcPts val="600"/>
              </a:spcBef>
            </a:pPr>
          </a:p>
          <a:p>
            <a:pPr>
              <a:defRPr sz="1800"/>
            </a:pPr>
            <a:r>
              <a:t>The issue is structural: responsible corporate governance requires managing political risk. In the current environment, that risk runs in one direction.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600" b="1"/>
            </a:pPr>
            <a:r>
              <a:t>Kyanos: Monitor, Diagnose, Fix</a:t>
            </a:r>
          </a:p>
        </p:txBody>
      </p:sp>
      <p:sp>
        <p:nvSpPr>
          <p:cNvPr id="3" name="TextBox 2"/>
          <p:cNvSpPr txBox="1"/>
          <p:nvPr/>
        </p:nvSpPr>
        <p:spPr>
          <a:xfrm>
            <a:off x="457200" y="1188720"/>
            <a:ext cx="8229600" cy="5029200"/>
          </a:xfrm>
          <a:prstGeom prst="rect">
            <a:avLst/>
          </a:prstGeom>
          <a:noFill/>
        </p:spPr>
        <p:txBody>
          <a:bodyPr wrap="square">
            <a:spAutoFit/>
          </a:bodyPr>
          <a:lstStyle/>
          <a:p>
            <a:pPr>
              <a:defRPr sz="1800"/>
            </a:pPr>
            <a:r>
              <a:t>A family of AI-driven services that help progressive campaigns manage their digital presence.</a:t>
            </a:r>
          </a:p>
          <a:p>
            <a:pPr>
              <a:spcBef>
                <a:spcPts val="600"/>
              </a:spcBef>
            </a:pPr>
          </a:p>
          <a:p>
            <a:pPr>
              <a:spcBef>
                <a:spcPts val="1200"/>
              </a:spcBef>
              <a:defRPr b="1" sz="2000"/>
            </a:pPr>
            <a:r>
              <a:t>What We Do</a:t>
            </a:r>
          </a:p>
          <a:p>
            <a:pPr>
              <a:spcBef>
                <a:spcPts val="600"/>
              </a:spcBef>
              <a:defRPr sz="1800"/>
            </a:pPr>
            <a:r>
              <a:t>Monitor how AI systems represent progressive candidates</a:t>
            </a:r>
          </a:p>
          <a:p>
            <a:pPr>
              <a:spcBef>
                <a:spcPts val="600"/>
              </a:spcBef>
              <a:defRPr sz="1800"/>
            </a:pPr>
            <a:r>
              <a:t>Trace errors to their root causes</a:t>
            </a:r>
          </a:p>
          <a:p>
            <a:pPr>
              <a:spcBef>
                <a:spcPts val="600"/>
              </a:spcBef>
              <a:defRPr sz="1800"/>
            </a:pPr>
            <a:r>
              <a:t>Diagnose what's actually fixable</a:t>
            </a:r>
          </a:p>
          <a:p>
            <a:pPr>
              <a:spcBef>
                <a:spcPts val="600"/>
              </a:spcBef>
              <a:defRPr sz="1800"/>
            </a:pPr>
            <a:r>
              <a:t>Prescribe specific actions campaigns can implement immediately</a:t>
            </a:r>
          </a:p>
          <a:p>
            <a:pPr>
              <a:spcBef>
                <a:spcPts val="600"/>
              </a:spcBef>
            </a:pPr>
          </a:p>
          <a:p>
            <a:pPr>
              <a:spcBef>
                <a:spcPts val="1200"/>
              </a:spcBef>
              <a:defRPr b="1" sz="2000"/>
            </a:pPr>
            <a:r>
              <a:t>What We Don't Do</a:t>
            </a:r>
          </a:p>
          <a:p>
            <a:pPr>
              <a:spcBef>
                <a:spcPts val="600"/>
              </a:spcBef>
              <a:defRPr sz="1800"/>
            </a:pPr>
            <a:r>
              <a:t>Tell campaigns what they 'should have' done</a:t>
            </a:r>
          </a:p>
          <a:p>
            <a:pPr>
              <a:spcBef>
                <a:spcPts val="600"/>
              </a:spcBef>
              <a:defRPr sz="1800"/>
            </a:pPr>
            <a:r>
              <a:t>Generate reports that sit unread</a:t>
            </a:r>
          </a:p>
          <a:p>
            <a:pPr>
              <a:spcBef>
                <a:spcPts val="600"/>
              </a:spcBef>
              <a:defRPr sz="1800"/>
            </a:pPr>
            <a:r>
              <a:t>Recommend things outside their control</a:t>
            </a:r>
          </a:p>
          <a:p>
            <a:pPr>
              <a:spcBef>
                <a:spcPts val="600"/>
              </a:spcBef>
            </a:pPr>
          </a:p>
          <a:p>
            <a:pPr>
              <a:spcBef>
                <a:spcPts val="1200"/>
              </a:spcBef>
              <a:defRPr b="1" sz="2000"/>
            </a:pPr>
            <a:r>
              <a:t>The Watchdog Role</a:t>
            </a:r>
          </a:p>
          <a:p>
            <a:pPr>
              <a:defRPr sz="1800"/>
            </a:pPr>
            <a:r>
              <a:t>If models shift against progressives, we know first and sound the alarm.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600" b="1"/>
            </a:pPr>
            <a:r>
              <a:t>The Causality Chain Methodology</a:t>
            </a:r>
          </a:p>
        </p:txBody>
      </p:sp>
      <p:sp>
        <p:nvSpPr>
          <p:cNvPr id="3" name="TextBox 2"/>
          <p:cNvSpPr txBox="1"/>
          <p:nvPr/>
        </p:nvSpPr>
        <p:spPr>
          <a:xfrm>
            <a:off x="457200" y="1188720"/>
            <a:ext cx="8229600" cy="5029200"/>
          </a:xfrm>
          <a:prstGeom prst="rect">
            <a:avLst/>
          </a:prstGeom>
          <a:noFill/>
        </p:spPr>
        <p:txBody>
          <a:bodyPr wrap="square">
            <a:spAutoFit/>
          </a:bodyPr>
          <a:lstStyle/>
          <a:p>
            <a:pPr>
              <a:spcBef>
                <a:spcPts val="1200"/>
              </a:spcBef>
              <a:defRPr b="1" sz="2000"/>
            </a:pPr>
            <a:r>
              <a:t>Phase 1: Monitor</a:t>
            </a:r>
          </a:p>
          <a:p>
            <a:pPr>
              <a:spcBef>
                <a:spcPts val="600"/>
              </a:spcBef>
              <a:defRPr sz="1800"/>
            </a:pPr>
            <a:r>
              <a:t>Query AI surfaces (Google AI Overviews, ChatGPT, Meta AI)</a:t>
            </a:r>
          </a:p>
          <a:p>
            <a:pPr>
              <a:spcBef>
                <a:spcPts val="600"/>
              </a:spcBef>
              <a:defRPr sz="1800"/>
            </a:pPr>
            <a:r>
              <a:t>Test questions voters actually ask about the candidate</a:t>
            </a:r>
          </a:p>
          <a:p>
            <a:pPr>
              <a:spcBef>
                <a:spcPts val="600"/>
              </a:spcBef>
              <a:defRPr sz="1800"/>
            </a:pPr>
            <a:r>
              <a:t>Watchtower detects geographic variation</a:t>
            </a:r>
          </a:p>
          <a:p>
            <a:pPr>
              <a:spcBef>
                <a:spcPts val="600"/>
              </a:spcBef>
            </a:pPr>
          </a:p>
          <a:p>
            <a:pPr>
              <a:spcBef>
                <a:spcPts val="1200"/>
              </a:spcBef>
              <a:defRPr b="1" sz="2000"/>
            </a:pPr>
            <a:r>
              <a:t>Phase 2: Prioritize</a:t>
            </a:r>
          </a:p>
          <a:p>
            <a:pPr>
              <a:spcBef>
                <a:spcPts val="600"/>
              </a:spcBef>
              <a:defRPr sz="1800"/>
            </a:pPr>
            <a:r>
              <a:t>Trace errors to root causes (Wikipedia? News? Campaign site?)</a:t>
            </a:r>
          </a:p>
          <a:p>
            <a:pPr>
              <a:spcBef>
                <a:spcPts val="600"/>
              </a:spcBef>
              <a:defRPr sz="1800"/>
            </a:pPr>
            <a:r>
              <a:t>Rank by: Voter Reach × Error Severity × Fixability</a:t>
            </a:r>
          </a:p>
          <a:p>
            <a:pPr>
              <a:spcBef>
                <a:spcPts val="600"/>
              </a:spcBef>
              <a:defRPr sz="1800"/>
            </a:pPr>
            <a:r>
              <a:t>Focus only on things the campaign can change</a:t>
            </a:r>
          </a:p>
          <a:p>
            <a:pPr>
              <a:spcBef>
                <a:spcPts val="600"/>
              </a:spcBef>
            </a:pPr>
          </a:p>
          <a:p>
            <a:pPr>
              <a:spcBef>
                <a:spcPts val="1200"/>
              </a:spcBef>
              <a:defRPr b="1" sz="2000"/>
            </a:pPr>
            <a:r>
              <a:t>Phase 3: Act</a:t>
            </a:r>
          </a:p>
          <a:p>
            <a:pPr>
              <a:spcBef>
                <a:spcPts val="600"/>
              </a:spcBef>
              <a:defRPr sz="1800"/>
            </a:pPr>
            <a:r>
              <a:t>Step-by-step instructions for each issue</a:t>
            </a:r>
          </a:p>
          <a:p>
            <a:pPr>
              <a:spcBef>
                <a:spcPts val="600"/>
              </a:spcBef>
              <a:defRPr sz="1800"/>
            </a:pPr>
            <a:r>
              <a:t>Tailored to campaign's CMS (WordPress, Squarespace, NationBuilder)</a:t>
            </a:r>
          </a:p>
          <a:p>
            <a:pPr>
              <a:spcBef>
                <a:spcPts val="600"/>
              </a:spcBef>
              <a:defRPr sz="1800"/>
            </a:pPr>
            <a:r>
              <a:t>Monitor execution and coach through completion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600" b="1"/>
            </a:pPr>
            <a:r>
              <a:t>Four Products, One Platform</a:t>
            </a:r>
          </a:p>
        </p:txBody>
      </p:sp>
      <p:graphicFrame>
        <p:nvGraphicFramePr>
          <p:cNvPr id="3" name="Table 2"/>
          <p:cNvGraphicFramePr>
            <a:graphicFrameLocks noGrp="1"/>
          </p:cNvGraphicFramePr>
          <p:nvPr/>
        </p:nvGraphicFramePr>
        <p:xfrm>
          <a:off x="457200" y="1371600"/>
          <a:ext cx="8229600" cy="22860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400"/>
                      </a:pPr>
                      <a:r>
                        <a:t>Product</a:t>
                      </a:r>
                    </a:p>
                  </a:txBody>
                  <a:tcPr/>
                </a:tc>
                <a:tc>
                  <a:txBody>
                    <a:bodyPr/>
                    <a:lstStyle/>
                    <a:p>
                      <a:pPr>
                        <a:defRPr b="1" sz="1400"/>
                      </a:pPr>
                      <a:r>
                        <a:t>Function</a:t>
                      </a:r>
                    </a:p>
                  </a:txBody>
                  <a:tcPr/>
                </a:tc>
                <a:tc>
                  <a:txBody>
                    <a:bodyPr/>
                    <a:lstStyle/>
                    <a:p>
                      <a:pPr>
                        <a:defRPr b="1" sz="1400"/>
                      </a:pPr>
                      <a:r>
                        <a:t>Status</a:t>
                      </a:r>
                    </a:p>
                  </a:txBody>
                  <a:tcPr/>
                </a:tc>
              </a:tr>
              <a:tr h="457200">
                <a:tc>
                  <a:txBody>
                    <a:bodyPr/>
                    <a:lstStyle/>
                    <a:p>
                      <a:pPr>
                        <a:defRPr sz="1200"/>
                      </a:pPr>
                      <a:r>
                        <a:t>Panopticon</a:t>
                      </a:r>
                    </a:p>
                  </a:txBody>
                  <a:tcPr/>
                </a:tc>
                <a:tc>
                  <a:txBody>
                    <a:bodyPr/>
                    <a:lstStyle/>
                    <a:p>
                      <a:pPr>
                        <a:defRPr sz="1200"/>
                      </a:pPr>
                      <a:r>
                        <a:t>Core AI monitoring and remediation</a:t>
                      </a:r>
                    </a:p>
                  </a:txBody>
                  <a:tcPr/>
                </a:tc>
                <a:tc>
                  <a:txBody>
                    <a:bodyPr/>
                    <a:lstStyle/>
                    <a:p>
                      <a:pPr>
                        <a:defRPr sz="1200"/>
                      </a:pPr>
                      <a:r>
                        <a:t>MVP+</a:t>
                      </a:r>
                    </a:p>
                  </a:txBody>
                  <a:tcPr/>
                </a:tc>
              </a:tr>
              <a:tr h="457200">
                <a:tc>
                  <a:txBody>
                    <a:bodyPr/>
                    <a:lstStyle/>
                    <a:p>
                      <a:pPr>
                        <a:defRPr sz="1200"/>
                      </a:pPr>
                      <a:r>
                        <a:t>GoodInk</a:t>
                      </a:r>
                    </a:p>
                  </a:txBody>
                  <a:tcPr/>
                </a:tc>
                <a:tc>
                  <a:txBody>
                    <a:bodyPr/>
                    <a:lstStyle/>
                    <a:p>
                      <a:pPr>
                        <a:defRPr sz="1200"/>
                      </a:pPr>
                      <a:r>
                        <a:t>Positive press discovery for campaigns to feature</a:t>
                      </a:r>
                    </a:p>
                  </a:txBody>
                  <a:tcPr/>
                </a:tc>
                <a:tc>
                  <a:txBody>
                    <a:bodyPr/>
                    <a:lstStyle/>
                    <a:p>
                      <a:pPr>
                        <a:defRPr sz="1200"/>
                      </a:pPr>
                      <a:r>
                        <a:t>MVP</a:t>
                      </a:r>
                    </a:p>
                  </a:txBody>
                  <a:tcPr/>
                </a:tc>
              </a:tr>
              <a:tr h="457200">
                <a:tc>
                  <a:txBody>
                    <a:bodyPr/>
                    <a:lstStyle/>
                    <a:p>
                      <a:pPr>
                        <a:defRPr sz="1200"/>
                      </a:pPr>
                      <a:r>
                        <a:t>Adwatch</a:t>
                      </a:r>
                    </a:p>
                  </a:txBody>
                  <a:tcPr/>
                </a:tc>
                <a:tc>
                  <a:txBody>
                    <a:bodyPr/>
                    <a:lstStyle/>
                    <a:p>
                      <a:pPr>
                        <a:defRPr sz="1200"/>
                      </a:pPr>
                      <a:r>
                        <a:t>Political ad monitoring across Google and Meta</a:t>
                      </a:r>
                    </a:p>
                  </a:txBody>
                  <a:tcPr/>
                </a:tc>
                <a:tc>
                  <a:txBody>
                    <a:bodyPr/>
                    <a:lstStyle/>
                    <a:p>
                      <a:pPr>
                        <a:defRPr sz="1200"/>
                      </a:pPr>
                      <a:r>
                        <a:t>MVP</a:t>
                      </a:r>
                    </a:p>
                  </a:txBody>
                  <a:tcPr/>
                </a:tc>
              </a:tr>
              <a:tr h="457200">
                <a:tc>
                  <a:txBody>
                    <a:bodyPr/>
                    <a:lstStyle/>
                    <a:p>
                      <a:pPr>
                        <a:defRPr sz="1200"/>
                      </a:pPr>
                      <a:r>
                        <a:t>TripWire</a:t>
                      </a:r>
                    </a:p>
                  </a:txBody>
                  <a:tcPr/>
                </a:tc>
                <a:tc>
                  <a:txBody>
                    <a:bodyPr/>
                    <a:lstStyle/>
                    <a:p>
                      <a:pPr>
                        <a:defRPr sz="1200"/>
                      </a:pPr>
                      <a:r>
                        <a:t>Opponent website change detection</a:t>
                      </a:r>
                    </a:p>
                  </a:txBody>
                  <a:tcPr/>
                </a:tc>
                <a:tc>
                  <a:txBody>
                    <a:bodyPr/>
                    <a:lstStyle/>
                    <a:p>
                      <a:pPr>
                        <a:defRPr sz="1200"/>
                      </a:pPr>
                      <a:r>
                        <a:t>MVP</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600" b="1"/>
            </a:pPr>
            <a:r>
              <a:t>How We Operate</a:t>
            </a:r>
          </a:p>
        </p:txBody>
      </p:sp>
      <p:sp>
        <p:nvSpPr>
          <p:cNvPr id="3" name="TextBox 2"/>
          <p:cNvSpPr txBox="1"/>
          <p:nvPr/>
        </p:nvSpPr>
        <p:spPr>
          <a:xfrm>
            <a:off x="457200" y="1188720"/>
            <a:ext cx="8229600" cy="5029200"/>
          </a:xfrm>
          <a:prstGeom prst="rect">
            <a:avLst/>
          </a:prstGeom>
          <a:noFill/>
        </p:spPr>
        <p:txBody>
          <a:bodyPr wrap="square">
            <a:spAutoFit/>
          </a:bodyPr>
          <a:lstStyle/>
          <a:p>
            <a:pPr>
              <a:spcBef>
                <a:spcPts val="1200"/>
              </a:spcBef>
              <a:defRPr b="1" sz="2000"/>
            </a:pPr>
            <a:r>
              <a:t>Trust-Owned. Mission-Locked. Sustainable.</a:t>
            </a:r>
          </a:p>
          <a:p>
            <a:pPr>
              <a:spcBef>
                <a:spcPts val="600"/>
              </a:spcBef>
            </a:pPr>
          </a:p>
          <a:p>
            <a:pPr>
              <a:spcBef>
                <a:spcPts val="1200"/>
              </a:spcBef>
              <a:defRPr b="1" sz="2000"/>
            </a:pPr>
            <a:r>
              <a:t>Structure</a:t>
            </a:r>
          </a:p>
          <a:p>
            <a:pPr>
              <a:spcBef>
                <a:spcPts val="600"/>
              </a:spcBef>
              <a:defRPr sz="1800"/>
            </a:pPr>
            <a:r>
              <a:t>Trust entity owns 100% of Kyanos LLC</a:t>
            </a:r>
          </a:p>
          <a:p>
            <a:pPr>
              <a:spcBef>
                <a:spcPts val="600"/>
              </a:spcBef>
              <a:defRPr sz="1800"/>
            </a:pPr>
            <a:r>
              <a:t>Board of trustees (3-5 progressive leaders) governs trust</a:t>
            </a:r>
          </a:p>
          <a:p>
            <a:pPr>
              <a:spcBef>
                <a:spcPts val="600"/>
              </a:spcBef>
              <a:defRPr sz="1800"/>
            </a:pPr>
            <a:r>
              <a:t>Trust charter locks in progressive-only service</a:t>
            </a:r>
          </a:p>
          <a:p>
            <a:pPr>
              <a:spcBef>
                <a:spcPts val="600"/>
              </a:spcBef>
              <a:defRPr sz="1800"/>
            </a:pPr>
            <a:r>
              <a:t>Prevents hostile acquisition—can never be sold to opponents</a:t>
            </a:r>
          </a:p>
          <a:p>
            <a:pPr>
              <a:spcBef>
                <a:spcPts val="600"/>
              </a:spcBef>
            </a:pPr>
          </a:p>
          <a:p>
            <a:pPr>
              <a:spcBef>
                <a:spcPts val="1200"/>
              </a:spcBef>
              <a:defRPr b="1" sz="2000"/>
            </a:pPr>
            <a:r>
              <a:t>The Catalist Precedent</a:t>
            </a:r>
          </a:p>
          <a:p>
            <a:pPr>
              <a:spcBef>
                <a:spcPts val="600"/>
              </a:spcBef>
              <a:defRPr sz="1800"/>
            </a:pPr>
            <a:r>
              <a:t>Founded 2006 with $1M from Soros, $4M+ from Tides</a:t>
            </a:r>
          </a:p>
          <a:p>
            <a:pPr>
              <a:spcBef>
                <a:spcPts val="600"/>
              </a:spcBef>
              <a:defRPr sz="1800"/>
            </a:pPr>
            <a:r>
              <a:t>Trust-owned LLC structure</a:t>
            </a:r>
          </a:p>
          <a:p>
            <a:pPr>
              <a:spcBef>
                <a:spcPts val="600"/>
              </a:spcBef>
              <a:defRPr sz="1800"/>
            </a:pPr>
            <a:r>
              <a:t>Today serves virtually every major Democratic campaign</a:t>
            </a:r>
          </a:p>
          <a:p>
            <a:pPr>
              <a:spcBef>
                <a:spcPts val="600"/>
              </a:spcBef>
            </a:pPr>
          </a:p>
          <a:p>
            <a:pPr>
              <a:spcBef>
                <a:spcPts val="1200"/>
              </a:spcBef>
              <a:defRPr b="1" sz="2000"/>
            </a:pPr>
            <a:r>
              <a:t>The model is proven. Foundation funding creates permanent progressive infrastructure.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600" b="1"/>
            </a:pPr>
            <a:r>
              <a:t>The Path to 466 Clients</a:t>
            </a:r>
          </a:p>
        </p:txBody>
      </p:sp>
      <p:sp>
        <p:nvSpPr>
          <p:cNvPr id="3" name="TextBox 2"/>
          <p:cNvSpPr txBox="1"/>
          <p:nvPr/>
        </p:nvSpPr>
        <p:spPr>
          <a:xfrm>
            <a:off x="457200" y="1188720"/>
            <a:ext cx="8229600" cy="5029200"/>
          </a:xfrm>
          <a:prstGeom prst="rect">
            <a:avLst/>
          </a:prstGeom>
          <a:noFill/>
        </p:spPr>
        <p:txBody>
          <a:bodyPr wrap="square">
            <a:spAutoFit/>
          </a:bodyPr>
          <a:lstStyle/>
          <a:p>
            <a:pPr>
              <a:spcBef>
                <a:spcPts val="1200"/>
              </a:spcBef>
              <a:defRPr b="1" sz="2000"/>
            </a:pPr>
            <a:r>
              <a:t>2026: The Free Year (Foundation-Funded)</a:t>
            </a:r>
          </a:p>
          <a:p>
            <a:pPr>
              <a:spcBef>
                <a:spcPts val="600"/>
              </a:spcBef>
              <a:defRPr sz="1800"/>
            </a:pPr>
            <a:r>
              <a:t>15 Statewide campaigns</a:t>
            </a:r>
          </a:p>
          <a:p>
            <a:pPr>
              <a:spcBef>
                <a:spcPts val="600"/>
              </a:spcBef>
              <a:defRPr sz="1800"/>
            </a:pPr>
            <a:r>
              <a:t>50 Congressional campaigns</a:t>
            </a:r>
          </a:p>
          <a:p>
            <a:pPr>
              <a:spcBef>
                <a:spcPts val="600"/>
              </a:spcBef>
              <a:defRPr sz="1800"/>
            </a:pPr>
            <a:r>
              <a:t>110 Local campaigns</a:t>
            </a:r>
          </a:p>
          <a:p>
            <a:pPr>
              <a:spcBef>
                <a:spcPts val="600"/>
              </a:spcBef>
              <a:defRPr sz="1800"/>
            </a:pPr>
            <a:r>
              <a:t>15 Officeholders + 10 Organizations</a:t>
            </a:r>
          </a:p>
          <a:p>
            <a:pPr>
              <a:spcBef>
                <a:spcPts val="600"/>
              </a:spcBef>
              <a:defRPr sz="1800"/>
            </a:pPr>
            <a:r>
              <a:t>Total: 200 campaigns served free</a:t>
            </a:r>
          </a:p>
          <a:p>
            <a:pPr>
              <a:spcBef>
                <a:spcPts val="600"/>
              </a:spcBef>
            </a:pPr>
          </a:p>
          <a:p>
            <a:pPr>
              <a:defRPr sz="1800"/>
            </a:pPr>
            <a:r>
              <a:t>**Purpose:** Build reference base, case studies, testimonials</a:t>
            </a:r>
          </a:p>
          <a:p>
            <a:pPr>
              <a:spcBef>
                <a:spcPts val="600"/>
              </a:spcBef>
            </a:pPr>
          </a:p>
          <a:p>
            <a:pPr>
              <a:spcBef>
                <a:spcPts val="1200"/>
              </a:spcBef>
              <a:defRPr b="1" sz="2000"/>
            </a:pPr>
            <a:r>
              <a:t>2027-2028: Paid Launch</a:t>
            </a:r>
          </a:p>
          <a:p>
            <a:pPr>
              <a:spcBef>
                <a:spcPts val="600"/>
              </a:spcBef>
              <a:defRPr sz="1800"/>
            </a:pPr>
            <a:r>
              <a:t>2027: 150 clients, $1.2M revenue, Breakeven</a:t>
            </a:r>
          </a:p>
          <a:p>
            <a:pPr>
              <a:spcBef>
                <a:spcPts val="600"/>
              </a:spcBef>
              <a:defRPr sz="1800"/>
            </a:pPr>
            <a:r>
              <a:t>2028: 466 clients, $2.8M revenue, +$850K net</a:t>
            </a:r>
          </a:p>
          <a:p>
            <a:pPr>
              <a:spcBef>
                <a:spcPts val="600"/>
              </a:spcBef>
            </a:pPr>
          </a:p>
          <a:p>
            <a:pPr>
              <a:defRPr sz="1800"/>
            </a:pPr>
            <a:r>
              <a:t>**Go-to-Market:** Consultants are primary channel for larger races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600" b="1"/>
            </a:pPr>
            <a:r>
              <a:t>First Mover in Progressive AI Monitoring</a:t>
            </a:r>
          </a:p>
        </p:txBody>
      </p:sp>
      <p:sp>
        <p:nvSpPr>
          <p:cNvPr id="3" name="TextBox 2"/>
          <p:cNvSpPr txBox="1"/>
          <p:nvPr/>
        </p:nvSpPr>
        <p:spPr>
          <a:xfrm>
            <a:off x="457200" y="1188720"/>
            <a:ext cx="8229600" cy="5029200"/>
          </a:xfrm>
          <a:prstGeom prst="rect">
            <a:avLst/>
          </a:prstGeom>
          <a:noFill/>
        </p:spPr>
        <p:txBody>
          <a:bodyPr wrap="square">
            <a:spAutoFit/>
          </a:bodyPr>
          <a:lstStyle/>
          <a:p>
            <a:pPr>
              <a:spcBef>
                <a:spcPts val="1200"/>
              </a:spcBef>
              <a:defRPr b="1" sz="2000"/>
            </a:pPr>
            <a:r>
              <a:t>The Landscape</a:t>
            </a:r>
          </a:p>
          <a:p>
            <a:pPr>
              <a:spcBef>
                <a:spcPts val="600"/>
              </a:spcBef>
              <a:defRPr sz="1800"/>
            </a:pPr>
            <a:r>
              <a:t>Generic SEO tools (SEMrush, Ahrefs): Not political, not AI-focused</a:t>
            </a:r>
          </a:p>
          <a:p>
            <a:pPr>
              <a:spcBef>
                <a:spcPts val="600"/>
              </a:spcBef>
              <a:defRPr sz="1800"/>
            </a:pPr>
            <a:r>
              <a:t>AI monitoring: Mostly enterprise brand monitoring</a:t>
            </a:r>
          </a:p>
          <a:p>
            <a:pPr>
              <a:spcBef>
                <a:spcPts val="600"/>
              </a:spcBef>
              <a:defRPr sz="1800"/>
            </a:pPr>
            <a:r>
              <a:t>Political tech (NGP VAN, Catalist): Voter data, not AI presence</a:t>
            </a:r>
          </a:p>
          <a:p>
            <a:pPr>
              <a:spcBef>
                <a:spcPts val="600"/>
              </a:spcBef>
              <a:defRPr sz="1800"/>
            </a:pPr>
            <a:r>
              <a:t>Progressive AI: Kyanos is the only player focused here</a:t>
            </a:r>
          </a:p>
          <a:p>
            <a:pPr>
              <a:spcBef>
                <a:spcPts val="600"/>
              </a:spcBef>
            </a:pPr>
          </a:p>
          <a:p>
            <a:pPr>
              <a:spcBef>
                <a:spcPts val="1200"/>
              </a:spcBef>
              <a:defRPr b="1" sz="2000"/>
            </a:pPr>
            <a:r>
              <a:t>What Makes Us Different</a:t>
            </a:r>
          </a:p>
          <a:p>
            <a:pPr>
              <a:spcBef>
                <a:spcPts val="600"/>
              </a:spcBef>
              <a:defRPr sz="1800"/>
            </a:pPr>
            <a:r>
              <a:t>Political context—we understand campaigns</a:t>
            </a:r>
          </a:p>
          <a:p>
            <a:pPr>
              <a:spcBef>
                <a:spcPts val="600"/>
              </a:spcBef>
              <a:defRPr sz="1800"/>
            </a:pPr>
            <a:r>
              <a:t>AI-native—optimized for AI answer generation</a:t>
            </a:r>
          </a:p>
          <a:p>
            <a:pPr>
              <a:spcBef>
                <a:spcPts val="600"/>
              </a:spcBef>
              <a:defRPr sz="1800"/>
            </a:pPr>
            <a:r>
              <a:t>Causality focus—trace problems to root causes</a:t>
            </a:r>
          </a:p>
          <a:p>
            <a:pPr>
              <a:spcBef>
                <a:spcPts val="600"/>
              </a:spcBef>
              <a:defRPr sz="1800"/>
            </a:pPr>
            <a:r>
              <a:t>Actionable fixes—solutions, not just reports</a:t>
            </a:r>
          </a:p>
          <a:p>
            <a:pPr>
              <a:spcBef>
                <a:spcPts val="600"/>
              </a:spcBef>
              <a:defRPr sz="1800"/>
            </a:pPr>
            <a:r>
              <a:t>Progressive-only—trust structure locks in mission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600" b="1"/>
            </a:pPr>
            <a:r>
              <a:t>Built for Permanence</a:t>
            </a:r>
          </a:p>
        </p:txBody>
      </p:sp>
      <p:sp>
        <p:nvSpPr>
          <p:cNvPr id="3" name="TextBox 2"/>
          <p:cNvSpPr txBox="1"/>
          <p:nvPr/>
        </p:nvSpPr>
        <p:spPr>
          <a:xfrm>
            <a:off x="457200" y="1188720"/>
            <a:ext cx="8229600" cy="5029200"/>
          </a:xfrm>
          <a:prstGeom prst="rect">
            <a:avLst/>
          </a:prstGeom>
          <a:noFill/>
        </p:spPr>
        <p:txBody>
          <a:bodyPr wrap="square">
            <a:spAutoFit/>
          </a:bodyPr>
          <a:lstStyle/>
          <a:p>
            <a:pPr>
              <a:spcBef>
                <a:spcPts val="1200"/>
              </a:spcBef>
              <a:defRPr b="1" sz="2000"/>
            </a:pPr>
            <a:r>
              <a:t>Founder</a:t>
            </a:r>
          </a:p>
          <a:p>
            <a:pPr>
              <a:defRPr sz="1800"/>
            </a:pPr>
            <a:r>
              <a:t>Ed Forman — 35 years Silicon Valley experience. Early employee at eleven startups. MBA from Stanford, later taught entrepreneurship there.</a:t>
            </a:r>
          </a:p>
          <a:p>
            <a:pPr>
              <a:spcBef>
                <a:spcPts val="600"/>
              </a:spcBef>
            </a:pPr>
          </a:p>
          <a:p>
            <a:pPr>
              <a:defRPr sz="1800"/>
            </a:pPr>
            <a:r>
              <a:t>Role: Architect and advisor. Not taking an operational role.</a:t>
            </a:r>
          </a:p>
          <a:p>
            <a:pPr>
              <a:spcBef>
                <a:spcPts val="600"/>
              </a:spcBef>
            </a:pPr>
          </a:p>
          <a:p>
            <a:pPr>
              <a:spcBef>
                <a:spcPts val="1200"/>
              </a:spcBef>
              <a:defRPr b="1" sz="2000"/>
            </a:pPr>
            <a:r>
              <a:t>Launch Team (Q2 2026)</a:t>
            </a:r>
          </a:p>
          <a:p>
            <a:pPr>
              <a:spcBef>
                <a:spcPts val="600"/>
              </a:spcBef>
              <a:defRPr sz="1800"/>
            </a:pPr>
            <a:r>
              <a:t>CEO: Fundraising, foundation relationships, strategy</a:t>
            </a:r>
          </a:p>
          <a:p>
            <a:pPr>
              <a:spcBef>
                <a:spcPts val="600"/>
              </a:spcBef>
              <a:defRPr sz="1800"/>
            </a:pPr>
            <a:r>
              <a:t>Technical Lead: Bentham infrastructure, product development</a:t>
            </a:r>
          </a:p>
          <a:p>
            <a:pPr>
              <a:spcBef>
                <a:spcPts val="600"/>
              </a:spcBef>
              <a:defRPr sz="1800"/>
            </a:pPr>
            <a:r>
              <a:t>Research Director: Methodology, AI Bias Report, quality</a:t>
            </a:r>
          </a:p>
          <a:p>
            <a:pPr>
              <a:spcBef>
                <a:spcPts val="600"/>
              </a:spcBef>
              <a:defRPr sz="1800"/>
            </a:pPr>
            <a:r>
              <a:t>Operations Manager: Study execution, client delivery</a:t>
            </a:r>
          </a:p>
          <a:p>
            <a:pPr>
              <a:spcBef>
                <a:spcPts val="600"/>
              </a:spcBef>
              <a:defRPr sz="1800"/>
            </a:pPr>
            <a:r>
              <a:t>Marketing &amp; Partnerships: Consultant relationships, sales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600" b="1"/>
            </a:pPr>
            <a:r>
              <a:t>$1,000,000 to Build Progressive AI Infrastructure</a:t>
            </a:r>
          </a:p>
        </p:txBody>
      </p:sp>
      <p:sp>
        <p:nvSpPr>
          <p:cNvPr id="3" name="TextBox 2"/>
          <p:cNvSpPr txBox="1"/>
          <p:nvPr/>
        </p:nvSpPr>
        <p:spPr>
          <a:xfrm>
            <a:off x="457200" y="1188720"/>
            <a:ext cx="8229600" cy="5029200"/>
          </a:xfrm>
          <a:prstGeom prst="rect">
            <a:avLst/>
          </a:prstGeom>
          <a:noFill/>
        </p:spPr>
        <p:txBody>
          <a:bodyPr wrap="square">
            <a:spAutoFit/>
          </a:bodyPr>
          <a:lstStyle/>
          <a:p>
            <a:pPr>
              <a:spcBef>
                <a:spcPts val="1200"/>
              </a:spcBef>
              <a:defRPr b="1" sz="2000"/>
            </a:pPr>
            <a:r>
              <a:t>The Ask</a:t>
            </a:r>
          </a:p>
          <a:p>
            <a:pPr>
              <a:spcBef>
                <a:spcPts val="600"/>
              </a:spcBef>
              <a:defRPr sz="1800"/>
            </a:pPr>
            <a:r>
              <a:t>Target: $1,000,000</a:t>
            </a:r>
          </a:p>
          <a:p>
            <a:pPr>
              <a:spcBef>
                <a:spcPts val="600"/>
              </a:spcBef>
              <a:defRPr sz="1800"/>
            </a:pPr>
            <a:r>
              <a:t>Minimum: $750,000</a:t>
            </a:r>
          </a:p>
          <a:p>
            <a:pPr>
              <a:spcBef>
                <a:spcPts val="600"/>
              </a:spcBef>
              <a:defRPr sz="1800"/>
            </a:pPr>
            <a:r>
              <a:t>Reach: $1,250,000</a:t>
            </a:r>
          </a:p>
          <a:p>
            <a:pPr>
              <a:spcBef>
                <a:spcPts val="600"/>
              </a:spcBef>
              <a:defRPr sz="1800"/>
            </a:pPr>
            <a:r>
              <a:t>Timeline: Commitments by March 15, 2026</a:t>
            </a:r>
          </a:p>
          <a:p>
            <a:pPr>
              <a:spcBef>
                <a:spcPts val="600"/>
              </a:spcBef>
            </a:pPr>
          </a:p>
          <a:p>
            <a:pPr>
              <a:spcBef>
                <a:spcPts val="1200"/>
              </a:spcBef>
              <a:defRPr b="1" sz="2000"/>
            </a:pPr>
            <a:r>
              <a:t>Use of Funds</a:t>
            </a:r>
          </a:p>
          <a:p>
            <a:pPr>
              <a:spcBef>
                <a:spcPts val="600"/>
              </a:spcBef>
              <a:defRPr sz="1800"/>
            </a:pPr>
            <a:r>
              <a:t>Personnel (5 FTEs): $650,000 (65%)</a:t>
            </a:r>
          </a:p>
          <a:p>
            <a:pPr>
              <a:spcBef>
                <a:spcPts val="600"/>
              </a:spcBef>
              <a:defRPr sz="1800"/>
            </a:pPr>
            <a:r>
              <a:t>Contractors: $150,000 (15%)</a:t>
            </a:r>
          </a:p>
          <a:p>
            <a:pPr>
              <a:spcBef>
                <a:spcPts val="600"/>
              </a:spcBef>
              <a:defRPr sz="1800"/>
            </a:pPr>
            <a:r>
              <a:t>Infrastructure: $48,000 (5%)</a:t>
            </a:r>
          </a:p>
          <a:p>
            <a:pPr>
              <a:spcBef>
                <a:spcPts val="600"/>
              </a:spcBef>
              <a:defRPr sz="1800"/>
            </a:pPr>
            <a:r>
              <a:t>Marketing/Events: $40,000 (4%)</a:t>
            </a:r>
          </a:p>
          <a:p>
            <a:pPr>
              <a:spcBef>
                <a:spcPts val="600"/>
              </a:spcBef>
              <a:defRPr sz="1800"/>
            </a:pPr>
            <a:r>
              <a:t>Legal/Operations/Reserve: $112,000 (11%)</a:t>
            </a:r>
          </a:p>
          <a:p>
            <a:pPr>
              <a:spcBef>
                <a:spcPts val="600"/>
              </a:spcBef>
            </a:pPr>
          </a:p>
          <a:p>
            <a:pPr>
              <a:spcBef>
                <a:spcPts val="1200"/>
              </a:spcBef>
              <a:defRPr b="1" sz="2000"/>
            </a:pPr>
            <a:r>
              <a:t>Self-sustaining by 2028 with +$850K annual surplus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600" b="1"/>
            </a:pPr>
            <a:r>
              <a:t>This Is What You Were Built For</a:t>
            </a:r>
          </a:p>
        </p:txBody>
      </p:sp>
      <p:sp>
        <p:nvSpPr>
          <p:cNvPr id="3" name="TextBox 2"/>
          <p:cNvSpPr txBox="1"/>
          <p:nvPr/>
        </p:nvSpPr>
        <p:spPr>
          <a:xfrm>
            <a:off x="457200" y="1188720"/>
            <a:ext cx="8229600" cy="5029200"/>
          </a:xfrm>
          <a:prstGeom prst="rect">
            <a:avLst/>
          </a:prstGeom>
          <a:noFill/>
        </p:spPr>
        <p:txBody>
          <a:bodyPr wrap="square">
            <a:spAutoFit/>
          </a:bodyPr>
          <a:lstStyle/>
          <a:p>
            <a:pPr>
              <a:spcBef>
                <a:spcPts val="1200"/>
              </a:spcBef>
              <a:defRPr b="1" sz="2000"/>
            </a:pPr>
            <a:r>
              <a:t>Your Core Thesis—Applied to AI</a:t>
            </a:r>
          </a:p>
          <a:p>
            <a:pPr>
              <a:defRPr sz="1800"/>
            </a:pPr>
            <a:r>
              <a:t>"Technology is changing politics faster than politics is adapting to technology."</a:t>
            </a:r>
          </a:p>
          <a:p>
            <a:pPr>
              <a:defRPr sz="1800"/>
            </a:pPr>
            <a:r>
              <a:t>— Investing In US founding principle</a:t>
            </a:r>
          </a:p>
          <a:p>
            <a:pPr>
              <a:spcBef>
                <a:spcPts val="600"/>
              </a:spcBef>
            </a:pPr>
          </a:p>
          <a:p>
            <a:pPr>
              <a:spcBef>
                <a:spcPts val="1200"/>
              </a:spcBef>
              <a:defRPr b="1" sz="2000"/>
            </a:pPr>
            <a:r>
              <a:t>That's exactly what's happening with AI and voter information.</a:t>
            </a:r>
          </a:p>
          <a:p>
            <a:pPr>
              <a:spcBef>
                <a:spcPts val="600"/>
              </a:spcBef>
            </a:pPr>
          </a:p>
          <a:p>
            <a:pPr>
              <a:spcBef>
                <a:spcPts val="1200"/>
              </a:spcBef>
              <a:defRPr b="1" sz="2000"/>
            </a:pPr>
            <a:r>
              <a:t>You've Already Invested in This Space</a:t>
            </a:r>
          </a:p>
          <a:p>
            <a:pPr>
              <a:spcBef>
                <a:spcPts val="600"/>
              </a:spcBef>
              <a:defRPr sz="1800"/>
            </a:pPr>
            <a:r>
              <a:t>Vote.org: Voter registration → We ensure voters find accurate info</a:t>
            </a:r>
          </a:p>
          <a:p>
            <a:pPr>
              <a:spcBef>
                <a:spcPts val="600"/>
              </a:spcBef>
              <a:defRPr sz="1800"/>
            </a:pPr>
            <a:r>
              <a:t>News for Democracy: Media → We ensure AI surfaces accurate news</a:t>
            </a:r>
          </a:p>
          <a:p>
            <a:pPr>
              <a:spcBef>
                <a:spcPts val="600"/>
              </a:spcBef>
              <a:defRPr sz="1800"/>
            </a:pPr>
            <a:r>
              <a:t>Run for Something: Candidates → We help them compete in AI</a:t>
            </a:r>
          </a:p>
          <a:p>
            <a:pPr>
              <a:spcBef>
                <a:spcPts val="600"/>
              </a:spcBef>
            </a:pPr>
          </a:p>
          <a:p>
            <a:pPr>
              <a:spcBef>
                <a:spcPts val="1200"/>
              </a:spcBef>
              <a:defRPr b="1" sz="2000"/>
            </a:pPr>
            <a:r>
              <a:t>Kyanos completes your portfolio. It's the AI layer on top of everything else.</a:t>
            </a:r>
          </a:p>
          <a:p>
            <a:pPr>
              <a:spcBef>
                <a:spcPts val="600"/>
              </a:spcBef>
            </a:pPr>
          </a:p>
          <a:p>
            <a:pPr>
              <a:defRPr sz="1800"/>
            </a:pPr>
            <a:r>
              <a:t>Help us keep progressives visible in the AI era.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