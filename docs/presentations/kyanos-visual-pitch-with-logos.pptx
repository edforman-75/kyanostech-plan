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a:t>
            </a:r>
          </a:p>
          <a:p/>
          <a:p>
            <a:r>
              <a:t>"Thanasi, thank you for your time. I reached out to Investing In US because you understand something most political operatives don't: the next communication revolution isn't coming—it's already here.</a:t>
            </a:r>
          </a:p>
          <a:p/>
          <a:p>
            <a:r>
              <a:t>Kyanos is the infrastructure play for progressive politics in the AI era."</a:t>
            </a:r>
          </a:p>
          <a:p/>
          <a:p>
            <a:r>
              <a:t>TRANSITION: "Let me start with a lesson we should have learned in 2024..." </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a:t>
            </a:r>
          </a:p>
          <a:p/>
          <a:p>
            <a:r>
              <a:t>"You watched this happen. Joe Rogan's endorsement of Trump reached 14 million people in a single episode. Progressives had no equivalent infrastructure.</a:t>
            </a:r>
          </a:p>
          <a:p/>
          <a:p>
            <a:r>
              <a:t>The same pattern is emerging with AI. Right now, most campaigns treat AI as a curiosity—something the tech team might mention, not something the campaign manager prioritizes.</a:t>
            </a:r>
          </a:p>
          <a:p/>
          <a:p>
            <a:r>
              <a:t>That's exactly how we treated podcasts in 2020."</a:t>
            </a:r>
          </a:p>
          <a:p/>
          <a:p>
            <a:r>
              <a:t>TRANSITION: "But AI isn't just another podcast moment. The data shows it's more consequential..." </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a:t>
            </a:r>
          </a:p>
          <a:p/>
          <a:p>
            <a:r>
              <a:t>"This isn't about some future scenario. 58% of Google searches already end without a click—voters get their answer from AI Overviews and never visit a campaign website.</a:t>
            </a:r>
          </a:p>
          <a:p/>
          <a:p>
            <a:r>
              <a:t>By the time voters are making choices in 2028, nearly half of all political information queries will be answered inside AI environments.</a:t>
            </a:r>
          </a:p>
          <a:p/>
          <a:p>
            <a:r>
              <a:t>The mission of the candidate website has transformed. It's no longer primarily a destination for voters—it's the source material that AI systems draw from."</a:t>
            </a:r>
          </a:p>
          <a:p/>
          <a:p>
            <a:r>
              <a:t>TRANSITION: "And here's what makes this urgent: AI isn't just reaching voters. It's moving them..." </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a:t>
            </a:r>
          </a:p>
          <a:p/>
          <a:p>
            <a:r>
              <a:t>"This is peer-reviewed research from the world's most prestigious scientific journals, published December 2025.</a:t>
            </a:r>
          </a:p>
          <a:p/>
          <a:p>
            <a:r>
              <a:t>AI chatbots are the most persuasive political communication channel ever measured in controlled experiments. Four times more effective than television advertising.</a:t>
            </a:r>
          </a:p>
          <a:p/>
          <a:p>
            <a:r>
              <a:t>And the cost? $1-10 per voter influenced, compared to $100-600 for broadcast TV.</a:t>
            </a:r>
          </a:p>
          <a:p/>
          <a:p>
            <a:r>
              <a:t>This isn't just about keeping pace. It's about finding a lever that actually works."</a:t>
            </a:r>
          </a:p>
          <a:p/>
          <a:p>
            <a:r>
              <a:t>TRANSITION: "But there's another dimension to this that I know you've been thinking about..." </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a:t>
            </a:r>
          </a:p>
          <a:p/>
          <a:p>
            <a:r>
              <a:t>"You know these companies. You know the pressures they face.</a:t>
            </a:r>
          </a:p>
          <a:p/>
          <a:p>
            <a:r>
              <a:t>I'm not suggesting bad faith. I'm suggesting that the incentive structures are misaligned. When an administration is willing to punish perceived disloyalty—and when companies have billions in government contracts at stake—caution has a political direction.</a:t>
            </a:r>
          </a:p>
          <a:p/>
          <a:p>
            <a:r>
              <a:t>That's why external monitoring matters. We need independent visibility into how AI systems represent political topics.</a:t>
            </a:r>
          </a:p>
          <a:p/>
          <a:p>
            <a:r>
              <a:t>Kyanos provides that watchdog function."</a:t>
            </a:r>
          </a:p>
          <a:p/>
          <a:p>
            <a:r>
              <a:t>TRANSITION: "So what exactly are we building?" </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a:t>
            </a:r>
          </a:p>
          <a:p/>
          <a:p>
            <a:r>
              <a:t>"The name Kyanos comes from the ancient Greek word for blue—the root of 'cyan.' We chose it because we're building something foundational.</a:t>
            </a:r>
          </a:p>
          <a:p/>
          <a:p>
            <a:r>
              <a:t>Our methodology is simple: Monitor what AI says, Trace where it got that information, Diagnose the root cause, and provide specific Fixes.</a:t>
            </a:r>
          </a:p>
          <a:p/>
          <a:p>
            <a:r>
              <a:t>We don't just hand over a report. We provide step-by-step instructions tailored to each campaign's CMS—whether that's WordPress, Squarespace, or NationBuilder."</a:t>
            </a:r>
          </a:p>
          <a:p/>
          <a:p>
            <a:r>
              <a:t>TRANSITION: "Let me show you how this works in practice..." </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a:t>
            </a:r>
          </a:p>
          <a:p/>
          <a:p>
            <a:r>
              <a:t>"Here's a concrete example. ChatGPT says a candidate hasn't stated a clear position on abortion—but they have, prominently on their issues page.</a:t>
            </a:r>
          </a:p>
          <a:p/>
          <a:p>
            <a:r>
              <a:t>We trace it: the campaign's issues page exists but lacks structured data markup that AI systems can parse.</a:t>
            </a:r>
          </a:p>
          <a:p/>
          <a:p>
            <a:r>
              <a:t>Then we tell the campaign exactly what needs to happen. The comms director gets the messaging guidance. The web developer gets the technical specs. We provide templates, code snippets, everything they need.</a:t>
            </a:r>
          </a:p>
          <a:p/>
          <a:p>
            <a:r>
              <a:t>And we don't walk away. We track implementation and confirm when AI systems update."</a:t>
            </a:r>
          </a:p>
          <a:p/>
          <a:p>
            <a:r>
              <a:t>TRANSITION: "Beyond Panopticon, we have a complete product suite..." </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a:t>
            </a:r>
          </a:p>
          <a:p/>
          <a:p>
            <a:r>
              <a:t>"Panopticon is the flagship—it's where campaigns see what AI says about them and get fixes. It's MVP+, meaning we've already built and tested the core functionality.</a:t>
            </a:r>
          </a:p>
          <a:p/>
          <a:p>
            <a:r>
              <a:t>GoodInk surfaces positive press coverage campaigns could be featuring on their sites.</a:t>
            </a:r>
          </a:p>
          <a:p/>
          <a:p>
            <a:r>
              <a:t>Adwatch monitors political advertising—what opponents are running, where, and how.</a:t>
            </a:r>
          </a:p>
          <a:p/>
          <a:p>
            <a:r>
              <a:t>TripWire watches opponent websites. When they update messaging, campaigns know immediately.</a:t>
            </a:r>
          </a:p>
          <a:p/>
          <a:p>
            <a:r>
              <a:t>All powered by Watchtower, our distributed observation network for geographic monitoring."</a:t>
            </a:r>
          </a:p>
          <a:p/>
          <a:p>
            <a:r>
              <a:t>TRANSITION: "Now let me explain how we've structured this to be permanent and accountable..." </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a:t>
            </a:r>
          </a:p>
          <a:p/>
          <a:p>
            <a:r>
              <a:t>"I know you've seen a lot of pitch decks. Most promise equity and exits. This is different.</a:t>
            </a:r>
          </a:p>
          <a:p/>
          <a:p>
            <a:r>
              <a:t>We're not optimizing for an exit. We're building infrastructure that the progressive movement will rely on for decades. The trust structure ensures that.</a:t>
            </a:r>
          </a:p>
          <a:p/>
          <a:p>
            <a:r>
              <a:t>Catalist proved this model works. They took foundation funding in 2006, built permanent infrastructure, and now serve virtually every major Democratic campaign.</a:t>
            </a:r>
          </a:p>
          <a:p/>
          <a:p>
            <a:r>
              <a:t>Your investment doesn't come with equity—there is no equity. What you get is a seat at the table for governance, and the knowledge that you helped build something permanent."</a:t>
            </a:r>
          </a:p>
          <a:p/>
          <a:p>
            <a:r>
              <a:t>TRANSITION: "Here's the market we're going after..." </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a:t>
            </a:r>
          </a:p>
          <a:p/>
          <a:p>
            <a:r>
              <a:t>"The 2026 free year is strategic. We're investing $330K of the raise to serve 200 campaigns at no cost. That builds our reference base and generates the case studies we need.</a:t>
            </a:r>
          </a:p>
          <a:p/>
          <a:p>
            <a:r>
              <a:t>By 2027, we launch paid subscriptions and reach breakeven with 150 clients.</a:t>
            </a:r>
          </a:p>
          <a:p/>
          <a:p>
            <a:r>
              <a:t>By 2028—the presidential cycle—we project 466 clients and $2.8M in revenue, with $850K net.</a:t>
            </a:r>
          </a:p>
          <a:p/>
          <a:p>
            <a:r>
              <a:t>The go-to-market is deliberately low-friction. Small campaigns get self-service. Larger campaigns come through consultants who already have trusted relationships."</a:t>
            </a:r>
          </a:p>
          <a:p/>
          <a:p>
            <a:r>
              <a:t>TRANSITION: "You're going to ask about competition..." </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a:t>
            </a:r>
          </a:p>
          <a:p/>
          <a:p>
            <a:r>
              <a:t>"You'll notice there's no direct competitor. That's because the category doesn't exist yet.</a:t>
            </a:r>
          </a:p>
          <a:p/>
          <a:p>
            <a:r>
              <a:t>SEO tools aren't built for AI. AI monitoring tools aren't built for politics. Political tech companies are focused on voter data, not AI presence.</a:t>
            </a:r>
          </a:p>
          <a:p/>
          <a:p>
            <a:r>
              <a:t>We're the first mover in progressive AI monitoring, and our trust structure means we can't be acquired by someone who would use this against us.</a:t>
            </a:r>
          </a:p>
          <a:p/>
          <a:p>
            <a:r>
              <a:t>The network effects matter here. Every campaign we serve makes our intelligence better. Every fix we implement teaches us more about how AI systems source information."</a:t>
            </a:r>
          </a:p>
          <a:p/>
          <a:p>
            <a:r>
              <a:t>TRANSITION: "Let me introduce the team..." </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a:t>
            </a:r>
          </a:p>
          <a:p/>
          <a:p>
            <a:r>
              <a:t>"I'm the architect, not the operator. My role is to assemble the team, frame the problem, and design a structure that outlasts any individual.</a:t>
            </a:r>
          </a:p>
          <a:p/>
          <a:p>
            <a:r>
              <a:t>We'll hire a CEO with deep relationships in the progressive funding community. The technical lead will build Bentham and the product suite. Research director ensures methodology rigor.</a:t>
            </a:r>
          </a:p>
          <a:p/>
          <a:p>
            <a:r>
              <a:t>The board of trustees governs the trust and ensures mission fidelity. Major funders get board seats—that's part of the value proposition for foundation investors."</a:t>
            </a:r>
          </a:p>
          <a:p/>
          <a:p>
            <a:r>
              <a:t>TRANSITION: "Here's what we're asking for..." </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a:t>
            </a:r>
          </a:p>
          <a:p/>
          <a:p>
            <a:r>
              <a:t>"We're asking for $1 million. That funds a full year of building and a free access program for 200 campaigns in 2026.</a:t>
            </a:r>
          </a:p>
          <a:p/>
          <a:p>
            <a:r>
              <a:t>Why can $1 million do what would have taken $5 million a few years ago? AI-assisted development has fundamentally changed the economics. We practice what we preach—Kyanos is built with the same AI capabilities we help campaigns leverage.</a:t>
            </a:r>
          </a:p>
          <a:p/>
          <a:p>
            <a:r>
              <a:t>The timeline is tight by design. We need commitments by March 15 to be operational by June and serving campaigns before the 2026 cycle heats up."</a:t>
            </a:r>
          </a:p>
          <a:p/>
          <a:p>
            <a:r>
              <a:t>TRANSITION: "Let me tell you why I'm in this room specifically..." </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a:t>
            </a:r>
          </a:p>
          <a:p/>
          <a:p>
            <a:r>
              <a:t>"Thanasi, Investing In US was founded on a simple observation: technology is changing politics faster than politics is adapting.</a:t>
            </a:r>
          </a:p>
          <a:p/>
          <a:p>
            <a:r>
              <a:t>That's exactly what we're seeing with AI. Political operatives are treating chatbots like a curiosity while conservatives are already optimizing for them.</a:t>
            </a:r>
          </a:p>
          <a:p/>
          <a:p>
            <a:r>
              <a:t>You've already invested in voter registration, candidate pipelines, and media ecosystems. Kyanos is the missing layer—ensuring that when voters use AI to research candidates, they find accurate information.</a:t>
            </a:r>
          </a:p>
          <a:p/>
          <a:p>
            <a:r>
              <a:t>Here's what I know about Investing In US: you're not looking for financial returns. You're looking for democratic returns. You want to build infrastructure that outlasts any single campaign or election cycle.</a:t>
            </a:r>
          </a:p>
          <a:p/>
          <a:p>
            <a:r>
              <a:t>That's what Kyanos is. Trust-owned. Mission-locked. Built to serve progressives permanently.</a:t>
            </a:r>
          </a:p>
          <a:p/>
          <a:p>
            <a:r>
              <a:t>Here's my ask: I'd like you to bring this to Reid and Dmitri. If this resonates with you—if you see how it completes your portfolio—I want to give you everything you need to make the case internally.</a:t>
            </a:r>
          </a:p>
          <a:p/>
          <a:p>
            <a:r>
              <a:t>What questions do you have? What would they need to see?" </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274320"/>
          </a:xfrm>
          <a:prstGeom prst="rect">
            <a:avLst/>
          </a:prstGeom>
          <a:solidFill>
            <a:srgbClr val="007B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5486400" y="1371600"/>
            <a:ext cx="1371600" cy="1371600"/>
          </a:xfrm>
          <a:prstGeom prst="ellipse">
            <a:avLst/>
          </a:prstGeom>
          <a:solidFill>
            <a:srgbClr val="007B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0" y="1645920"/>
            <a:ext cx="1371600" cy="914400"/>
          </a:xfrm>
          <a:prstGeom prst="rect">
            <a:avLst/>
          </a:prstGeom>
          <a:noFill/>
        </p:spPr>
        <p:txBody>
          <a:bodyPr wrap="none">
            <a:spAutoFit/>
          </a:bodyPr>
          <a:lstStyle/>
          <a:p>
            <a:pPr algn="ctr">
              <a:defRPr sz="6000" b="1">
                <a:solidFill>
                  <a:srgbClr val="FFFFFF"/>
                </a:solidFill>
              </a:defRPr>
            </a:pPr>
            <a:r>
              <a:t>K</a:t>
            </a:r>
          </a:p>
        </p:txBody>
      </p:sp>
      <p:sp>
        <p:nvSpPr>
          <p:cNvPr id="5" name="TextBox 4"/>
          <p:cNvSpPr txBox="1"/>
          <p:nvPr/>
        </p:nvSpPr>
        <p:spPr>
          <a:xfrm>
            <a:off x="457200" y="3017520"/>
            <a:ext cx="11277295" cy="914400"/>
          </a:xfrm>
          <a:prstGeom prst="rect">
            <a:avLst/>
          </a:prstGeom>
          <a:noFill/>
        </p:spPr>
        <p:txBody>
          <a:bodyPr wrap="none">
            <a:spAutoFit/>
          </a:bodyPr>
          <a:lstStyle/>
          <a:p>
            <a:pPr algn="ctr">
              <a:defRPr sz="7200" b="1">
                <a:solidFill>
                  <a:srgbClr val="1A365D"/>
                </a:solidFill>
              </a:defRPr>
            </a:pPr>
            <a:r>
              <a:t>KYANOS</a:t>
            </a:r>
          </a:p>
        </p:txBody>
      </p:sp>
      <p:sp>
        <p:nvSpPr>
          <p:cNvPr id="6" name="TextBox 5"/>
          <p:cNvSpPr txBox="1"/>
          <p:nvPr/>
        </p:nvSpPr>
        <p:spPr>
          <a:xfrm>
            <a:off x="457200" y="3931920"/>
            <a:ext cx="11277295" cy="548640"/>
          </a:xfrm>
          <a:prstGeom prst="rect">
            <a:avLst/>
          </a:prstGeom>
          <a:noFill/>
        </p:spPr>
        <p:txBody>
          <a:bodyPr wrap="none">
            <a:spAutoFit/>
          </a:bodyPr>
          <a:lstStyle/>
          <a:p>
            <a:pPr algn="ctr">
              <a:defRPr sz="2800">
                <a:solidFill>
                  <a:srgbClr val="6C757D"/>
                </a:solidFill>
              </a:defRPr>
            </a:pPr>
            <a:r>
              <a:t>Keeping Progressives Visible in the AI Era</a:t>
            </a:r>
          </a:p>
        </p:txBody>
      </p:sp>
      <p:sp>
        <p:nvSpPr>
          <p:cNvPr id="7" name="TextBox 6"/>
          <p:cNvSpPr txBox="1"/>
          <p:nvPr/>
        </p:nvSpPr>
        <p:spPr>
          <a:xfrm>
            <a:off x="457200" y="5943600"/>
            <a:ext cx="11277295" cy="457200"/>
          </a:xfrm>
          <a:prstGeom prst="rect">
            <a:avLst/>
          </a:prstGeom>
          <a:noFill/>
        </p:spPr>
        <p:txBody>
          <a:bodyPr wrap="none">
            <a:spAutoFit/>
          </a:bodyPr>
          <a:lstStyle/>
          <a:p>
            <a:pPr algn="ctr">
              <a:defRPr sz="1400">
                <a:solidFill>
                  <a:srgbClr val="6C757D"/>
                </a:solidFill>
              </a:defRPr>
            </a:pPr>
            <a:r>
              <a:t>Ed Forman, Founder  •  For Thanasi Dilos, Investing In US  •  January 2026</a:t>
            </a:r>
          </a:p>
        </p:txBody>
      </p:sp>
      <p:pic>
        <p:nvPicPr>
          <p:cNvPr id="8" name="Picture 7" descr="kyanos-main.png"/>
          <p:cNvPicPr>
            <a:picLocks noChangeAspect="1"/>
          </p:cNvPicPr>
          <p:nvPr/>
        </p:nvPicPr>
        <p:blipFill>
          <a:blip r:embed="rId3"/>
          <a:stretch>
            <a:fillRect/>
          </a:stretch>
        </p:blipFill>
        <p:spPr>
          <a:xfrm>
            <a:off x="5394960" y="1097280"/>
            <a:ext cx="1828800" cy="18288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65760"/>
            <a:ext cx="11277295" cy="731520"/>
          </a:xfrm>
          <a:prstGeom prst="rect">
            <a:avLst/>
          </a:prstGeom>
          <a:noFill/>
        </p:spPr>
        <p:txBody>
          <a:bodyPr wrap="none">
            <a:spAutoFit/>
          </a:bodyPr>
          <a:lstStyle/>
          <a:p>
            <a:pPr>
              <a:defRPr sz="4000" b="1">
                <a:solidFill>
                  <a:srgbClr val="1A365D"/>
                </a:solidFill>
              </a:defRPr>
            </a:pPr>
            <a:r>
              <a:t>We Missed Podcasts. AI Is Next.</a:t>
            </a:r>
          </a:p>
        </p:txBody>
      </p:sp>
      <p:sp>
        <p:nvSpPr>
          <p:cNvPr id="3" name="Rounded Rectangle 2"/>
          <p:cNvSpPr/>
          <p:nvPr/>
        </p:nvSpPr>
        <p:spPr>
          <a:xfrm>
            <a:off x="731520" y="1645920"/>
            <a:ext cx="5029200" cy="4114800"/>
          </a:xfrm>
          <a:prstGeom prst="roundRect">
            <a:avLst>
              <a:gd name="adj" fmla="val 5000"/>
            </a:avLst>
          </a:prstGeom>
          <a:solidFill>
            <a:srgbClr val="FFEB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828800"/>
            <a:ext cx="5029200" cy="548640"/>
          </a:xfrm>
          <a:prstGeom prst="rect">
            <a:avLst/>
          </a:prstGeom>
          <a:noFill/>
        </p:spPr>
        <p:txBody>
          <a:bodyPr wrap="none">
            <a:spAutoFit/>
          </a:bodyPr>
          <a:lstStyle/>
          <a:p>
            <a:pPr algn="ctr">
              <a:defRPr sz="1800" b="1">
                <a:solidFill>
                  <a:srgbClr val="FF6B35"/>
                </a:solidFill>
              </a:defRPr>
            </a:pPr>
            <a:r>
              <a:t>2020-2024: PODCASTS</a:t>
            </a:r>
          </a:p>
        </p:txBody>
      </p:sp>
      <p:sp>
        <p:nvSpPr>
          <p:cNvPr id="5" name="TextBox 4"/>
          <p:cNvSpPr txBox="1"/>
          <p:nvPr/>
        </p:nvSpPr>
        <p:spPr>
          <a:xfrm>
            <a:off x="731520" y="2468880"/>
            <a:ext cx="5029200" cy="914400"/>
          </a:xfrm>
          <a:prstGeom prst="rect">
            <a:avLst/>
          </a:prstGeom>
          <a:noFill/>
        </p:spPr>
        <p:txBody>
          <a:bodyPr wrap="none">
            <a:spAutoFit/>
          </a:bodyPr>
          <a:lstStyle/>
          <a:p>
            <a:pPr algn="ctr">
              <a:defRPr sz="7200" b="1">
                <a:solidFill>
                  <a:srgbClr val="FF6B35"/>
                </a:solidFill>
              </a:defRPr>
            </a:pPr>
            <a:r>
              <a:t>14M</a:t>
            </a:r>
          </a:p>
        </p:txBody>
      </p:sp>
      <p:sp>
        <p:nvSpPr>
          <p:cNvPr id="6" name="TextBox 5"/>
          <p:cNvSpPr txBox="1"/>
          <p:nvPr/>
        </p:nvSpPr>
        <p:spPr>
          <a:xfrm>
            <a:off x="731520" y="3474720"/>
            <a:ext cx="5029200" cy="731520"/>
          </a:xfrm>
          <a:prstGeom prst="rect">
            <a:avLst/>
          </a:prstGeom>
          <a:noFill/>
        </p:spPr>
        <p:txBody>
          <a:bodyPr wrap="none">
            <a:spAutoFit/>
          </a:bodyPr>
          <a:lstStyle/>
          <a:p>
            <a:pPr algn="ctr">
              <a:defRPr sz="1800">
                <a:solidFill>
                  <a:srgbClr val="6C757D"/>
                </a:solidFill>
              </a:defRPr>
            </a:pPr>
            <a:r>
              <a:t>viewers saw Rogan's</a:t>
            </a:r>
            <a:br/>
            <a:r>
              <a:t>Trump endorsement</a:t>
            </a:r>
          </a:p>
        </p:txBody>
      </p:sp>
      <p:sp>
        <p:nvSpPr>
          <p:cNvPr id="7" name="TextBox 6"/>
          <p:cNvSpPr txBox="1"/>
          <p:nvPr/>
        </p:nvSpPr>
        <p:spPr>
          <a:xfrm>
            <a:off x="731520" y="4572000"/>
            <a:ext cx="5029200" cy="914400"/>
          </a:xfrm>
          <a:prstGeom prst="rect">
            <a:avLst/>
          </a:prstGeom>
          <a:noFill/>
        </p:spPr>
        <p:txBody>
          <a:bodyPr wrap="none">
            <a:spAutoFit/>
          </a:bodyPr>
          <a:lstStyle/>
          <a:p>
            <a:pPr algn="ctr">
              <a:defRPr sz="2000" b="1">
                <a:solidFill>
                  <a:srgbClr val="FF6B35"/>
                </a:solidFill>
              </a:defRPr>
            </a:pPr>
            <a:r>
              <a:t>Progressives arrived late</a:t>
            </a:r>
          </a:p>
        </p:txBody>
      </p:sp>
      <p:sp>
        <p:nvSpPr>
          <p:cNvPr id="8" name="Right Arrow 7"/>
          <p:cNvSpPr/>
          <p:nvPr/>
        </p:nvSpPr>
        <p:spPr>
          <a:xfrm>
            <a:off x="5852160" y="3474720"/>
            <a:ext cx="731520" cy="457200"/>
          </a:xfrm>
          <a:prstGeom prst="rightArrow">
            <a:avLst/>
          </a:prstGeom>
          <a:solidFill>
            <a:srgbClr val="007B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583680" y="1645920"/>
            <a:ext cx="5029200" cy="4114800"/>
          </a:xfrm>
          <a:prstGeom prst="roundRect">
            <a:avLst>
              <a:gd name="adj" fmla="val 5000"/>
            </a:avLst>
          </a:prstGeom>
          <a:solidFill>
            <a:srgbClr val="E8F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0" y="1828800"/>
            <a:ext cx="5029200" cy="548640"/>
          </a:xfrm>
          <a:prstGeom prst="rect">
            <a:avLst/>
          </a:prstGeom>
          <a:noFill/>
        </p:spPr>
        <p:txBody>
          <a:bodyPr wrap="none">
            <a:spAutoFit/>
          </a:bodyPr>
          <a:lstStyle/>
          <a:p>
            <a:pPr algn="ctr">
              <a:defRPr sz="1800" b="1">
                <a:solidFill>
                  <a:srgbClr val="2ECC71"/>
                </a:solidFill>
              </a:defRPr>
            </a:pPr>
            <a:r>
              <a:t>2024-2028: AI</a:t>
            </a:r>
          </a:p>
        </p:txBody>
      </p:sp>
      <p:sp>
        <p:nvSpPr>
          <p:cNvPr id="11" name="Oval 10"/>
          <p:cNvSpPr/>
          <p:nvPr/>
        </p:nvSpPr>
        <p:spPr>
          <a:xfrm>
            <a:off x="7132320" y="2468880"/>
            <a:ext cx="731520" cy="731520"/>
          </a:xfrm>
          <a:prstGeom prst="ellipse">
            <a:avLst/>
          </a:prstGeom>
          <a:solidFill>
            <a:srgbClr val="F0F0F0"/>
          </a:solidFill>
          <a:ln>
            <a:solidFill>
              <a:srgbClr val="6C757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0" y="3246120"/>
            <a:ext cx="1280160" cy="274320"/>
          </a:xfrm>
          <a:prstGeom prst="rect">
            <a:avLst/>
          </a:prstGeom>
          <a:noFill/>
        </p:spPr>
        <p:txBody>
          <a:bodyPr wrap="none">
            <a:spAutoFit/>
          </a:bodyPr>
          <a:lstStyle/>
          <a:p>
            <a:pPr algn="ctr">
              <a:defRPr sz="1000">
                <a:solidFill>
                  <a:srgbClr val="6C757D"/>
                </a:solidFill>
              </a:defRPr>
            </a:pPr>
            <a:r>
              <a:t>Google</a:t>
            </a:r>
          </a:p>
        </p:txBody>
      </p:sp>
      <p:sp>
        <p:nvSpPr>
          <p:cNvPr id="13" name="Oval 12"/>
          <p:cNvSpPr/>
          <p:nvPr/>
        </p:nvSpPr>
        <p:spPr>
          <a:xfrm>
            <a:off x="8412480" y="2468880"/>
            <a:ext cx="731520" cy="731520"/>
          </a:xfrm>
          <a:prstGeom prst="ellipse">
            <a:avLst/>
          </a:prstGeom>
          <a:solidFill>
            <a:srgbClr val="F0F0F0"/>
          </a:solidFill>
          <a:ln>
            <a:solidFill>
              <a:srgbClr val="6C757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138159" y="3246120"/>
            <a:ext cx="1280160" cy="274320"/>
          </a:xfrm>
          <a:prstGeom prst="rect">
            <a:avLst/>
          </a:prstGeom>
          <a:noFill/>
        </p:spPr>
        <p:txBody>
          <a:bodyPr wrap="none">
            <a:spAutoFit/>
          </a:bodyPr>
          <a:lstStyle/>
          <a:p>
            <a:pPr algn="ctr">
              <a:defRPr sz="1000">
                <a:solidFill>
                  <a:srgbClr val="6C757D"/>
                </a:solidFill>
              </a:defRPr>
            </a:pPr>
            <a:r>
              <a:t>ChatGPT</a:t>
            </a:r>
          </a:p>
        </p:txBody>
      </p:sp>
      <p:sp>
        <p:nvSpPr>
          <p:cNvPr id="15" name="Oval 14"/>
          <p:cNvSpPr/>
          <p:nvPr/>
        </p:nvSpPr>
        <p:spPr>
          <a:xfrm>
            <a:off x="9692640" y="2468880"/>
            <a:ext cx="731520" cy="731520"/>
          </a:xfrm>
          <a:prstGeom prst="ellipse">
            <a:avLst/>
          </a:prstGeom>
          <a:solidFill>
            <a:srgbClr val="F0F0F0"/>
          </a:solidFill>
          <a:ln>
            <a:solidFill>
              <a:srgbClr val="6C757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418319" y="3246120"/>
            <a:ext cx="1280160" cy="274320"/>
          </a:xfrm>
          <a:prstGeom prst="rect">
            <a:avLst/>
          </a:prstGeom>
          <a:noFill/>
        </p:spPr>
        <p:txBody>
          <a:bodyPr wrap="none">
            <a:spAutoFit/>
          </a:bodyPr>
          <a:lstStyle/>
          <a:p>
            <a:pPr algn="ctr">
              <a:defRPr sz="1000">
                <a:solidFill>
                  <a:srgbClr val="6C757D"/>
                </a:solidFill>
              </a:defRPr>
            </a:pPr>
            <a:r>
              <a:t>Meta AI</a:t>
            </a:r>
          </a:p>
        </p:txBody>
      </p:sp>
      <p:sp>
        <p:nvSpPr>
          <p:cNvPr id="17" name="TextBox 16"/>
          <p:cNvSpPr txBox="1"/>
          <p:nvPr/>
        </p:nvSpPr>
        <p:spPr>
          <a:xfrm>
            <a:off x="6583680" y="4572000"/>
            <a:ext cx="5029200" cy="914400"/>
          </a:xfrm>
          <a:prstGeom prst="rect">
            <a:avLst/>
          </a:prstGeom>
          <a:noFill/>
        </p:spPr>
        <p:txBody>
          <a:bodyPr wrap="none">
            <a:spAutoFit/>
          </a:bodyPr>
          <a:lstStyle/>
          <a:p>
            <a:pPr algn="ctr">
              <a:defRPr sz="2000" b="1">
                <a:solidFill>
                  <a:srgbClr val="2ECC71"/>
                </a:solidFill>
              </a:defRPr>
            </a:pPr>
            <a:r>
              <a:t>We can lead this time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77295" cy="731520"/>
          </a:xfrm>
          <a:prstGeom prst="rect">
            <a:avLst/>
          </a:prstGeom>
          <a:noFill/>
        </p:spPr>
        <p:txBody>
          <a:bodyPr wrap="none">
            <a:spAutoFit/>
          </a:bodyPr>
          <a:lstStyle/>
          <a:p>
            <a:pPr>
              <a:defRPr sz="4000" b="1">
                <a:solidFill>
                  <a:srgbClr val="1A365D"/>
                </a:solidFill>
              </a:defRPr>
            </a:pPr>
            <a:r>
              <a:t>The AI Information Revolution</a:t>
            </a:r>
          </a:p>
        </p:txBody>
      </p:sp>
      <p:sp>
        <p:nvSpPr>
          <p:cNvPr id="3" name="TextBox 2"/>
          <p:cNvSpPr txBox="1"/>
          <p:nvPr/>
        </p:nvSpPr>
        <p:spPr>
          <a:xfrm>
            <a:off x="457200" y="1188720"/>
            <a:ext cx="2743200" cy="1097280"/>
          </a:xfrm>
          <a:prstGeom prst="rect">
            <a:avLst/>
          </a:prstGeom>
          <a:noFill/>
        </p:spPr>
        <p:txBody>
          <a:bodyPr wrap="none">
            <a:spAutoFit/>
          </a:bodyPr>
          <a:lstStyle/>
          <a:p>
            <a:pPr algn="ctr">
              <a:defRPr sz="7200" b="1">
                <a:solidFill>
                  <a:srgbClr val="007BC0"/>
                </a:solidFill>
              </a:defRPr>
            </a:pPr>
            <a:r>
              <a:t>58%</a:t>
            </a:r>
          </a:p>
        </p:txBody>
      </p:sp>
      <p:sp>
        <p:nvSpPr>
          <p:cNvPr id="4" name="TextBox 3"/>
          <p:cNvSpPr txBox="1"/>
          <p:nvPr/>
        </p:nvSpPr>
        <p:spPr>
          <a:xfrm>
            <a:off x="457200" y="2194560"/>
            <a:ext cx="2743200" cy="548640"/>
          </a:xfrm>
          <a:prstGeom prst="rect">
            <a:avLst/>
          </a:prstGeom>
          <a:noFill/>
        </p:spPr>
        <p:txBody>
          <a:bodyPr wrap="none">
            <a:spAutoFit/>
          </a:bodyPr>
          <a:lstStyle/>
          <a:p>
            <a:pPr algn="ctr">
              <a:defRPr sz="1800">
                <a:solidFill>
                  <a:srgbClr val="6C757D"/>
                </a:solidFill>
              </a:defRPr>
            </a:pPr>
            <a:r>
              <a:t>of Google searches</a:t>
            </a:r>
            <a:br/>
            <a:r>
              <a:t>end without a click</a:t>
            </a:r>
          </a:p>
        </p:txBody>
      </p:sp>
      <p:sp>
        <p:nvSpPr>
          <p:cNvPr id="5" name="TextBox 4"/>
          <p:cNvSpPr txBox="1"/>
          <p:nvPr/>
        </p:nvSpPr>
        <p:spPr>
          <a:xfrm>
            <a:off x="3383280" y="1188720"/>
            <a:ext cx="2743200" cy="1097280"/>
          </a:xfrm>
          <a:prstGeom prst="rect">
            <a:avLst/>
          </a:prstGeom>
          <a:noFill/>
        </p:spPr>
        <p:txBody>
          <a:bodyPr wrap="none">
            <a:spAutoFit/>
          </a:bodyPr>
          <a:lstStyle/>
          <a:p>
            <a:pPr algn="ctr">
              <a:defRPr sz="7200" b="1">
                <a:solidFill>
                  <a:srgbClr val="007BC0"/>
                </a:solidFill>
              </a:defRPr>
            </a:pPr>
            <a:r>
              <a:t>50%</a:t>
            </a:r>
          </a:p>
        </p:txBody>
      </p:sp>
      <p:sp>
        <p:nvSpPr>
          <p:cNvPr id="6" name="TextBox 5"/>
          <p:cNvSpPr txBox="1"/>
          <p:nvPr/>
        </p:nvSpPr>
        <p:spPr>
          <a:xfrm>
            <a:off x="3383280" y="2194560"/>
            <a:ext cx="2743200" cy="548640"/>
          </a:xfrm>
          <a:prstGeom prst="rect">
            <a:avLst/>
          </a:prstGeom>
          <a:noFill/>
        </p:spPr>
        <p:txBody>
          <a:bodyPr wrap="none">
            <a:spAutoFit/>
          </a:bodyPr>
          <a:lstStyle/>
          <a:p>
            <a:pPr algn="ctr">
              <a:defRPr sz="1800">
                <a:solidFill>
                  <a:srgbClr val="6C757D"/>
                </a:solidFill>
              </a:defRPr>
            </a:pPr>
            <a:r>
              <a:t>of queries show</a:t>
            </a:r>
            <a:br/>
            <a:r>
              <a:t>AI Overviews</a:t>
            </a:r>
          </a:p>
        </p:txBody>
      </p:sp>
      <p:sp>
        <p:nvSpPr>
          <p:cNvPr id="7" name="TextBox 6"/>
          <p:cNvSpPr txBox="1"/>
          <p:nvPr/>
        </p:nvSpPr>
        <p:spPr>
          <a:xfrm>
            <a:off x="6309360" y="1188720"/>
            <a:ext cx="2743200" cy="1097280"/>
          </a:xfrm>
          <a:prstGeom prst="rect">
            <a:avLst/>
          </a:prstGeom>
          <a:noFill/>
        </p:spPr>
        <p:txBody>
          <a:bodyPr wrap="none">
            <a:spAutoFit/>
          </a:bodyPr>
          <a:lstStyle/>
          <a:p>
            <a:pPr algn="ctr">
              <a:defRPr sz="7200" b="1">
                <a:solidFill>
                  <a:srgbClr val="007BC0"/>
                </a:solidFill>
              </a:defRPr>
            </a:pPr>
            <a:r>
              <a:t>100M+</a:t>
            </a:r>
          </a:p>
        </p:txBody>
      </p:sp>
      <p:sp>
        <p:nvSpPr>
          <p:cNvPr id="8" name="TextBox 7"/>
          <p:cNvSpPr txBox="1"/>
          <p:nvPr/>
        </p:nvSpPr>
        <p:spPr>
          <a:xfrm>
            <a:off x="6309360" y="2194560"/>
            <a:ext cx="2743200" cy="548640"/>
          </a:xfrm>
          <a:prstGeom prst="rect">
            <a:avLst/>
          </a:prstGeom>
          <a:noFill/>
        </p:spPr>
        <p:txBody>
          <a:bodyPr wrap="none">
            <a:spAutoFit/>
          </a:bodyPr>
          <a:lstStyle/>
          <a:p>
            <a:pPr algn="ctr">
              <a:defRPr sz="1800">
                <a:solidFill>
                  <a:srgbClr val="6C757D"/>
                </a:solidFill>
              </a:defRPr>
            </a:pPr>
            <a:r>
              <a:t>weekly ChatGPT</a:t>
            </a:r>
            <a:br/>
            <a:r>
              <a:t>users in US</a:t>
            </a:r>
          </a:p>
        </p:txBody>
      </p:sp>
      <p:sp>
        <p:nvSpPr>
          <p:cNvPr id="9" name="TextBox 8"/>
          <p:cNvSpPr txBox="1"/>
          <p:nvPr/>
        </p:nvSpPr>
        <p:spPr>
          <a:xfrm>
            <a:off x="9235440" y="1188720"/>
            <a:ext cx="2743200" cy="1097280"/>
          </a:xfrm>
          <a:prstGeom prst="rect">
            <a:avLst/>
          </a:prstGeom>
          <a:noFill/>
        </p:spPr>
        <p:txBody>
          <a:bodyPr wrap="none">
            <a:spAutoFit/>
          </a:bodyPr>
          <a:lstStyle/>
          <a:p>
            <a:pPr algn="ctr">
              <a:defRPr sz="7200" b="1">
                <a:solidFill>
                  <a:srgbClr val="FF6B35"/>
                </a:solidFill>
              </a:defRPr>
            </a:pPr>
            <a:r>
              <a:t>45-60%</a:t>
            </a:r>
          </a:p>
        </p:txBody>
      </p:sp>
      <p:sp>
        <p:nvSpPr>
          <p:cNvPr id="10" name="TextBox 9"/>
          <p:cNvSpPr txBox="1"/>
          <p:nvPr/>
        </p:nvSpPr>
        <p:spPr>
          <a:xfrm>
            <a:off x="9235440" y="2194560"/>
            <a:ext cx="2743200" cy="548640"/>
          </a:xfrm>
          <a:prstGeom prst="rect">
            <a:avLst/>
          </a:prstGeom>
          <a:noFill/>
        </p:spPr>
        <p:txBody>
          <a:bodyPr wrap="none">
            <a:spAutoFit/>
          </a:bodyPr>
          <a:lstStyle/>
          <a:p>
            <a:pPr algn="ctr">
              <a:defRPr sz="1800">
                <a:solidFill>
                  <a:srgbClr val="6C757D"/>
                </a:solidFill>
              </a:defRPr>
            </a:pPr>
            <a:r>
              <a:t>voter queries by AI</a:t>
            </a:r>
            <a:br/>
            <a:r>
              <a:t>in 2028</a:t>
            </a:r>
          </a:p>
        </p:txBody>
      </p:sp>
      <p:sp>
        <p:nvSpPr>
          <p:cNvPr id="11" name="Rounded Rectangle 10"/>
          <p:cNvSpPr/>
          <p:nvPr/>
        </p:nvSpPr>
        <p:spPr>
          <a:xfrm>
            <a:off x="914400" y="3840480"/>
            <a:ext cx="3200400" cy="2011680"/>
          </a:xfrm>
          <a:prstGeom prst="roundRect">
            <a:avLst>
              <a:gd name="adj" fmla="val 10000"/>
            </a:avLst>
          </a:prstGeom>
          <a:solidFill>
            <a:srgbClr val="EA4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2103120" y="4114800"/>
            <a:ext cx="548640" cy="548640"/>
          </a:xfrm>
          <a:prstGeom prst="ellipse">
            <a:avLst/>
          </a:prstGeom>
          <a:solidFill>
            <a:srgbClr val="F0F0F0"/>
          </a:solidFill>
          <a:ln>
            <a:solidFill>
              <a:srgbClr val="6C757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828799" y="4709159"/>
            <a:ext cx="1097280" cy="274320"/>
          </a:xfrm>
          <a:prstGeom prst="rect">
            <a:avLst/>
          </a:prstGeom>
          <a:noFill/>
        </p:spPr>
        <p:txBody>
          <a:bodyPr wrap="none">
            <a:spAutoFit/>
          </a:bodyPr>
          <a:lstStyle/>
          <a:p>
            <a:pPr algn="ctr">
              <a:defRPr sz="1000">
                <a:solidFill>
                  <a:srgbClr val="6C757D"/>
                </a:solidFill>
              </a:defRPr>
            </a:pPr>
          </a:p>
        </p:txBody>
      </p:sp>
      <p:sp>
        <p:nvSpPr>
          <p:cNvPr id="14" name="TextBox 13"/>
          <p:cNvSpPr txBox="1"/>
          <p:nvPr/>
        </p:nvSpPr>
        <p:spPr>
          <a:xfrm>
            <a:off x="914400" y="4846320"/>
            <a:ext cx="3200400" cy="914400"/>
          </a:xfrm>
          <a:prstGeom prst="rect">
            <a:avLst/>
          </a:prstGeom>
          <a:noFill/>
        </p:spPr>
        <p:txBody>
          <a:bodyPr wrap="none">
            <a:spAutoFit/>
          </a:bodyPr>
          <a:lstStyle/>
          <a:p>
            <a:pPr algn="ctr">
              <a:defRPr sz="1600">
                <a:solidFill>
                  <a:srgbClr val="FFFFFF"/>
                </a:solidFill>
              </a:defRPr>
            </a:pPr>
            <a:r>
              <a:t>Google AI Overviews</a:t>
            </a:r>
            <a:br/>
            <a:r>
              <a:t>Appears before all links</a:t>
            </a:r>
          </a:p>
        </p:txBody>
      </p:sp>
      <p:sp>
        <p:nvSpPr>
          <p:cNvPr id="15" name="Rounded Rectangle 14"/>
          <p:cNvSpPr/>
          <p:nvPr/>
        </p:nvSpPr>
        <p:spPr>
          <a:xfrm>
            <a:off x="4572000" y="3840480"/>
            <a:ext cx="3200400" cy="2011680"/>
          </a:xfrm>
          <a:prstGeom prst="roundRect">
            <a:avLst>
              <a:gd name="adj" fmla="val 10000"/>
            </a:avLst>
          </a:prstGeom>
          <a:solidFill>
            <a:srgbClr val="10A3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5760720" y="4114800"/>
            <a:ext cx="548640" cy="548640"/>
          </a:xfrm>
          <a:prstGeom prst="ellipse">
            <a:avLst/>
          </a:prstGeom>
          <a:solidFill>
            <a:srgbClr val="F0F0F0"/>
          </a:solidFill>
          <a:ln>
            <a:solidFill>
              <a:srgbClr val="6C757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486400" y="4709159"/>
            <a:ext cx="1097280" cy="274320"/>
          </a:xfrm>
          <a:prstGeom prst="rect">
            <a:avLst/>
          </a:prstGeom>
          <a:noFill/>
        </p:spPr>
        <p:txBody>
          <a:bodyPr wrap="none">
            <a:spAutoFit/>
          </a:bodyPr>
          <a:lstStyle/>
          <a:p>
            <a:pPr algn="ctr">
              <a:defRPr sz="1000">
                <a:solidFill>
                  <a:srgbClr val="6C757D"/>
                </a:solidFill>
              </a:defRPr>
            </a:pPr>
          </a:p>
        </p:txBody>
      </p:sp>
      <p:sp>
        <p:nvSpPr>
          <p:cNvPr id="18" name="TextBox 17"/>
          <p:cNvSpPr txBox="1"/>
          <p:nvPr/>
        </p:nvSpPr>
        <p:spPr>
          <a:xfrm>
            <a:off x="4572000" y="4846320"/>
            <a:ext cx="3200400" cy="914400"/>
          </a:xfrm>
          <a:prstGeom prst="rect">
            <a:avLst/>
          </a:prstGeom>
          <a:noFill/>
        </p:spPr>
        <p:txBody>
          <a:bodyPr wrap="none">
            <a:spAutoFit/>
          </a:bodyPr>
          <a:lstStyle/>
          <a:p>
            <a:pPr algn="ctr">
              <a:defRPr sz="1600">
                <a:solidFill>
                  <a:srgbClr val="FFFFFF"/>
                </a:solidFill>
              </a:defRPr>
            </a:pPr>
            <a:r>
              <a:t>ChatGPT</a:t>
            </a:r>
            <a:br/>
            <a:r>
              <a:t>100M+ active researchers</a:t>
            </a:r>
          </a:p>
        </p:txBody>
      </p:sp>
      <p:sp>
        <p:nvSpPr>
          <p:cNvPr id="19" name="Rounded Rectangle 18"/>
          <p:cNvSpPr/>
          <p:nvPr/>
        </p:nvSpPr>
        <p:spPr>
          <a:xfrm>
            <a:off x="8229600" y="3840480"/>
            <a:ext cx="3200400" cy="2011680"/>
          </a:xfrm>
          <a:prstGeom prst="roundRect">
            <a:avLst>
              <a:gd name="adj" fmla="val 10000"/>
            </a:avLst>
          </a:prstGeom>
          <a:solidFill>
            <a:srgbClr val="008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9418320" y="4114800"/>
            <a:ext cx="548640" cy="548640"/>
          </a:xfrm>
          <a:prstGeom prst="ellipse">
            <a:avLst/>
          </a:prstGeom>
          <a:solidFill>
            <a:srgbClr val="F0F0F0"/>
          </a:solidFill>
          <a:ln>
            <a:solidFill>
              <a:srgbClr val="6C757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144000" y="4709159"/>
            <a:ext cx="1097280" cy="274320"/>
          </a:xfrm>
          <a:prstGeom prst="rect">
            <a:avLst/>
          </a:prstGeom>
          <a:noFill/>
        </p:spPr>
        <p:txBody>
          <a:bodyPr wrap="none">
            <a:spAutoFit/>
          </a:bodyPr>
          <a:lstStyle/>
          <a:p>
            <a:pPr algn="ctr">
              <a:defRPr sz="1000">
                <a:solidFill>
                  <a:srgbClr val="6C757D"/>
                </a:solidFill>
              </a:defRPr>
            </a:pPr>
          </a:p>
        </p:txBody>
      </p:sp>
      <p:sp>
        <p:nvSpPr>
          <p:cNvPr id="22" name="TextBox 21"/>
          <p:cNvSpPr txBox="1"/>
          <p:nvPr/>
        </p:nvSpPr>
        <p:spPr>
          <a:xfrm>
            <a:off x="8229600" y="4846320"/>
            <a:ext cx="3200400" cy="914400"/>
          </a:xfrm>
          <a:prstGeom prst="rect">
            <a:avLst/>
          </a:prstGeom>
          <a:noFill/>
        </p:spPr>
        <p:txBody>
          <a:bodyPr wrap="none">
            <a:spAutoFit/>
          </a:bodyPr>
          <a:lstStyle/>
          <a:p>
            <a:pPr algn="ctr">
              <a:defRPr sz="1600">
                <a:solidFill>
                  <a:srgbClr val="FFFFFF"/>
                </a:solidFill>
              </a:defRPr>
            </a:pPr>
            <a:r>
              <a:t>WhatsApp AI</a:t>
            </a:r>
            <a:br/>
            <a:r>
              <a:t>Critical for Hispanic voters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77295" cy="731520"/>
          </a:xfrm>
          <a:prstGeom prst="rect">
            <a:avLst/>
          </a:prstGeom>
          <a:noFill/>
        </p:spPr>
        <p:txBody>
          <a:bodyPr wrap="none">
            <a:spAutoFit/>
          </a:bodyPr>
          <a:lstStyle/>
          <a:p>
            <a:pPr>
              <a:defRPr sz="4000" b="1">
                <a:solidFill>
                  <a:srgbClr val="1A365D"/>
                </a:solidFill>
              </a:defRPr>
            </a:pPr>
            <a:r>
              <a:t>AI Is 4x More Persuasive Than Television</a:t>
            </a:r>
          </a:p>
        </p:txBody>
      </p:sp>
      <p:sp>
        <p:nvSpPr>
          <p:cNvPr id="3" name="Rounded Rectangle 2"/>
          <p:cNvSpPr/>
          <p:nvPr/>
        </p:nvSpPr>
        <p:spPr>
          <a:xfrm>
            <a:off x="8686800" y="365760"/>
            <a:ext cx="3017520" cy="457200"/>
          </a:xfrm>
          <a:prstGeom prst="roundRect">
            <a:avLst>
              <a:gd name="adj" fmla="val 30000"/>
            </a:avLst>
          </a:prstGeom>
          <a:solidFill>
            <a:srgbClr val="E3F2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0" y="411480"/>
            <a:ext cx="3017520" cy="365760"/>
          </a:xfrm>
          <a:prstGeom prst="rect">
            <a:avLst/>
          </a:prstGeom>
          <a:noFill/>
        </p:spPr>
        <p:txBody>
          <a:bodyPr wrap="none">
            <a:spAutoFit/>
          </a:bodyPr>
          <a:lstStyle/>
          <a:p>
            <a:pPr algn="ctr">
              <a:defRPr sz="1200">
                <a:solidFill>
                  <a:srgbClr val="007BC0"/>
                </a:solidFill>
              </a:defRPr>
            </a:pPr>
            <a:r>
              <a:t>Nature &amp; Science, Dec 2025</a:t>
            </a:r>
          </a:p>
        </p:txBody>
      </p:sp>
      <p:sp>
        <p:nvSpPr>
          <p:cNvPr id="5" name="TextBox 4"/>
          <p:cNvSpPr txBox="1"/>
          <p:nvPr/>
        </p:nvSpPr>
        <p:spPr>
          <a:xfrm>
            <a:off x="914400" y="1645920"/>
            <a:ext cx="1828800" cy="365760"/>
          </a:xfrm>
          <a:prstGeom prst="rect">
            <a:avLst/>
          </a:prstGeom>
          <a:noFill/>
        </p:spPr>
        <p:txBody>
          <a:bodyPr wrap="none">
            <a:spAutoFit/>
          </a:bodyPr>
          <a:lstStyle/>
          <a:p>
            <a:pPr>
              <a:defRPr sz="1800">
                <a:solidFill>
                  <a:srgbClr val="6C757D"/>
                </a:solidFill>
              </a:defRPr>
            </a:pPr>
            <a:r>
              <a:t>TV Advertising</a:t>
            </a:r>
          </a:p>
        </p:txBody>
      </p:sp>
      <p:sp>
        <p:nvSpPr>
          <p:cNvPr id="6" name="Rounded Rectangle 5"/>
          <p:cNvSpPr/>
          <p:nvPr/>
        </p:nvSpPr>
        <p:spPr>
          <a:xfrm>
            <a:off x="914400" y="2103120"/>
            <a:ext cx="2286000" cy="731520"/>
          </a:xfrm>
          <a:prstGeom prst="roundRect">
            <a:avLst>
              <a:gd name="adj" fmla="val 20000"/>
            </a:avLst>
          </a:prstGeom>
          <a:solidFill>
            <a:srgbClr val="6C75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194560"/>
            <a:ext cx="2286000" cy="548640"/>
          </a:xfrm>
          <a:prstGeom prst="rect">
            <a:avLst/>
          </a:prstGeom>
          <a:noFill/>
        </p:spPr>
        <p:txBody>
          <a:bodyPr wrap="none">
            <a:spAutoFit/>
          </a:bodyPr>
          <a:lstStyle/>
          <a:p>
            <a:pPr algn="ctr">
              <a:defRPr sz="2400" b="1">
                <a:solidFill>
                  <a:srgbClr val="FFFFFF"/>
                </a:solidFill>
              </a:defRPr>
            </a:pPr>
            <a:r>
              <a:t>1x</a:t>
            </a:r>
          </a:p>
        </p:txBody>
      </p:sp>
      <p:sp>
        <p:nvSpPr>
          <p:cNvPr id="8" name="TextBox 7"/>
          <p:cNvSpPr txBox="1"/>
          <p:nvPr/>
        </p:nvSpPr>
        <p:spPr>
          <a:xfrm>
            <a:off x="914400" y="3200400"/>
            <a:ext cx="1828800" cy="365760"/>
          </a:xfrm>
          <a:prstGeom prst="rect">
            <a:avLst/>
          </a:prstGeom>
          <a:noFill/>
        </p:spPr>
        <p:txBody>
          <a:bodyPr wrap="none">
            <a:spAutoFit/>
          </a:bodyPr>
          <a:lstStyle/>
          <a:p>
            <a:pPr>
              <a:defRPr sz="1800">
                <a:solidFill>
                  <a:srgbClr val="007BC0"/>
                </a:solidFill>
              </a:defRPr>
            </a:pPr>
            <a:r>
              <a:t>AI Chatbots</a:t>
            </a:r>
          </a:p>
        </p:txBody>
      </p:sp>
      <p:sp>
        <p:nvSpPr>
          <p:cNvPr id="9" name="Rounded Rectangle 8"/>
          <p:cNvSpPr/>
          <p:nvPr/>
        </p:nvSpPr>
        <p:spPr>
          <a:xfrm>
            <a:off x="914400" y="3657600"/>
            <a:ext cx="9144000" cy="731520"/>
          </a:xfrm>
          <a:prstGeom prst="roundRect">
            <a:avLst>
              <a:gd name="adj" fmla="val 5000"/>
            </a:avLst>
          </a:prstGeom>
          <a:solidFill>
            <a:srgbClr val="007B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3749039"/>
            <a:ext cx="9144000" cy="548640"/>
          </a:xfrm>
          <a:prstGeom prst="rect">
            <a:avLst/>
          </a:prstGeom>
          <a:noFill/>
        </p:spPr>
        <p:txBody>
          <a:bodyPr wrap="none">
            <a:spAutoFit/>
          </a:bodyPr>
          <a:lstStyle/>
          <a:p>
            <a:pPr algn="ctr">
              <a:defRPr sz="2400" b="1">
                <a:solidFill>
                  <a:srgbClr val="FFFFFF"/>
                </a:solidFill>
              </a:defRPr>
            </a:pPr>
            <a:r>
              <a:t>4x</a:t>
            </a:r>
          </a:p>
        </p:txBody>
      </p:sp>
      <p:sp>
        <p:nvSpPr>
          <p:cNvPr id="11" name="Rounded Rectangle 10"/>
          <p:cNvSpPr/>
          <p:nvPr/>
        </p:nvSpPr>
        <p:spPr>
          <a:xfrm>
            <a:off x="914400" y="4846320"/>
            <a:ext cx="3657600" cy="1371600"/>
          </a:xfrm>
          <a:prstGeom prst="roundRect">
            <a:avLst>
              <a:gd name="adj" fmla="val 10000"/>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5029200"/>
            <a:ext cx="3657600" cy="640080"/>
          </a:xfrm>
          <a:prstGeom prst="rect">
            <a:avLst/>
          </a:prstGeom>
          <a:noFill/>
        </p:spPr>
        <p:txBody>
          <a:bodyPr wrap="none">
            <a:spAutoFit/>
          </a:bodyPr>
          <a:lstStyle/>
          <a:p>
            <a:pPr algn="ctr">
              <a:defRPr sz="3600" b="1">
                <a:solidFill>
                  <a:srgbClr val="6C757D"/>
                </a:solidFill>
              </a:defRPr>
            </a:pPr>
            <a:r>
              <a:t>$100-600</a:t>
            </a:r>
          </a:p>
        </p:txBody>
      </p:sp>
      <p:sp>
        <p:nvSpPr>
          <p:cNvPr id="13" name="TextBox 12"/>
          <p:cNvSpPr txBox="1"/>
          <p:nvPr/>
        </p:nvSpPr>
        <p:spPr>
          <a:xfrm>
            <a:off x="914400" y="5669280"/>
            <a:ext cx="3657600" cy="365760"/>
          </a:xfrm>
          <a:prstGeom prst="rect">
            <a:avLst/>
          </a:prstGeom>
          <a:noFill/>
        </p:spPr>
        <p:txBody>
          <a:bodyPr wrap="none">
            <a:spAutoFit/>
          </a:bodyPr>
          <a:lstStyle/>
          <a:p>
            <a:pPr algn="ctr">
              <a:defRPr sz="1400">
                <a:solidFill>
                  <a:srgbClr val="6C757D"/>
                </a:solidFill>
              </a:defRPr>
            </a:pPr>
            <a:r>
              <a:t>per voter influenced (TV)</a:t>
            </a:r>
          </a:p>
        </p:txBody>
      </p:sp>
      <p:sp>
        <p:nvSpPr>
          <p:cNvPr id="14" name="Rounded Rectangle 13"/>
          <p:cNvSpPr/>
          <p:nvPr/>
        </p:nvSpPr>
        <p:spPr>
          <a:xfrm>
            <a:off x="5029200" y="4846320"/>
            <a:ext cx="3657600" cy="1371600"/>
          </a:xfrm>
          <a:prstGeom prst="roundRect">
            <a:avLst>
              <a:gd name="adj" fmla="val 10000"/>
            </a:avLst>
          </a:prstGeom>
          <a:solidFill>
            <a:srgbClr val="E3F2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029200" y="5029200"/>
            <a:ext cx="3657600" cy="640080"/>
          </a:xfrm>
          <a:prstGeom prst="rect">
            <a:avLst/>
          </a:prstGeom>
          <a:noFill/>
        </p:spPr>
        <p:txBody>
          <a:bodyPr wrap="none">
            <a:spAutoFit/>
          </a:bodyPr>
          <a:lstStyle/>
          <a:p>
            <a:pPr algn="ctr">
              <a:defRPr sz="3600" b="1">
                <a:solidFill>
                  <a:srgbClr val="2ECC71"/>
                </a:solidFill>
              </a:defRPr>
            </a:pPr>
            <a:r>
              <a:t>$1-10</a:t>
            </a:r>
          </a:p>
        </p:txBody>
      </p:sp>
      <p:sp>
        <p:nvSpPr>
          <p:cNvPr id="16" name="TextBox 15"/>
          <p:cNvSpPr txBox="1"/>
          <p:nvPr/>
        </p:nvSpPr>
        <p:spPr>
          <a:xfrm>
            <a:off x="5029200" y="5669280"/>
            <a:ext cx="3657600" cy="365760"/>
          </a:xfrm>
          <a:prstGeom prst="rect">
            <a:avLst/>
          </a:prstGeom>
          <a:noFill/>
        </p:spPr>
        <p:txBody>
          <a:bodyPr wrap="none">
            <a:spAutoFit/>
          </a:bodyPr>
          <a:lstStyle/>
          <a:p>
            <a:pPr algn="ctr">
              <a:defRPr sz="1400">
                <a:solidFill>
                  <a:srgbClr val="6C757D"/>
                </a:solidFill>
              </a:defRPr>
            </a:pPr>
            <a:r>
              <a:t>per voter influenced (AI)</a:t>
            </a:r>
          </a:p>
        </p:txBody>
      </p:sp>
      <p:sp>
        <p:nvSpPr>
          <p:cNvPr id="17" name="TextBox 16"/>
          <p:cNvSpPr txBox="1"/>
          <p:nvPr/>
        </p:nvSpPr>
        <p:spPr>
          <a:xfrm>
            <a:off x="457200" y="1097280"/>
            <a:ext cx="7315200" cy="457200"/>
          </a:xfrm>
          <a:prstGeom prst="rect">
            <a:avLst/>
          </a:prstGeom>
          <a:noFill/>
        </p:spPr>
        <p:txBody>
          <a:bodyPr wrap="none">
            <a:spAutoFit/>
          </a:bodyPr>
          <a:lstStyle/>
          <a:p>
            <a:pPr>
              <a:defRPr sz="1600" i="1">
                <a:solidFill>
                  <a:srgbClr val="6C757D"/>
                </a:solidFill>
              </a:defRPr>
            </a:pPr>
            <a:r>
              <a:t>"A shockingly large effect" — David Rand, MIT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77295" cy="731520"/>
          </a:xfrm>
          <a:prstGeom prst="rect">
            <a:avLst/>
          </a:prstGeom>
          <a:noFill/>
        </p:spPr>
        <p:txBody>
          <a:bodyPr wrap="none">
            <a:spAutoFit/>
          </a:bodyPr>
          <a:lstStyle/>
          <a:p>
            <a:pPr>
              <a:defRPr sz="4000" b="1">
                <a:solidFill>
                  <a:srgbClr val="1A365D"/>
                </a:solidFill>
              </a:defRPr>
            </a:pPr>
            <a:r>
              <a:t>AI Platforms Face Structural Pressure</a:t>
            </a:r>
          </a:p>
        </p:txBody>
      </p:sp>
      <p:sp>
        <p:nvSpPr>
          <p:cNvPr id="3" name="Rounded Rectangle 2"/>
          <p:cNvSpPr/>
          <p:nvPr/>
        </p:nvSpPr>
        <p:spPr>
          <a:xfrm>
            <a:off x="1371600" y="1371600"/>
            <a:ext cx="1828800" cy="731520"/>
          </a:xfrm>
          <a:prstGeom prst="roundRect">
            <a:avLst>
              <a:gd name="adj" fmla="val 20000"/>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371600" y="1554480"/>
            <a:ext cx="1828800" cy="457200"/>
          </a:xfrm>
          <a:prstGeom prst="rect">
            <a:avLst/>
          </a:prstGeom>
          <a:noFill/>
        </p:spPr>
        <p:txBody>
          <a:bodyPr wrap="none">
            <a:spAutoFit/>
          </a:bodyPr>
          <a:lstStyle/>
          <a:p>
            <a:pPr algn="ctr">
              <a:defRPr sz="1600" b="1">
                <a:solidFill>
                  <a:srgbClr val="FFFFFF"/>
                </a:solidFill>
              </a:defRPr>
            </a:pPr>
            <a:r>
              <a:t>Microsoft</a:t>
            </a:r>
          </a:p>
        </p:txBody>
      </p:sp>
      <p:sp>
        <p:nvSpPr>
          <p:cNvPr id="5" name="Rounded Rectangle 4"/>
          <p:cNvSpPr/>
          <p:nvPr/>
        </p:nvSpPr>
        <p:spPr>
          <a:xfrm>
            <a:off x="4114800" y="1371600"/>
            <a:ext cx="1828800" cy="731520"/>
          </a:xfrm>
          <a:prstGeom prst="roundRect">
            <a:avLst>
              <a:gd name="adj" fmla="val 20000"/>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114800" y="1554480"/>
            <a:ext cx="1828800" cy="457200"/>
          </a:xfrm>
          <a:prstGeom prst="rect">
            <a:avLst/>
          </a:prstGeom>
          <a:noFill/>
        </p:spPr>
        <p:txBody>
          <a:bodyPr wrap="none">
            <a:spAutoFit/>
          </a:bodyPr>
          <a:lstStyle/>
          <a:p>
            <a:pPr algn="ctr">
              <a:defRPr sz="1600" b="1">
                <a:solidFill>
                  <a:srgbClr val="FFFFFF"/>
                </a:solidFill>
              </a:defRPr>
            </a:pPr>
            <a:r>
              <a:t>Google</a:t>
            </a:r>
          </a:p>
        </p:txBody>
      </p:sp>
      <p:sp>
        <p:nvSpPr>
          <p:cNvPr id="7" name="Rounded Rectangle 6"/>
          <p:cNvSpPr/>
          <p:nvPr/>
        </p:nvSpPr>
        <p:spPr>
          <a:xfrm>
            <a:off x="6858000" y="1371600"/>
            <a:ext cx="1828800" cy="731520"/>
          </a:xfrm>
          <a:prstGeom prst="roundRect">
            <a:avLst>
              <a:gd name="adj" fmla="val 20000"/>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0" y="1554480"/>
            <a:ext cx="1828800" cy="457200"/>
          </a:xfrm>
          <a:prstGeom prst="rect">
            <a:avLst/>
          </a:prstGeom>
          <a:noFill/>
        </p:spPr>
        <p:txBody>
          <a:bodyPr wrap="none">
            <a:spAutoFit/>
          </a:bodyPr>
          <a:lstStyle/>
          <a:p>
            <a:pPr algn="ctr">
              <a:defRPr sz="1600" b="1">
                <a:solidFill>
                  <a:srgbClr val="FFFFFF"/>
                </a:solidFill>
              </a:defRPr>
            </a:pPr>
            <a:r>
              <a:t>Amazon</a:t>
            </a:r>
          </a:p>
        </p:txBody>
      </p:sp>
      <p:sp>
        <p:nvSpPr>
          <p:cNvPr id="9" name="Rounded Rectangle 8"/>
          <p:cNvSpPr/>
          <p:nvPr/>
        </p:nvSpPr>
        <p:spPr>
          <a:xfrm>
            <a:off x="9601200" y="1371600"/>
            <a:ext cx="1828800" cy="731520"/>
          </a:xfrm>
          <a:prstGeom prst="roundRect">
            <a:avLst>
              <a:gd name="adj" fmla="val 20000"/>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0" y="1554480"/>
            <a:ext cx="1828800" cy="457200"/>
          </a:xfrm>
          <a:prstGeom prst="rect">
            <a:avLst/>
          </a:prstGeom>
          <a:noFill/>
        </p:spPr>
        <p:txBody>
          <a:bodyPr wrap="none">
            <a:spAutoFit/>
          </a:bodyPr>
          <a:lstStyle/>
          <a:p>
            <a:pPr algn="ctr">
              <a:defRPr sz="1600" b="1">
                <a:solidFill>
                  <a:srgbClr val="FFFFFF"/>
                </a:solidFill>
              </a:defRPr>
            </a:pPr>
            <a:r>
              <a:t>Meta</a:t>
            </a:r>
          </a:p>
        </p:txBody>
      </p:sp>
      <p:sp>
        <p:nvSpPr>
          <p:cNvPr id="11" name="Down Arrow 10"/>
          <p:cNvSpPr/>
          <p:nvPr/>
        </p:nvSpPr>
        <p:spPr>
          <a:xfrm>
            <a:off x="5669280" y="2286000"/>
            <a:ext cx="914400" cy="731520"/>
          </a:xfrm>
          <a:prstGeom prst="downArrow">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1828800" y="3200400"/>
            <a:ext cx="2743200" cy="1371600"/>
          </a:xfrm>
          <a:prstGeom prst="roundRect">
            <a:avLst>
              <a:gd name="adj" fmla="val 10000"/>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828800" y="3383280"/>
            <a:ext cx="2743200" cy="548640"/>
          </a:xfrm>
          <a:prstGeom prst="rect">
            <a:avLst/>
          </a:prstGeom>
          <a:noFill/>
        </p:spPr>
        <p:txBody>
          <a:bodyPr wrap="none">
            <a:spAutoFit/>
          </a:bodyPr>
          <a:lstStyle/>
          <a:p>
            <a:pPr algn="ctr">
              <a:defRPr sz="2800" b="1">
                <a:solidFill>
                  <a:srgbClr val="FF6B35"/>
                </a:solidFill>
              </a:defRPr>
            </a:pPr>
            <a:r>
              <a:t>$9B+</a:t>
            </a:r>
          </a:p>
        </p:txBody>
      </p:sp>
      <p:sp>
        <p:nvSpPr>
          <p:cNvPr id="14" name="TextBox 13"/>
          <p:cNvSpPr txBox="1"/>
          <p:nvPr/>
        </p:nvSpPr>
        <p:spPr>
          <a:xfrm>
            <a:off x="1828800" y="4023360"/>
            <a:ext cx="2743200" cy="365760"/>
          </a:xfrm>
          <a:prstGeom prst="rect">
            <a:avLst/>
          </a:prstGeom>
          <a:noFill/>
        </p:spPr>
        <p:txBody>
          <a:bodyPr wrap="none">
            <a:spAutoFit/>
          </a:bodyPr>
          <a:lstStyle/>
          <a:p>
            <a:pPr algn="ctr">
              <a:defRPr sz="1400">
                <a:solidFill>
                  <a:srgbClr val="6C757D"/>
                </a:solidFill>
              </a:defRPr>
            </a:pPr>
            <a:r>
              <a:t>DoD contracts</a:t>
            </a:r>
          </a:p>
        </p:txBody>
      </p:sp>
      <p:sp>
        <p:nvSpPr>
          <p:cNvPr id="15" name="Rounded Rectangle 14"/>
          <p:cNvSpPr/>
          <p:nvPr/>
        </p:nvSpPr>
        <p:spPr>
          <a:xfrm>
            <a:off x="5029200" y="3200400"/>
            <a:ext cx="2743200" cy="1371600"/>
          </a:xfrm>
          <a:prstGeom prst="roundRect">
            <a:avLst>
              <a:gd name="adj" fmla="val 10000"/>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029200" y="3383280"/>
            <a:ext cx="2743200" cy="548640"/>
          </a:xfrm>
          <a:prstGeom prst="rect">
            <a:avLst/>
          </a:prstGeom>
          <a:noFill/>
        </p:spPr>
        <p:txBody>
          <a:bodyPr wrap="none">
            <a:spAutoFit/>
          </a:bodyPr>
          <a:lstStyle/>
          <a:p>
            <a:pPr algn="ctr">
              <a:defRPr sz="2800" b="1">
                <a:solidFill>
                  <a:srgbClr val="FF6B35"/>
                </a:solidFill>
              </a:defRPr>
            </a:pPr>
            <a:r>
              <a:t>230</a:t>
            </a:r>
          </a:p>
        </p:txBody>
      </p:sp>
      <p:sp>
        <p:nvSpPr>
          <p:cNvPr id="17" name="TextBox 16"/>
          <p:cNvSpPr txBox="1"/>
          <p:nvPr/>
        </p:nvSpPr>
        <p:spPr>
          <a:xfrm>
            <a:off x="5029200" y="4023360"/>
            <a:ext cx="2743200" cy="365760"/>
          </a:xfrm>
          <a:prstGeom prst="rect">
            <a:avLst/>
          </a:prstGeom>
          <a:noFill/>
        </p:spPr>
        <p:txBody>
          <a:bodyPr wrap="none">
            <a:spAutoFit/>
          </a:bodyPr>
          <a:lstStyle/>
          <a:p>
            <a:pPr algn="ctr">
              <a:defRPr sz="1400">
                <a:solidFill>
                  <a:srgbClr val="6C757D"/>
                </a:solidFill>
              </a:defRPr>
            </a:pPr>
            <a:r>
              <a:t>Section 230 risk</a:t>
            </a:r>
          </a:p>
        </p:txBody>
      </p:sp>
      <p:sp>
        <p:nvSpPr>
          <p:cNvPr id="18" name="Rounded Rectangle 17"/>
          <p:cNvSpPr/>
          <p:nvPr/>
        </p:nvSpPr>
        <p:spPr>
          <a:xfrm>
            <a:off x="8229600" y="3200400"/>
            <a:ext cx="2743200" cy="1371600"/>
          </a:xfrm>
          <a:prstGeom prst="roundRect">
            <a:avLst>
              <a:gd name="adj" fmla="val 10000"/>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600" y="3383280"/>
            <a:ext cx="2743200" cy="548640"/>
          </a:xfrm>
          <a:prstGeom prst="rect">
            <a:avLst/>
          </a:prstGeom>
          <a:noFill/>
        </p:spPr>
        <p:txBody>
          <a:bodyPr wrap="none">
            <a:spAutoFit/>
          </a:bodyPr>
          <a:lstStyle/>
          <a:p>
            <a:pPr algn="ctr">
              <a:defRPr sz="2800" b="1">
                <a:solidFill>
                  <a:srgbClr val="FF6B35"/>
                </a:solidFill>
              </a:defRPr>
            </a:pPr>
            <a:r>
              <a:t>⚠️</a:t>
            </a:r>
          </a:p>
        </p:txBody>
      </p:sp>
      <p:sp>
        <p:nvSpPr>
          <p:cNvPr id="20" name="TextBox 19"/>
          <p:cNvSpPr txBox="1"/>
          <p:nvPr/>
        </p:nvSpPr>
        <p:spPr>
          <a:xfrm>
            <a:off x="8229600" y="4023360"/>
            <a:ext cx="2743200" cy="365760"/>
          </a:xfrm>
          <a:prstGeom prst="rect">
            <a:avLst/>
          </a:prstGeom>
          <a:noFill/>
        </p:spPr>
        <p:txBody>
          <a:bodyPr wrap="none">
            <a:spAutoFit/>
          </a:bodyPr>
          <a:lstStyle/>
          <a:p>
            <a:pPr algn="ctr">
              <a:defRPr sz="1400">
                <a:solidFill>
                  <a:srgbClr val="6C757D"/>
                </a:solidFill>
              </a:defRPr>
            </a:pPr>
            <a:r>
              <a:t>Political pressure</a:t>
            </a:r>
          </a:p>
        </p:txBody>
      </p:sp>
      <p:sp>
        <p:nvSpPr>
          <p:cNvPr id="21" name="Rounded Rectangle 20"/>
          <p:cNvSpPr/>
          <p:nvPr/>
        </p:nvSpPr>
        <p:spPr>
          <a:xfrm>
            <a:off x="914400" y="5029200"/>
            <a:ext cx="10515600" cy="1188720"/>
          </a:xfrm>
          <a:prstGeom prst="roundRect">
            <a:avLst>
              <a:gd name="adj" fmla="val 10000"/>
            </a:avLst>
          </a:prstGeom>
          <a:solidFill>
            <a:srgbClr val="FCE4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14400" y="5212080"/>
            <a:ext cx="10515600" cy="914400"/>
          </a:xfrm>
          <a:prstGeom prst="rect">
            <a:avLst/>
          </a:prstGeom>
          <a:noFill/>
        </p:spPr>
        <p:txBody>
          <a:bodyPr wrap="none">
            <a:spAutoFit/>
          </a:bodyPr>
          <a:lstStyle/>
          <a:p>
            <a:pPr algn="ctr">
              <a:defRPr sz="2200">
                <a:solidFill>
                  <a:srgbClr val="1A365D"/>
                </a:solidFill>
              </a:defRPr>
            </a:pPr>
            <a:r>
              <a:t>The issue is structural: corporate governance requires managing political risk.</a:t>
            </a:r>
          </a:p>
          <a:p>
            <a:pPr algn="ctr">
              <a:defRPr sz="2200" b="1">
                <a:solidFill>
                  <a:srgbClr val="FF6B35"/>
                </a:solidFill>
              </a:defRPr>
            </a:pPr>
            <a:r>
              <a:t>In the current environment, that risk runs in one direction.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77295" cy="731520"/>
          </a:xfrm>
          <a:prstGeom prst="rect">
            <a:avLst/>
          </a:prstGeom>
          <a:noFill/>
        </p:spPr>
        <p:txBody>
          <a:bodyPr wrap="none">
            <a:spAutoFit/>
          </a:bodyPr>
          <a:lstStyle/>
          <a:p>
            <a:pPr>
              <a:defRPr sz="4000" b="1">
                <a:solidFill>
                  <a:srgbClr val="1A365D"/>
                </a:solidFill>
              </a:defRPr>
            </a:pPr>
            <a:r>
              <a:t>Kyanos: The Progressive AI Watchdog</a:t>
            </a:r>
          </a:p>
        </p:txBody>
      </p:sp>
      <p:sp>
        <p:nvSpPr>
          <p:cNvPr id="3" name="Oval 2"/>
          <p:cNvSpPr/>
          <p:nvPr/>
        </p:nvSpPr>
        <p:spPr>
          <a:xfrm>
            <a:off x="1645919" y="1645920"/>
            <a:ext cx="1097280" cy="1097280"/>
          </a:xfrm>
          <a:prstGeom prst="ellipse">
            <a:avLst/>
          </a:prstGeom>
          <a:solidFill>
            <a:srgbClr val="007B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645919" y="1874519"/>
            <a:ext cx="1097280" cy="731520"/>
          </a:xfrm>
          <a:prstGeom prst="rect">
            <a:avLst/>
          </a:prstGeom>
          <a:noFill/>
        </p:spPr>
        <p:txBody>
          <a:bodyPr wrap="none">
            <a:spAutoFit/>
          </a:bodyPr>
          <a:lstStyle/>
          <a:p>
            <a:pPr algn="ctr">
              <a:defRPr sz="3600"/>
            </a:pPr>
            <a:r>
              <a:t>🔍</a:t>
            </a:r>
          </a:p>
        </p:txBody>
      </p:sp>
      <p:sp>
        <p:nvSpPr>
          <p:cNvPr id="5" name="TextBox 4"/>
          <p:cNvSpPr txBox="1"/>
          <p:nvPr/>
        </p:nvSpPr>
        <p:spPr>
          <a:xfrm>
            <a:off x="1097280" y="2926080"/>
            <a:ext cx="2286000" cy="365760"/>
          </a:xfrm>
          <a:prstGeom prst="rect">
            <a:avLst/>
          </a:prstGeom>
          <a:noFill/>
        </p:spPr>
        <p:txBody>
          <a:bodyPr wrap="none">
            <a:spAutoFit/>
          </a:bodyPr>
          <a:lstStyle/>
          <a:p>
            <a:pPr algn="ctr">
              <a:defRPr sz="1800" b="1">
                <a:solidFill>
                  <a:srgbClr val="1A365D"/>
                </a:solidFill>
              </a:defRPr>
            </a:pPr>
            <a:r>
              <a:t>MONITOR</a:t>
            </a:r>
          </a:p>
        </p:txBody>
      </p:sp>
      <p:sp>
        <p:nvSpPr>
          <p:cNvPr id="6" name="TextBox 5"/>
          <p:cNvSpPr txBox="1"/>
          <p:nvPr/>
        </p:nvSpPr>
        <p:spPr>
          <a:xfrm>
            <a:off x="1097280" y="3291840"/>
            <a:ext cx="2286000" cy="365760"/>
          </a:xfrm>
          <a:prstGeom prst="rect">
            <a:avLst/>
          </a:prstGeom>
          <a:noFill/>
        </p:spPr>
        <p:txBody>
          <a:bodyPr wrap="none">
            <a:spAutoFit/>
          </a:bodyPr>
          <a:lstStyle/>
          <a:p>
            <a:pPr algn="ctr">
              <a:defRPr sz="1400">
                <a:solidFill>
                  <a:srgbClr val="6C757D"/>
                </a:solidFill>
              </a:defRPr>
            </a:pPr>
            <a:r>
              <a:t>See what AI says</a:t>
            </a:r>
          </a:p>
        </p:txBody>
      </p:sp>
      <p:sp>
        <p:nvSpPr>
          <p:cNvPr id="7" name="Right Arrow 6"/>
          <p:cNvSpPr/>
          <p:nvPr/>
        </p:nvSpPr>
        <p:spPr>
          <a:xfrm>
            <a:off x="3200400" y="2011680"/>
            <a:ext cx="457200" cy="365760"/>
          </a:xfrm>
          <a:prstGeom prst="rightArrow">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4389120" y="1645920"/>
            <a:ext cx="1097280" cy="1097280"/>
          </a:xfrm>
          <a:prstGeom prst="ellipse">
            <a:avLst/>
          </a:prstGeom>
          <a:solidFill>
            <a:srgbClr val="007B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389120" y="1874519"/>
            <a:ext cx="1097280" cy="731520"/>
          </a:xfrm>
          <a:prstGeom prst="rect">
            <a:avLst/>
          </a:prstGeom>
          <a:noFill/>
        </p:spPr>
        <p:txBody>
          <a:bodyPr wrap="none">
            <a:spAutoFit/>
          </a:bodyPr>
          <a:lstStyle/>
          <a:p>
            <a:pPr algn="ctr">
              <a:defRPr sz="3600"/>
            </a:pPr>
            <a:r>
              <a:t>🔗</a:t>
            </a:r>
          </a:p>
        </p:txBody>
      </p:sp>
      <p:sp>
        <p:nvSpPr>
          <p:cNvPr id="10" name="TextBox 9"/>
          <p:cNvSpPr txBox="1"/>
          <p:nvPr/>
        </p:nvSpPr>
        <p:spPr>
          <a:xfrm>
            <a:off x="3840480" y="2926080"/>
            <a:ext cx="2286000" cy="365760"/>
          </a:xfrm>
          <a:prstGeom prst="rect">
            <a:avLst/>
          </a:prstGeom>
          <a:noFill/>
        </p:spPr>
        <p:txBody>
          <a:bodyPr wrap="none">
            <a:spAutoFit/>
          </a:bodyPr>
          <a:lstStyle/>
          <a:p>
            <a:pPr algn="ctr">
              <a:defRPr sz="1800" b="1">
                <a:solidFill>
                  <a:srgbClr val="1A365D"/>
                </a:solidFill>
              </a:defRPr>
            </a:pPr>
            <a:r>
              <a:t>TRACE</a:t>
            </a:r>
          </a:p>
        </p:txBody>
      </p:sp>
      <p:sp>
        <p:nvSpPr>
          <p:cNvPr id="11" name="TextBox 10"/>
          <p:cNvSpPr txBox="1"/>
          <p:nvPr/>
        </p:nvSpPr>
        <p:spPr>
          <a:xfrm>
            <a:off x="3840480" y="3291840"/>
            <a:ext cx="2286000" cy="365760"/>
          </a:xfrm>
          <a:prstGeom prst="rect">
            <a:avLst/>
          </a:prstGeom>
          <a:noFill/>
        </p:spPr>
        <p:txBody>
          <a:bodyPr wrap="none">
            <a:spAutoFit/>
          </a:bodyPr>
          <a:lstStyle/>
          <a:p>
            <a:pPr algn="ctr">
              <a:defRPr sz="1400">
                <a:solidFill>
                  <a:srgbClr val="6C757D"/>
                </a:solidFill>
              </a:defRPr>
            </a:pPr>
            <a:r>
              <a:t>Find root causes</a:t>
            </a:r>
          </a:p>
        </p:txBody>
      </p:sp>
      <p:sp>
        <p:nvSpPr>
          <p:cNvPr id="12" name="Right Arrow 11"/>
          <p:cNvSpPr/>
          <p:nvPr/>
        </p:nvSpPr>
        <p:spPr>
          <a:xfrm>
            <a:off x="5943600" y="2011680"/>
            <a:ext cx="457200" cy="365760"/>
          </a:xfrm>
          <a:prstGeom prst="rightArrow">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7132320" y="1645920"/>
            <a:ext cx="1097280" cy="1097280"/>
          </a:xfrm>
          <a:prstGeom prst="ellipse">
            <a:avLst/>
          </a:prstGeom>
          <a:solidFill>
            <a:srgbClr val="007B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132320" y="1874519"/>
            <a:ext cx="1097280" cy="731520"/>
          </a:xfrm>
          <a:prstGeom prst="rect">
            <a:avLst/>
          </a:prstGeom>
          <a:noFill/>
        </p:spPr>
        <p:txBody>
          <a:bodyPr wrap="none">
            <a:spAutoFit/>
          </a:bodyPr>
          <a:lstStyle/>
          <a:p>
            <a:pPr algn="ctr">
              <a:defRPr sz="3600"/>
            </a:pPr>
            <a:r>
              <a:t>📊</a:t>
            </a:r>
          </a:p>
        </p:txBody>
      </p:sp>
      <p:sp>
        <p:nvSpPr>
          <p:cNvPr id="15" name="TextBox 14"/>
          <p:cNvSpPr txBox="1"/>
          <p:nvPr/>
        </p:nvSpPr>
        <p:spPr>
          <a:xfrm>
            <a:off x="6583680" y="2926080"/>
            <a:ext cx="2286000" cy="365760"/>
          </a:xfrm>
          <a:prstGeom prst="rect">
            <a:avLst/>
          </a:prstGeom>
          <a:noFill/>
        </p:spPr>
        <p:txBody>
          <a:bodyPr wrap="none">
            <a:spAutoFit/>
          </a:bodyPr>
          <a:lstStyle/>
          <a:p>
            <a:pPr algn="ctr">
              <a:defRPr sz="1800" b="1">
                <a:solidFill>
                  <a:srgbClr val="1A365D"/>
                </a:solidFill>
              </a:defRPr>
            </a:pPr>
            <a:r>
              <a:t>DIAGNOSE</a:t>
            </a:r>
          </a:p>
        </p:txBody>
      </p:sp>
      <p:sp>
        <p:nvSpPr>
          <p:cNvPr id="16" name="TextBox 15"/>
          <p:cNvSpPr txBox="1"/>
          <p:nvPr/>
        </p:nvSpPr>
        <p:spPr>
          <a:xfrm>
            <a:off x="6583680" y="3291840"/>
            <a:ext cx="2286000" cy="365760"/>
          </a:xfrm>
          <a:prstGeom prst="rect">
            <a:avLst/>
          </a:prstGeom>
          <a:noFill/>
        </p:spPr>
        <p:txBody>
          <a:bodyPr wrap="none">
            <a:spAutoFit/>
          </a:bodyPr>
          <a:lstStyle/>
          <a:p>
            <a:pPr algn="ctr">
              <a:defRPr sz="1400">
                <a:solidFill>
                  <a:srgbClr val="6C757D"/>
                </a:solidFill>
              </a:defRPr>
            </a:pPr>
            <a:r>
              <a:t>Rank by impact</a:t>
            </a:r>
          </a:p>
        </p:txBody>
      </p:sp>
      <p:sp>
        <p:nvSpPr>
          <p:cNvPr id="17" name="Right Arrow 16"/>
          <p:cNvSpPr/>
          <p:nvPr/>
        </p:nvSpPr>
        <p:spPr>
          <a:xfrm>
            <a:off x="8686800" y="2011680"/>
            <a:ext cx="457200" cy="365760"/>
          </a:xfrm>
          <a:prstGeom prst="rightArrow">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9875519" y="1645920"/>
            <a:ext cx="1097280" cy="1097280"/>
          </a:xfrm>
          <a:prstGeom prst="ellipse">
            <a:avLst/>
          </a:prstGeom>
          <a:solidFill>
            <a:srgbClr val="007B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875519" y="1874519"/>
            <a:ext cx="1097280" cy="731520"/>
          </a:xfrm>
          <a:prstGeom prst="rect">
            <a:avLst/>
          </a:prstGeom>
          <a:noFill/>
        </p:spPr>
        <p:txBody>
          <a:bodyPr wrap="none">
            <a:spAutoFit/>
          </a:bodyPr>
          <a:lstStyle/>
          <a:p>
            <a:pPr algn="ctr">
              <a:defRPr sz="3600"/>
            </a:pPr>
            <a:r>
              <a:t>✓</a:t>
            </a:r>
          </a:p>
        </p:txBody>
      </p:sp>
      <p:sp>
        <p:nvSpPr>
          <p:cNvPr id="20" name="TextBox 19"/>
          <p:cNvSpPr txBox="1"/>
          <p:nvPr/>
        </p:nvSpPr>
        <p:spPr>
          <a:xfrm>
            <a:off x="9326880" y="2926080"/>
            <a:ext cx="2286000" cy="365760"/>
          </a:xfrm>
          <a:prstGeom prst="rect">
            <a:avLst/>
          </a:prstGeom>
          <a:noFill/>
        </p:spPr>
        <p:txBody>
          <a:bodyPr wrap="none">
            <a:spAutoFit/>
          </a:bodyPr>
          <a:lstStyle/>
          <a:p>
            <a:pPr algn="ctr">
              <a:defRPr sz="1800" b="1">
                <a:solidFill>
                  <a:srgbClr val="1A365D"/>
                </a:solidFill>
              </a:defRPr>
            </a:pPr>
            <a:r>
              <a:t>FIX</a:t>
            </a:r>
          </a:p>
        </p:txBody>
      </p:sp>
      <p:sp>
        <p:nvSpPr>
          <p:cNvPr id="21" name="TextBox 20"/>
          <p:cNvSpPr txBox="1"/>
          <p:nvPr/>
        </p:nvSpPr>
        <p:spPr>
          <a:xfrm>
            <a:off x="9326880" y="3291840"/>
            <a:ext cx="2286000" cy="365760"/>
          </a:xfrm>
          <a:prstGeom prst="rect">
            <a:avLst/>
          </a:prstGeom>
          <a:noFill/>
        </p:spPr>
        <p:txBody>
          <a:bodyPr wrap="none">
            <a:spAutoFit/>
          </a:bodyPr>
          <a:lstStyle/>
          <a:p>
            <a:pPr algn="ctr">
              <a:defRPr sz="1400">
                <a:solidFill>
                  <a:srgbClr val="6C757D"/>
                </a:solidFill>
              </a:defRPr>
            </a:pPr>
            <a:r>
              <a:t>Actionable steps</a:t>
            </a:r>
          </a:p>
        </p:txBody>
      </p:sp>
      <p:sp>
        <p:nvSpPr>
          <p:cNvPr id="22" name="Rounded Rectangle 21"/>
          <p:cNvSpPr/>
          <p:nvPr/>
        </p:nvSpPr>
        <p:spPr>
          <a:xfrm>
            <a:off x="731520" y="3657600"/>
            <a:ext cx="2560320" cy="1280160"/>
          </a:xfrm>
          <a:prstGeom prst="roundRect">
            <a:avLst>
              <a:gd name="adj" fmla="val 10000"/>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31520" y="3931920"/>
            <a:ext cx="2560320" cy="457200"/>
          </a:xfrm>
          <a:prstGeom prst="rect">
            <a:avLst/>
          </a:prstGeom>
          <a:noFill/>
        </p:spPr>
        <p:txBody>
          <a:bodyPr wrap="none">
            <a:spAutoFit/>
          </a:bodyPr>
          <a:lstStyle/>
          <a:p>
            <a:pPr algn="ctr">
              <a:defRPr sz="1800" b="1">
                <a:solidFill>
                  <a:srgbClr val="1A365D"/>
                </a:solidFill>
              </a:defRPr>
            </a:pPr>
            <a:r>
              <a:t>For campaigns</a:t>
            </a:r>
          </a:p>
        </p:txBody>
      </p:sp>
      <p:sp>
        <p:nvSpPr>
          <p:cNvPr id="24" name="TextBox 23"/>
          <p:cNvSpPr txBox="1"/>
          <p:nvPr/>
        </p:nvSpPr>
        <p:spPr>
          <a:xfrm>
            <a:off x="731520" y="4389120"/>
            <a:ext cx="2560320" cy="365760"/>
          </a:xfrm>
          <a:prstGeom prst="rect">
            <a:avLst/>
          </a:prstGeom>
          <a:noFill/>
        </p:spPr>
        <p:txBody>
          <a:bodyPr wrap="none">
            <a:spAutoFit/>
          </a:bodyPr>
          <a:lstStyle/>
          <a:p>
            <a:pPr algn="ctr">
              <a:defRPr sz="1400">
                <a:solidFill>
                  <a:srgbClr val="6C757D"/>
                </a:solidFill>
              </a:defRPr>
            </a:pPr>
            <a:r>
              <a:t>Not generic SEO</a:t>
            </a:r>
          </a:p>
        </p:txBody>
      </p:sp>
      <p:sp>
        <p:nvSpPr>
          <p:cNvPr id="25" name="Rounded Rectangle 24"/>
          <p:cNvSpPr/>
          <p:nvPr/>
        </p:nvSpPr>
        <p:spPr>
          <a:xfrm>
            <a:off x="3657600" y="3657600"/>
            <a:ext cx="2560320" cy="1280160"/>
          </a:xfrm>
          <a:prstGeom prst="roundRect">
            <a:avLst>
              <a:gd name="adj" fmla="val 10000"/>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657600" y="3931920"/>
            <a:ext cx="2560320" cy="457200"/>
          </a:xfrm>
          <a:prstGeom prst="rect">
            <a:avLst/>
          </a:prstGeom>
          <a:noFill/>
        </p:spPr>
        <p:txBody>
          <a:bodyPr wrap="none">
            <a:spAutoFit/>
          </a:bodyPr>
          <a:lstStyle/>
          <a:p>
            <a:pPr algn="ctr">
              <a:defRPr sz="1800" b="1">
                <a:solidFill>
                  <a:srgbClr val="1A365D"/>
                </a:solidFill>
              </a:defRPr>
            </a:pPr>
            <a:r>
              <a:t>AI-native</a:t>
            </a:r>
          </a:p>
        </p:txBody>
      </p:sp>
      <p:sp>
        <p:nvSpPr>
          <p:cNvPr id="27" name="TextBox 26"/>
          <p:cNvSpPr txBox="1"/>
          <p:nvPr/>
        </p:nvSpPr>
        <p:spPr>
          <a:xfrm>
            <a:off x="3657600" y="4389120"/>
            <a:ext cx="2560320" cy="365760"/>
          </a:xfrm>
          <a:prstGeom prst="rect">
            <a:avLst/>
          </a:prstGeom>
          <a:noFill/>
        </p:spPr>
        <p:txBody>
          <a:bodyPr wrap="none">
            <a:spAutoFit/>
          </a:bodyPr>
          <a:lstStyle/>
          <a:p>
            <a:pPr algn="ctr">
              <a:defRPr sz="1400">
                <a:solidFill>
                  <a:srgbClr val="6C757D"/>
                </a:solidFill>
              </a:defRPr>
            </a:pPr>
            <a:r>
              <a:t>Not search rankings</a:t>
            </a:r>
          </a:p>
        </p:txBody>
      </p:sp>
      <p:sp>
        <p:nvSpPr>
          <p:cNvPr id="28" name="Rounded Rectangle 27"/>
          <p:cNvSpPr/>
          <p:nvPr/>
        </p:nvSpPr>
        <p:spPr>
          <a:xfrm>
            <a:off x="6583680" y="3657600"/>
            <a:ext cx="2560320" cy="1280160"/>
          </a:xfrm>
          <a:prstGeom prst="roundRect">
            <a:avLst>
              <a:gd name="adj" fmla="val 10000"/>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583680" y="3931920"/>
            <a:ext cx="2560320" cy="457200"/>
          </a:xfrm>
          <a:prstGeom prst="rect">
            <a:avLst/>
          </a:prstGeom>
          <a:noFill/>
        </p:spPr>
        <p:txBody>
          <a:bodyPr wrap="none">
            <a:spAutoFit/>
          </a:bodyPr>
          <a:lstStyle/>
          <a:p>
            <a:pPr algn="ctr">
              <a:defRPr sz="1800" b="1">
                <a:solidFill>
                  <a:srgbClr val="1A365D"/>
                </a:solidFill>
              </a:defRPr>
            </a:pPr>
            <a:r>
              <a:t>Root causes</a:t>
            </a:r>
          </a:p>
        </p:txBody>
      </p:sp>
      <p:sp>
        <p:nvSpPr>
          <p:cNvPr id="30" name="TextBox 29"/>
          <p:cNvSpPr txBox="1"/>
          <p:nvPr/>
        </p:nvSpPr>
        <p:spPr>
          <a:xfrm>
            <a:off x="6583680" y="4389120"/>
            <a:ext cx="2560320" cy="365760"/>
          </a:xfrm>
          <a:prstGeom prst="rect">
            <a:avLst/>
          </a:prstGeom>
          <a:noFill/>
        </p:spPr>
        <p:txBody>
          <a:bodyPr wrap="none">
            <a:spAutoFit/>
          </a:bodyPr>
          <a:lstStyle/>
          <a:p>
            <a:pPr algn="ctr">
              <a:defRPr sz="1400">
                <a:solidFill>
                  <a:srgbClr val="6C757D"/>
                </a:solidFill>
              </a:defRPr>
            </a:pPr>
            <a:r>
              <a:t>Not just reports</a:t>
            </a:r>
          </a:p>
        </p:txBody>
      </p:sp>
      <p:sp>
        <p:nvSpPr>
          <p:cNvPr id="31" name="Rounded Rectangle 30"/>
          <p:cNvSpPr/>
          <p:nvPr/>
        </p:nvSpPr>
        <p:spPr>
          <a:xfrm>
            <a:off x="9509760" y="3657600"/>
            <a:ext cx="2560320" cy="1280160"/>
          </a:xfrm>
          <a:prstGeom prst="roundRect">
            <a:avLst>
              <a:gd name="adj" fmla="val 10000"/>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509760" y="3931920"/>
            <a:ext cx="2560320" cy="457200"/>
          </a:xfrm>
          <a:prstGeom prst="rect">
            <a:avLst/>
          </a:prstGeom>
          <a:noFill/>
        </p:spPr>
        <p:txBody>
          <a:bodyPr wrap="none">
            <a:spAutoFit/>
          </a:bodyPr>
          <a:lstStyle/>
          <a:p>
            <a:pPr algn="ctr">
              <a:defRPr sz="1800" b="1">
                <a:solidFill>
                  <a:srgbClr val="1A365D"/>
                </a:solidFill>
              </a:defRPr>
            </a:pPr>
            <a:r>
              <a:t>CMS-specific</a:t>
            </a:r>
          </a:p>
        </p:txBody>
      </p:sp>
      <p:sp>
        <p:nvSpPr>
          <p:cNvPr id="33" name="TextBox 32"/>
          <p:cNvSpPr txBox="1"/>
          <p:nvPr/>
        </p:nvSpPr>
        <p:spPr>
          <a:xfrm>
            <a:off x="9509760" y="4389120"/>
            <a:ext cx="2560320" cy="365760"/>
          </a:xfrm>
          <a:prstGeom prst="rect">
            <a:avLst/>
          </a:prstGeom>
          <a:noFill/>
        </p:spPr>
        <p:txBody>
          <a:bodyPr wrap="none">
            <a:spAutoFit/>
          </a:bodyPr>
          <a:lstStyle/>
          <a:p>
            <a:pPr algn="ctr">
              <a:defRPr sz="1400">
                <a:solidFill>
                  <a:srgbClr val="6C757D"/>
                </a:solidFill>
              </a:defRPr>
            </a:pPr>
            <a:r>
              <a:t>Ready to execute</a:t>
            </a:r>
          </a:p>
        </p:txBody>
      </p:sp>
      <p:sp>
        <p:nvSpPr>
          <p:cNvPr id="34" name="Rounded Rectangle 33"/>
          <p:cNvSpPr/>
          <p:nvPr/>
        </p:nvSpPr>
        <p:spPr>
          <a:xfrm>
            <a:off x="731520" y="5212080"/>
            <a:ext cx="10789920" cy="914400"/>
          </a:xfrm>
          <a:prstGeom prst="roundRect">
            <a:avLst>
              <a:gd name="adj" fmla="val 15000"/>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31520" y="5394960"/>
            <a:ext cx="10789920" cy="548640"/>
          </a:xfrm>
          <a:prstGeom prst="rect">
            <a:avLst/>
          </a:prstGeom>
          <a:noFill/>
        </p:spPr>
        <p:txBody>
          <a:bodyPr wrap="none">
            <a:spAutoFit/>
          </a:bodyPr>
          <a:lstStyle/>
          <a:p>
            <a:pPr algn="ctr">
              <a:defRPr sz="2000" b="1">
                <a:solidFill>
                  <a:srgbClr val="FFFFFF"/>
                </a:solidFill>
              </a:defRPr>
            </a:pPr>
            <a:r>
              <a:t>🔔  If AI models shift against progressives, we know first and sound the alarm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77295" cy="731520"/>
          </a:xfrm>
          <a:prstGeom prst="rect">
            <a:avLst/>
          </a:prstGeom>
          <a:noFill/>
        </p:spPr>
        <p:txBody>
          <a:bodyPr wrap="none">
            <a:spAutoFit/>
          </a:bodyPr>
          <a:lstStyle/>
          <a:p>
            <a:pPr>
              <a:defRPr sz="4000" b="1">
                <a:solidFill>
                  <a:srgbClr val="1A365D"/>
                </a:solidFill>
              </a:defRPr>
            </a:pPr>
            <a:r>
              <a:t>The Causality Chain in Action</a:t>
            </a:r>
          </a:p>
        </p:txBody>
      </p:sp>
      <p:sp>
        <p:nvSpPr>
          <p:cNvPr id="3" name="Rounded Rectangle 2"/>
          <p:cNvSpPr/>
          <p:nvPr/>
        </p:nvSpPr>
        <p:spPr>
          <a:xfrm>
            <a:off x="914400" y="1188720"/>
            <a:ext cx="4572000" cy="914400"/>
          </a:xfrm>
          <a:prstGeom prst="roundRect">
            <a:avLst>
              <a:gd name="adj" fmla="val 15000"/>
            </a:avLst>
          </a:prstGeom>
          <a:solidFill>
            <a:srgbClr val="4AB8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371600"/>
            <a:ext cx="4572000" cy="548640"/>
          </a:xfrm>
          <a:prstGeom prst="rect">
            <a:avLst/>
          </a:prstGeom>
          <a:noFill/>
        </p:spPr>
        <p:txBody>
          <a:bodyPr wrap="none">
            <a:spAutoFit/>
          </a:bodyPr>
          <a:lstStyle/>
          <a:p>
            <a:pPr algn="ctr">
              <a:defRPr sz="1600">
                <a:solidFill>
                  <a:srgbClr val="FFFFFF"/>
                </a:solidFill>
              </a:defRPr>
            </a:pPr>
            <a:r>
              <a:t>💬  "What does [Candidate] think about abortion?"</a:t>
            </a:r>
          </a:p>
        </p:txBody>
      </p:sp>
      <p:sp>
        <p:nvSpPr>
          <p:cNvPr id="5" name="Down Arrow 4"/>
          <p:cNvSpPr/>
          <p:nvPr/>
        </p:nvSpPr>
        <p:spPr>
          <a:xfrm>
            <a:off x="2926080" y="2194560"/>
            <a:ext cx="548640" cy="457200"/>
          </a:xfrm>
          <a:prstGeom prst="downArrow">
            <a:avLst/>
          </a:prstGeom>
          <a:solidFill>
            <a:srgbClr val="6C75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914400" y="2743200"/>
            <a:ext cx="4572000" cy="1097280"/>
          </a:xfrm>
          <a:prstGeom prst="roundRect">
            <a:avLst>
              <a:gd name="adj" fmla="val 10000"/>
            </a:avLst>
          </a:prstGeom>
          <a:solidFill>
            <a:srgbClr val="FFCCB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834640"/>
            <a:ext cx="4572000" cy="914400"/>
          </a:xfrm>
          <a:prstGeom prst="rect">
            <a:avLst/>
          </a:prstGeom>
          <a:noFill/>
        </p:spPr>
        <p:txBody>
          <a:bodyPr wrap="none">
            <a:spAutoFit/>
          </a:bodyPr>
          <a:lstStyle/>
          <a:p>
            <a:pPr>
              <a:defRPr sz="1400" b="1">
                <a:solidFill>
                  <a:srgbClr val="FF6B35"/>
                </a:solidFill>
              </a:defRPr>
            </a:pPr>
            <a:r>
              <a:t>❌ AI Response:</a:t>
            </a:r>
          </a:p>
          <a:p>
            <a:pPr>
              <a:defRPr sz="1400" i="1">
                <a:solidFill>
                  <a:srgbClr val="6C757D"/>
                </a:solidFill>
              </a:defRPr>
            </a:pPr>
            <a:r>
              <a:t>"The candidate has not stated a clear position..."</a:t>
            </a:r>
          </a:p>
        </p:txBody>
      </p:sp>
      <p:sp>
        <p:nvSpPr>
          <p:cNvPr id="8" name="Down Arrow 7"/>
          <p:cNvSpPr/>
          <p:nvPr/>
        </p:nvSpPr>
        <p:spPr>
          <a:xfrm>
            <a:off x="2926080" y="3931920"/>
            <a:ext cx="548640" cy="457200"/>
          </a:xfrm>
          <a:prstGeom prst="downArrow">
            <a:avLst/>
          </a:prstGeom>
          <a:solidFill>
            <a:srgbClr val="6C75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914400" y="4480560"/>
            <a:ext cx="4572000" cy="1097280"/>
          </a:xfrm>
          <a:prstGeom prst="roundRect">
            <a:avLst>
              <a:gd name="adj" fmla="val 10000"/>
            </a:avLst>
          </a:prstGeom>
          <a:solidFill>
            <a:srgbClr val="FFF9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4572000"/>
            <a:ext cx="4572000" cy="914400"/>
          </a:xfrm>
          <a:prstGeom prst="rect">
            <a:avLst/>
          </a:prstGeom>
          <a:noFill/>
        </p:spPr>
        <p:txBody>
          <a:bodyPr wrap="none">
            <a:spAutoFit/>
          </a:bodyPr>
          <a:lstStyle/>
          <a:p>
            <a:pPr>
              <a:defRPr sz="1400" b="1">
                <a:solidFill>
                  <a:srgbClr val="FF6B35"/>
                </a:solidFill>
              </a:defRPr>
            </a:pPr>
            <a:r>
              <a:t>🔍 Root Cause:</a:t>
            </a:r>
          </a:p>
          <a:p>
            <a:pPr>
              <a:defRPr sz="1400">
                <a:solidFill>
                  <a:srgbClr val="6C757D"/>
                </a:solidFill>
              </a:defRPr>
            </a:pPr>
            <a:r>
              <a:t>Issues page missing structured data markup</a:t>
            </a:r>
          </a:p>
        </p:txBody>
      </p:sp>
      <p:sp>
        <p:nvSpPr>
          <p:cNvPr id="11" name="Rounded Rectangle 10"/>
          <p:cNvSpPr/>
          <p:nvPr/>
        </p:nvSpPr>
        <p:spPr>
          <a:xfrm>
            <a:off x="6400800" y="1188720"/>
            <a:ext cx="5029200" cy="5029200"/>
          </a:xfrm>
          <a:prstGeom prst="roundRect">
            <a:avLst>
              <a:gd name="adj" fmla="val 5000"/>
            </a:avLst>
          </a:prstGeom>
          <a:solidFill>
            <a:srgbClr val="E8F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0" y="1371600"/>
            <a:ext cx="5029200" cy="457200"/>
          </a:xfrm>
          <a:prstGeom prst="rect">
            <a:avLst/>
          </a:prstGeom>
          <a:noFill/>
        </p:spPr>
        <p:txBody>
          <a:bodyPr wrap="none">
            <a:spAutoFit/>
          </a:bodyPr>
          <a:lstStyle/>
          <a:p>
            <a:pPr algn="ctr">
              <a:defRPr sz="2000" b="1">
                <a:solidFill>
                  <a:srgbClr val="2ECC71"/>
                </a:solidFill>
              </a:defRPr>
            </a:pPr>
            <a:r>
              <a:t>✓ THE FIX</a:t>
            </a:r>
          </a:p>
        </p:txBody>
      </p:sp>
      <p:sp>
        <p:nvSpPr>
          <p:cNvPr id="13" name="TextBox 12"/>
          <p:cNvSpPr txBox="1"/>
          <p:nvPr/>
        </p:nvSpPr>
        <p:spPr>
          <a:xfrm>
            <a:off x="6675120" y="2011680"/>
            <a:ext cx="4572000" cy="457200"/>
          </a:xfrm>
          <a:prstGeom prst="rect">
            <a:avLst/>
          </a:prstGeom>
          <a:noFill/>
        </p:spPr>
        <p:txBody>
          <a:bodyPr wrap="none">
            <a:spAutoFit/>
          </a:bodyPr>
          <a:lstStyle/>
          <a:p>
            <a:pPr>
              <a:defRPr sz="1600">
                <a:solidFill>
                  <a:srgbClr val="1A365D"/>
                </a:solidFill>
              </a:defRPr>
            </a:pPr>
            <a:r>
              <a:t>1. Add structured FAQ to issues page</a:t>
            </a:r>
          </a:p>
        </p:txBody>
      </p:sp>
      <p:sp>
        <p:nvSpPr>
          <p:cNvPr id="14" name="TextBox 13"/>
          <p:cNvSpPr txBox="1"/>
          <p:nvPr/>
        </p:nvSpPr>
        <p:spPr>
          <a:xfrm>
            <a:off x="6675120" y="2651760"/>
            <a:ext cx="4572000" cy="457200"/>
          </a:xfrm>
          <a:prstGeom prst="rect">
            <a:avLst/>
          </a:prstGeom>
          <a:noFill/>
        </p:spPr>
        <p:txBody>
          <a:bodyPr wrap="none">
            <a:spAutoFit/>
          </a:bodyPr>
          <a:lstStyle/>
          <a:p>
            <a:pPr>
              <a:defRPr sz="1600">
                <a:solidFill>
                  <a:srgbClr val="1A365D"/>
                </a:solidFill>
              </a:defRPr>
            </a:pPr>
            <a:r>
              <a:t>2. Include abortion position statement</a:t>
            </a:r>
          </a:p>
        </p:txBody>
      </p:sp>
      <p:sp>
        <p:nvSpPr>
          <p:cNvPr id="15" name="TextBox 14"/>
          <p:cNvSpPr txBox="1"/>
          <p:nvPr/>
        </p:nvSpPr>
        <p:spPr>
          <a:xfrm>
            <a:off x="6675120" y="3291840"/>
            <a:ext cx="4572000" cy="457200"/>
          </a:xfrm>
          <a:prstGeom prst="rect">
            <a:avLst/>
          </a:prstGeom>
          <a:noFill/>
        </p:spPr>
        <p:txBody>
          <a:bodyPr wrap="none">
            <a:spAutoFit/>
          </a:bodyPr>
          <a:lstStyle/>
          <a:p>
            <a:pPr>
              <a:defRPr sz="1600">
                <a:solidFill>
                  <a:srgbClr val="1A365D"/>
                </a:solidFill>
              </a:defRPr>
            </a:pPr>
            <a:r>
              <a:t>3. Add schema.org markup</a:t>
            </a:r>
          </a:p>
        </p:txBody>
      </p:sp>
      <p:sp>
        <p:nvSpPr>
          <p:cNvPr id="16" name="TextBox 15"/>
          <p:cNvSpPr txBox="1"/>
          <p:nvPr/>
        </p:nvSpPr>
        <p:spPr>
          <a:xfrm>
            <a:off x="6675120" y="3931920"/>
            <a:ext cx="4572000" cy="457200"/>
          </a:xfrm>
          <a:prstGeom prst="rect">
            <a:avLst/>
          </a:prstGeom>
          <a:noFill/>
        </p:spPr>
        <p:txBody>
          <a:bodyPr wrap="none">
            <a:spAutoFit/>
          </a:bodyPr>
          <a:lstStyle/>
          <a:p>
            <a:pPr>
              <a:defRPr sz="1600">
                <a:solidFill>
                  <a:srgbClr val="1A365D"/>
                </a:solidFill>
              </a:defRPr>
            </a:pPr>
            <a:r>
              <a:t>4. Submit to Google Search Console</a:t>
            </a:r>
          </a:p>
        </p:txBody>
      </p:sp>
      <p:sp>
        <p:nvSpPr>
          <p:cNvPr id="17" name="TextBox 16"/>
          <p:cNvSpPr txBox="1"/>
          <p:nvPr/>
        </p:nvSpPr>
        <p:spPr>
          <a:xfrm>
            <a:off x="6675120" y="4754880"/>
            <a:ext cx="4572000" cy="365760"/>
          </a:xfrm>
          <a:prstGeom prst="rect">
            <a:avLst/>
          </a:prstGeom>
          <a:noFill/>
        </p:spPr>
        <p:txBody>
          <a:bodyPr wrap="none">
            <a:spAutoFit/>
          </a:bodyPr>
          <a:lstStyle/>
          <a:p>
            <a:pPr>
              <a:defRPr sz="1200">
                <a:solidFill>
                  <a:srgbClr val="6C757D"/>
                </a:solidFill>
              </a:defRPr>
            </a:pPr>
            <a:r>
              <a:t>Instructions tailored for:</a:t>
            </a:r>
          </a:p>
        </p:txBody>
      </p:sp>
      <p:sp>
        <p:nvSpPr>
          <p:cNvPr id="18" name="Rounded Rectangle 17"/>
          <p:cNvSpPr/>
          <p:nvPr/>
        </p:nvSpPr>
        <p:spPr>
          <a:xfrm>
            <a:off x="6675120" y="5120640"/>
            <a:ext cx="1371600" cy="548640"/>
          </a:xfrm>
          <a:prstGeom prst="roundRect">
            <a:avLst>
              <a:gd name="adj" fmla="val 20000"/>
            </a:avLst>
          </a:prstGeom>
          <a:solidFill>
            <a:srgbClr val="FFFFFF"/>
          </a:solidFill>
          <a:ln>
            <a:solidFill>
              <a:srgbClr val="6C757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675120" y="5212080"/>
            <a:ext cx="1371600" cy="365760"/>
          </a:xfrm>
          <a:prstGeom prst="rect">
            <a:avLst/>
          </a:prstGeom>
          <a:noFill/>
        </p:spPr>
        <p:txBody>
          <a:bodyPr wrap="none">
            <a:spAutoFit/>
          </a:bodyPr>
          <a:lstStyle/>
          <a:p>
            <a:pPr algn="ctr">
              <a:defRPr sz="1000">
                <a:solidFill>
                  <a:srgbClr val="6C757D"/>
                </a:solidFill>
              </a:defRPr>
            </a:pPr>
            <a:r>
              <a:t>WordPress</a:t>
            </a:r>
          </a:p>
        </p:txBody>
      </p:sp>
      <p:sp>
        <p:nvSpPr>
          <p:cNvPr id="20" name="Rounded Rectangle 19"/>
          <p:cNvSpPr/>
          <p:nvPr/>
        </p:nvSpPr>
        <p:spPr>
          <a:xfrm>
            <a:off x="8229600" y="5120640"/>
            <a:ext cx="1371600" cy="548640"/>
          </a:xfrm>
          <a:prstGeom prst="roundRect">
            <a:avLst>
              <a:gd name="adj" fmla="val 20000"/>
            </a:avLst>
          </a:prstGeom>
          <a:solidFill>
            <a:srgbClr val="FFFFFF"/>
          </a:solidFill>
          <a:ln>
            <a:solidFill>
              <a:srgbClr val="6C757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29600" y="5212080"/>
            <a:ext cx="1371600" cy="365760"/>
          </a:xfrm>
          <a:prstGeom prst="rect">
            <a:avLst/>
          </a:prstGeom>
          <a:noFill/>
        </p:spPr>
        <p:txBody>
          <a:bodyPr wrap="none">
            <a:spAutoFit/>
          </a:bodyPr>
          <a:lstStyle/>
          <a:p>
            <a:pPr algn="ctr">
              <a:defRPr sz="1000">
                <a:solidFill>
                  <a:srgbClr val="6C757D"/>
                </a:solidFill>
              </a:defRPr>
            </a:pPr>
            <a:r>
              <a:t>Squarespace</a:t>
            </a:r>
          </a:p>
        </p:txBody>
      </p:sp>
      <p:sp>
        <p:nvSpPr>
          <p:cNvPr id="22" name="Rounded Rectangle 21"/>
          <p:cNvSpPr/>
          <p:nvPr/>
        </p:nvSpPr>
        <p:spPr>
          <a:xfrm>
            <a:off x="9784080" y="5120640"/>
            <a:ext cx="1371600" cy="548640"/>
          </a:xfrm>
          <a:prstGeom prst="roundRect">
            <a:avLst>
              <a:gd name="adj" fmla="val 20000"/>
            </a:avLst>
          </a:prstGeom>
          <a:solidFill>
            <a:srgbClr val="FFFFFF"/>
          </a:solidFill>
          <a:ln>
            <a:solidFill>
              <a:srgbClr val="6C757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784080" y="5212080"/>
            <a:ext cx="1371600" cy="365760"/>
          </a:xfrm>
          <a:prstGeom prst="rect">
            <a:avLst/>
          </a:prstGeom>
          <a:noFill/>
        </p:spPr>
        <p:txBody>
          <a:bodyPr wrap="none">
            <a:spAutoFit/>
          </a:bodyPr>
          <a:lstStyle/>
          <a:p>
            <a:pPr algn="ctr">
              <a:defRPr sz="1000">
                <a:solidFill>
                  <a:srgbClr val="6C757D"/>
                </a:solidFill>
              </a:defRPr>
            </a:pPr>
            <a:r>
              <a:t>NationBuilder</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77295" cy="731520"/>
          </a:xfrm>
          <a:prstGeom prst="rect">
            <a:avLst/>
          </a:prstGeom>
          <a:noFill/>
        </p:spPr>
        <p:txBody>
          <a:bodyPr wrap="none">
            <a:spAutoFit/>
          </a:bodyPr>
          <a:lstStyle/>
          <a:p>
            <a:pPr>
              <a:defRPr sz="4000" b="1">
                <a:solidFill>
                  <a:srgbClr val="1A365D"/>
                </a:solidFill>
              </a:defRPr>
            </a:pPr>
            <a:r>
              <a:t>The Kyanos Product Suite</a:t>
            </a:r>
          </a:p>
        </p:txBody>
      </p:sp>
      <p:sp>
        <p:nvSpPr>
          <p:cNvPr id="3" name="Rounded Rectangle 2"/>
          <p:cNvSpPr/>
          <p:nvPr/>
        </p:nvSpPr>
        <p:spPr>
          <a:xfrm>
            <a:off x="731520" y="1188720"/>
            <a:ext cx="5303520" cy="2011680"/>
          </a:xfrm>
          <a:prstGeom prst="roundRect">
            <a:avLst>
              <a:gd name="adj" fmla="val 8000"/>
            </a:avLst>
          </a:prstGeom>
          <a:solidFill>
            <a:srgbClr val="FAFAFA"/>
          </a:solidFill>
          <a:ln w="38100">
            <a:solidFill>
              <a:srgbClr val="007BC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31520" y="1188720"/>
            <a:ext cx="137160" cy="2011680"/>
          </a:xfrm>
          <a:prstGeom prst="rect">
            <a:avLst/>
          </a:prstGeom>
          <a:solidFill>
            <a:srgbClr val="007B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846320" y="1371600"/>
            <a:ext cx="914400" cy="365760"/>
          </a:xfrm>
          <a:prstGeom prst="roundRect">
            <a:avLst>
              <a:gd name="adj" fmla="val 40000"/>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846320" y="1417320"/>
            <a:ext cx="914400" cy="274320"/>
          </a:xfrm>
          <a:prstGeom prst="rect">
            <a:avLst/>
          </a:prstGeom>
          <a:noFill/>
        </p:spPr>
        <p:txBody>
          <a:bodyPr wrap="none">
            <a:spAutoFit/>
          </a:bodyPr>
          <a:lstStyle/>
          <a:p>
            <a:pPr algn="ctr">
              <a:defRPr sz="1100" b="1">
                <a:solidFill>
                  <a:srgbClr val="FFFFFF"/>
                </a:solidFill>
              </a:defRPr>
            </a:pPr>
            <a:r>
              <a:t>MVP+</a:t>
            </a:r>
          </a:p>
        </p:txBody>
      </p:sp>
      <p:sp>
        <p:nvSpPr>
          <p:cNvPr id="7" name="TextBox 6"/>
          <p:cNvSpPr txBox="1"/>
          <p:nvPr/>
        </p:nvSpPr>
        <p:spPr>
          <a:xfrm>
            <a:off x="1097280" y="1463040"/>
            <a:ext cx="3657600" cy="457200"/>
          </a:xfrm>
          <a:prstGeom prst="rect">
            <a:avLst/>
          </a:prstGeom>
          <a:noFill/>
        </p:spPr>
        <p:txBody>
          <a:bodyPr wrap="none">
            <a:spAutoFit/>
          </a:bodyPr>
          <a:lstStyle/>
          <a:p>
            <a:pPr>
              <a:defRPr sz="2200" b="1">
                <a:solidFill>
                  <a:srgbClr val="007BC0"/>
                </a:solidFill>
              </a:defRPr>
            </a:pPr>
            <a:r>
              <a:t>PANOPTICON</a:t>
            </a:r>
          </a:p>
        </p:txBody>
      </p:sp>
      <p:sp>
        <p:nvSpPr>
          <p:cNvPr id="8" name="TextBox 7"/>
          <p:cNvSpPr txBox="1"/>
          <p:nvPr/>
        </p:nvSpPr>
        <p:spPr>
          <a:xfrm>
            <a:off x="1097280" y="2011680"/>
            <a:ext cx="4572000" cy="365760"/>
          </a:xfrm>
          <a:prstGeom prst="rect">
            <a:avLst/>
          </a:prstGeom>
          <a:noFill/>
        </p:spPr>
        <p:txBody>
          <a:bodyPr wrap="none">
            <a:spAutoFit/>
          </a:bodyPr>
          <a:lstStyle/>
          <a:p>
            <a:pPr>
              <a:defRPr sz="1600" b="1">
                <a:solidFill>
                  <a:srgbClr val="1A365D"/>
                </a:solidFill>
              </a:defRPr>
            </a:pPr>
            <a:r>
              <a:t>AI Monitoring &amp; Remediation</a:t>
            </a:r>
          </a:p>
        </p:txBody>
      </p:sp>
      <p:sp>
        <p:nvSpPr>
          <p:cNvPr id="9" name="TextBox 8"/>
          <p:cNvSpPr txBox="1"/>
          <p:nvPr/>
        </p:nvSpPr>
        <p:spPr>
          <a:xfrm>
            <a:off x="1097280" y="2468880"/>
            <a:ext cx="4572000" cy="548640"/>
          </a:xfrm>
          <a:prstGeom prst="rect">
            <a:avLst/>
          </a:prstGeom>
          <a:noFill/>
        </p:spPr>
        <p:txBody>
          <a:bodyPr wrap="none">
            <a:spAutoFit/>
          </a:bodyPr>
          <a:lstStyle/>
          <a:p>
            <a:pPr>
              <a:defRPr sz="1400">
                <a:solidFill>
                  <a:srgbClr val="6C757D"/>
                </a:solidFill>
              </a:defRPr>
            </a:pPr>
            <a:r>
              <a:t>Core product: see what AI says, get fixes</a:t>
            </a:r>
          </a:p>
        </p:txBody>
      </p:sp>
      <p:sp>
        <p:nvSpPr>
          <p:cNvPr id="10" name="Rounded Rectangle 9"/>
          <p:cNvSpPr/>
          <p:nvPr/>
        </p:nvSpPr>
        <p:spPr>
          <a:xfrm>
            <a:off x="6492240" y="1188720"/>
            <a:ext cx="5303520" cy="2011680"/>
          </a:xfrm>
          <a:prstGeom prst="roundRect">
            <a:avLst>
              <a:gd name="adj" fmla="val 8000"/>
            </a:avLst>
          </a:prstGeom>
          <a:solidFill>
            <a:srgbClr val="FAFAFA"/>
          </a:solidFill>
          <a:ln w="38100">
            <a:solidFill>
              <a:srgbClr val="0096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492240" y="1188720"/>
            <a:ext cx="137160" cy="2011680"/>
          </a:xfrm>
          <a:prstGeom prst="rect">
            <a:avLst/>
          </a:prstGeom>
          <a:solidFill>
            <a:srgbClr val="0096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10607040" y="1371600"/>
            <a:ext cx="914400" cy="365760"/>
          </a:xfrm>
          <a:prstGeom prst="roundRect">
            <a:avLst>
              <a:gd name="adj" fmla="val 40000"/>
            </a:avLst>
          </a:prstGeom>
          <a:solidFill>
            <a:srgbClr val="90A4A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607040" y="1417320"/>
            <a:ext cx="914400" cy="274320"/>
          </a:xfrm>
          <a:prstGeom prst="rect">
            <a:avLst/>
          </a:prstGeom>
          <a:noFill/>
        </p:spPr>
        <p:txBody>
          <a:bodyPr wrap="none">
            <a:spAutoFit/>
          </a:bodyPr>
          <a:lstStyle/>
          <a:p>
            <a:pPr algn="ctr">
              <a:defRPr sz="1100" b="1">
                <a:solidFill>
                  <a:srgbClr val="FFFFFF"/>
                </a:solidFill>
              </a:defRPr>
            </a:pPr>
            <a:r>
              <a:t>MVP</a:t>
            </a:r>
          </a:p>
        </p:txBody>
      </p:sp>
      <p:sp>
        <p:nvSpPr>
          <p:cNvPr id="14" name="TextBox 13"/>
          <p:cNvSpPr txBox="1"/>
          <p:nvPr/>
        </p:nvSpPr>
        <p:spPr>
          <a:xfrm>
            <a:off x="6858000" y="1463040"/>
            <a:ext cx="3657600" cy="457200"/>
          </a:xfrm>
          <a:prstGeom prst="rect">
            <a:avLst/>
          </a:prstGeom>
          <a:noFill/>
        </p:spPr>
        <p:txBody>
          <a:bodyPr wrap="none">
            <a:spAutoFit/>
          </a:bodyPr>
          <a:lstStyle/>
          <a:p>
            <a:pPr>
              <a:defRPr sz="2200" b="1">
                <a:solidFill>
                  <a:srgbClr val="009688"/>
                </a:solidFill>
              </a:defRPr>
            </a:pPr>
            <a:r>
              <a:t>GOODINK</a:t>
            </a:r>
          </a:p>
        </p:txBody>
      </p:sp>
      <p:sp>
        <p:nvSpPr>
          <p:cNvPr id="15" name="TextBox 14"/>
          <p:cNvSpPr txBox="1"/>
          <p:nvPr/>
        </p:nvSpPr>
        <p:spPr>
          <a:xfrm>
            <a:off x="6858000" y="2011680"/>
            <a:ext cx="4572000" cy="365760"/>
          </a:xfrm>
          <a:prstGeom prst="rect">
            <a:avLst/>
          </a:prstGeom>
          <a:noFill/>
        </p:spPr>
        <p:txBody>
          <a:bodyPr wrap="none">
            <a:spAutoFit/>
          </a:bodyPr>
          <a:lstStyle/>
          <a:p>
            <a:pPr>
              <a:defRPr sz="1600" b="1">
                <a:solidFill>
                  <a:srgbClr val="1A365D"/>
                </a:solidFill>
              </a:defRPr>
            </a:pPr>
            <a:r>
              <a:t>Positive Press Discovery</a:t>
            </a:r>
          </a:p>
        </p:txBody>
      </p:sp>
      <p:sp>
        <p:nvSpPr>
          <p:cNvPr id="16" name="TextBox 15"/>
          <p:cNvSpPr txBox="1"/>
          <p:nvPr/>
        </p:nvSpPr>
        <p:spPr>
          <a:xfrm>
            <a:off x="6858000" y="2468880"/>
            <a:ext cx="4572000" cy="548640"/>
          </a:xfrm>
          <a:prstGeom prst="rect">
            <a:avLst/>
          </a:prstGeom>
          <a:noFill/>
        </p:spPr>
        <p:txBody>
          <a:bodyPr wrap="none">
            <a:spAutoFit/>
          </a:bodyPr>
          <a:lstStyle/>
          <a:p>
            <a:pPr>
              <a:defRPr sz="1400">
                <a:solidFill>
                  <a:srgbClr val="6C757D"/>
                </a:solidFill>
              </a:defRPr>
            </a:pPr>
            <a:r>
              <a:t>Surface coverage worth featuring</a:t>
            </a:r>
          </a:p>
        </p:txBody>
      </p:sp>
      <p:sp>
        <p:nvSpPr>
          <p:cNvPr id="17" name="Rounded Rectangle 16"/>
          <p:cNvSpPr/>
          <p:nvPr/>
        </p:nvSpPr>
        <p:spPr>
          <a:xfrm>
            <a:off x="731520" y="3474720"/>
            <a:ext cx="5303520" cy="2011680"/>
          </a:xfrm>
          <a:prstGeom prst="roundRect">
            <a:avLst>
              <a:gd name="adj" fmla="val 8000"/>
            </a:avLst>
          </a:prstGeom>
          <a:solidFill>
            <a:srgbClr val="FAFAFA"/>
          </a:solidFill>
          <a:ln w="38100">
            <a:solidFill>
              <a:srgbClr val="7B1FA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31520" y="3474720"/>
            <a:ext cx="137160" cy="2011680"/>
          </a:xfrm>
          <a:prstGeom prst="rect">
            <a:avLst/>
          </a:prstGeom>
          <a:solidFill>
            <a:srgbClr val="7B1F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4846320" y="3657600"/>
            <a:ext cx="914400" cy="365760"/>
          </a:xfrm>
          <a:prstGeom prst="roundRect">
            <a:avLst>
              <a:gd name="adj" fmla="val 40000"/>
            </a:avLst>
          </a:prstGeom>
          <a:solidFill>
            <a:srgbClr val="90A4A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846320" y="3703320"/>
            <a:ext cx="914400" cy="274320"/>
          </a:xfrm>
          <a:prstGeom prst="rect">
            <a:avLst/>
          </a:prstGeom>
          <a:noFill/>
        </p:spPr>
        <p:txBody>
          <a:bodyPr wrap="none">
            <a:spAutoFit/>
          </a:bodyPr>
          <a:lstStyle/>
          <a:p>
            <a:pPr algn="ctr">
              <a:defRPr sz="1100" b="1">
                <a:solidFill>
                  <a:srgbClr val="FFFFFF"/>
                </a:solidFill>
              </a:defRPr>
            </a:pPr>
            <a:r>
              <a:t>MVP</a:t>
            </a:r>
          </a:p>
        </p:txBody>
      </p:sp>
      <p:sp>
        <p:nvSpPr>
          <p:cNvPr id="21" name="TextBox 20"/>
          <p:cNvSpPr txBox="1"/>
          <p:nvPr/>
        </p:nvSpPr>
        <p:spPr>
          <a:xfrm>
            <a:off x="1097280" y="3749039"/>
            <a:ext cx="3657600" cy="457200"/>
          </a:xfrm>
          <a:prstGeom prst="rect">
            <a:avLst/>
          </a:prstGeom>
          <a:noFill/>
        </p:spPr>
        <p:txBody>
          <a:bodyPr wrap="none">
            <a:spAutoFit/>
          </a:bodyPr>
          <a:lstStyle/>
          <a:p>
            <a:pPr>
              <a:defRPr sz="2200" b="1">
                <a:solidFill>
                  <a:srgbClr val="7B1FA2"/>
                </a:solidFill>
              </a:defRPr>
            </a:pPr>
            <a:r>
              <a:t>ADWATCH</a:t>
            </a:r>
          </a:p>
        </p:txBody>
      </p:sp>
      <p:sp>
        <p:nvSpPr>
          <p:cNvPr id="22" name="TextBox 21"/>
          <p:cNvSpPr txBox="1"/>
          <p:nvPr/>
        </p:nvSpPr>
        <p:spPr>
          <a:xfrm>
            <a:off x="1097280" y="4297680"/>
            <a:ext cx="4572000" cy="365760"/>
          </a:xfrm>
          <a:prstGeom prst="rect">
            <a:avLst/>
          </a:prstGeom>
          <a:noFill/>
        </p:spPr>
        <p:txBody>
          <a:bodyPr wrap="none">
            <a:spAutoFit/>
          </a:bodyPr>
          <a:lstStyle/>
          <a:p>
            <a:pPr>
              <a:defRPr sz="1600" b="1">
                <a:solidFill>
                  <a:srgbClr val="1A365D"/>
                </a:solidFill>
              </a:defRPr>
            </a:pPr>
            <a:r>
              <a:t>Ad Monitoring</a:t>
            </a:r>
          </a:p>
        </p:txBody>
      </p:sp>
      <p:sp>
        <p:nvSpPr>
          <p:cNvPr id="23" name="TextBox 22"/>
          <p:cNvSpPr txBox="1"/>
          <p:nvPr/>
        </p:nvSpPr>
        <p:spPr>
          <a:xfrm>
            <a:off x="1097280" y="4754879"/>
            <a:ext cx="4572000" cy="548640"/>
          </a:xfrm>
          <a:prstGeom prst="rect">
            <a:avLst/>
          </a:prstGeom>
          <a:noFill/>
        </p:spPr>
        <p:txBody>
          <a:bodyPr wrap="none">
            <a:spAutoFit/>
          </a:bodyPr>
          <a:lstStyle/>
          <a:p>
            <a:pPr>
              <a:defRPr sz="1400">
                <a:solidFill>
                  <a:srgbClr val="6C757D"/>
                </a:solidFill>
              </a:defRPr>
            </a:pPr>
            <a:r>
              <a:t>Track opponent ads across Google &amp; Meta</a:t>
            </a:r>
          </a:p>
        </p:txBody>
      </p:sp>
      <p:sp>
        <p:nvSpPr>
          <p:cNvPr id="24" name="Rounded Rectangle 23"/>
          <p:cNvSpPr/>
          <p:nvPr/>
        </p:nvSpPr>
        <p:spPr>
          <a:xfrm>
            <a:off x="6492240" y="3474720"/>
            <a:ext cx="5303520" cy="2011680"/>
          </a:xfrm>
          <a:prstGeom prst="roundRect">
            <a:avLst>
              <a:gd name="adj" fmla="val 8000"/>
            </a:avLst>
          </a:prstGeom>
          <a:solidFill>
            <a:srgbClr val="FAFAFA"/>
          </a:solidFill>
          <a:ln w="38100">
            <a:solidFill>
              <a:srgbClr val="F57C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492240" y="3474720"/>
            <a:ext cx="137160" cy="2011680"/>
          </a:xfrm>
          <a:prstGeom prst="rect">
            <a:avLst/>
          </a:prstGeom>
          <a:solidFill>
            <a:srgbClr val="F57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10607040" y="3657600"/>
            <a:ext cx="914400" cy="365760"/>
          </a:xfrm>
          <a:prstGeom prst="roundRect">
            <a:avLst>
              <a:gd name="adj" fmla="val 40000"/>
            </a:avLst>
          </a:prstGeom>
          <a:solidFill>
            <a:srgbClr val="90A4A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607040" y="3703320"/>
            <a:ext cx="914400" cy="274320"/>
          </a:xfrm>
          <a:prstGeom prst="rect">
            <a:avLst/>
          </a:prstGeom>
          <a:noFill/>
        </p:spPr>
        <p:txBody>
          <a:bodyPr wrap="none">
            <a:spAutoFit/>
          </a:bodyPr>
          <a:lstStyle/>
          <a:p>
            <a:pPr algn="ctr">
              <a:defRPr sz="1100" b="1">
                <a:solidFill>
                  <a:srgbClr val="FFFFFF"/>
                </a:solidFill>
              </a:defRPr>
            </a:pPr>
            <a:r>
              <a:t>MVP</a:t>
            </a:r>
          </a:p>
        </p:txBody>
      </p:sp>
      <p:sp>
        <p:nvSpPr>
          <p:cNvPr id="28" name="TextBox 27"/>
          <p:cNvSpPr txBox="1"/>
          <p:nvPr/>
        </p:nvSpPr>
        <p:spPr>
          <a:xfrm>
            <a:off x="6858000" y="3749039"/>
            <a:ext cx="3657600" cy="457200"/>
          </a:xfrm>
          <a:prstGeom prst="rect">
            <a:avLst/>
          </a:prstGeom>
          <a:noFill/>
        </p:spPr>
        <p:txBody>
          <a:bodyPr wrap="none">
            <a:spAutoFit/>
          </a:bodyPr>
          <a:lstStyle/>
          <a:p>
            <a:pPr>
              <a:defRPr sz="2200" b="1">
                <a:solidFill>
                  <a:srgbClr val="F57C00"/>
                </a:solidFill>
              </a:defRPr>
            </a:pPr>
            <a:r>
              <a:t>TRIPWIRE</a:t>
            </a:r>
          </a:p>
        </p:txBody>
      </p:sp>
      <p:sp>
        <p:nvSpPr>
          <p:cNvPr id="29" name="TextBox 28"/>
          <p:cNvSpPr txBox="1"/>
          <p:nvPr/>
        </p:nvSpPr>
        <p:spPr>
          <a:xfrm>
            <a:off x="6858000" y="4297680"/>
            <a:ext cx="4572000" cy="365760"/>
          </a:xfrm>
          <a:prstGeom prst="rect">
            <a:avLst/>
          </a:prstGeom>
          <a:noFill/>
        </p:spPr>
        <p:txBody>
          <a:bodyPr wrap="none">
            <a:spAutoFit/>
          </a:bodyPr>
          <a:lstStyle/>
          <a:p>
            <a:pPr>
              <a:defRPr sz="1600" b="1">
                <a:solidFill>
                  <a:srgbClr val="1A365D"/>
                </a:solidFill>
              </a:defRPr>
            </a:pPr>
            <a:r>
              <a:t>Opponent Website Monitoring</a:t>
            </a:r>
          </a:p>
        </p:txBody>
      </p:sp>
      <p:sp>
        <p:nvSpPr>
          <p:cNvPr id="30" name="TextBox 29"/>
          <p:cNvSpPr txBox="1"/>
          <p:nvPr/>
        </p:nvSpPr>
        <p:spPr>
          <a:xfrm>
            <a:off x="6858000" y="4754879"/>
            <a:ext cx="4572000" cy="548640"/>
          </a:xfrm>
          <a:prstGeom prst="rect">
            <a:avLst/>
          </a:prstGeom>
          <a:noFill/>
        </p:spPr>
        <p:txBody>
          <a:bodyPr wrap="none">
            <a:spAutoFit/>
          </a:bodyPr>
          <a:lstStyle/>
          <a:p>
            <a:pPr>
              <a:defRPr sz="1400">
                <a:solidFill>
                  <a:srgbClr val="6C757D"/>
                </a:solidFill>
              </a:defRPr>
            </a:pPr>
            <a:r>
              <a:t>Know when competitors change messaging</a:t>
            </a:r>
          </a:p>
        </p:txBody>
      </p:sp>
      <p:sp>
        <p:nvSpPr>
          <p:cNvPr id="31" name="Rounded Rectangle 30"/>
          <p:cNvSpPr/>
          <p:nvPr/>
        </p:nvSpPr>
        <p:spPr>
          <a:xfrm>
            <a:off x="731520" y="5760720"/>
            <a:ext cx="10789920" cy="731520"/>
          </a:xfrm>
          <a:prstGeom prst="roundRect">
            <a:avLst>
              <a:gd name="adj" fmla="val 15000"/>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31520" y="5897880"/>
            <a:ext cx="10789920" cy="457200"/>
          </a:xfrm>
          <a:prstGeom prst="rect">
            <a:avLst/>
          </a:prstGeom>
          <a:noFill/>
        </p:spPr>
        <p:txBody>
          <a:bodyPr wrap="none">
            <a:spAutoFit/>
          </a:bodyPr>
          <a:lstStyle/>
          <a:p>
            <a:pPr algn="ctr">
              <a:defRPr sz="1600" b="1">
                <a:solidFill>
                  <a:srgbClr val="FFFFFF"/>
                </a:solidFill>
              </a:defRPr>
            </a:pPr>
            <a:r>
              <a:t>🗼 WATCHTOWER: Geographic monitoring network detects regional AI variation</a:t>
            </a:r>
          </a:p>
        </p:txBody>
      </p:sp>
      <p:pic>
        <p:nvPicPr>
          <p:cNvPr id="33" name="Picture 32" descr="panopticon.png"/>
          <p:cNvPicPr>
            <a:picLocks noChangeAspect="1"/>
          </p:cNvPicPr>
          <p:nvPr/>
        </p:nvPicPr>
        <p:blipFill>
          <a:blip r:embed="rId3"/>
          <a:stretch>
            <a:fillRect/>
          </a:stretch>
        </p:blipFill>
        <p:spPr>
          <a:xfrm>
            <a:off x="1005840" y="1371600"/>
            <a:ext cx="548640" cy="548640"/>
          </a:xfrm>
          <a:prstGeom prst="rect">
            <a:avLst/>
          </a:prstGeom>
        </p:spPr>
      </p:pic>
      <p:pic>
        <p:nvPicPr>
          <p:cNvPr id="34" name="Picture 33" descr="goodink.png"/>
          <p:cNvPicPr>
            <a:picLocks noChangeAspect="1"/>
          </p:cNvPicPr>
          <p:nvPr/>
        </p:nvPicPr>
        <p:blipFill>
          <a:blip r:embed="rId4"/>
          <a:stretch>
            <a:fillRect/>
          </a:stretch>
        </p:blipFill>
        <p:spPr>
          <a:xfrm>
            <a:off x="6766560" y="1371600"/>
            <a:ext cx="548640" cy="548640"/>
          </a:xfrm>
          <a:prstGeom prst="rect">
            <a:avLst/>
          </a:prstGeom>
        </p:spPr>
      </p:pic>
      <p:pic>
        <p:nvPicPr>
          <p:cNvPr id="35" name="Picture 34" descr="adwatch.png"/>
          <p:cNvPicPr>
            <a:picLocks noChangeAspect="1"/>
          </p:cNvPicPr>
          <p:nvPr/>
        </p:nvPicPr>
        <p:blipFill>
          <a:blip r:embed="rId5"/>
          <a:stretch>
            <a:fillRect/>
          </a:stretch>
        </p:blipFill>
        <p:spPr>
          <a:xfrm>
            <a:off x="1005840" y="3657600"/>
            <a:ext cx="548640" cy="548640"/>
          </a:xfrm>
          <a:prstGeom prst="rect">
            <a:avLst/>
          </a:prstGeom>
        </p:spPr>
      </p:pic>
      <p:pic>
        <p:nvPicPr>
          <p:cNvPr id="36" name="Picture 35" descr="tripwire.png"/>
          <p:cNvPicPr>
            <a:picLocks noChangeAspect="1"/>
          </p:cNvPicPr>
          <p:nvPr/>
        </p:nvPicPr>
        <p:blipFill>
          <a:blip r:embed="rId6"/>
          <a:stretch>
            <a:fillRect/>
          </a:stretch>
        </p:blipFill>
        <p:spPr>
          <a:xfrm>
            <a:off x="6766560" y="3657600"/>
            <a:ext cx="548640" cy="54864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77295" cy="731520"/>
          </a:xfrm>
          <a:prstGeom prst="rect">
            <a:avLst/>
          </a:prstGeom>
          <a:noFill/>
        </p:spPr>
        <p:txBody>
          <a:bodyPr wrap="none">
            <a:spAutoFit/>
          </a:bodyPr>
          <a:lstStyle/>
          <a:p>
            <a:pPr>
              <a:defRPr sz="4000" b="1">
                <a:solidFill>
                  <a:srgbClr val="1A365D"/>
                </a:solidFill>
              </a:defRPr>
            </a:pPr>
            <a:r>
              <a:t>How We Operate</a:t>
            </a:r>
          </a:p>
        </p:txBody>
      </p:sp>
      <p:sp>
        <p:nvSpPr>
          <p:cNvPr id="3" name="Rounded Rectangle 2"/>
          <p:cNvSpPr/>
          <p:nvPr/>
        </p:nvSpPr>
        <p:spPr>
          <a:xfrm>
            <a:off x="3657600" y="1097280"/>
            <a:ext cx="5029200" cy="1097280"/>
          </a:xfrm>
          <a:prstGeom prst="roundRect">
            <a:avLst>
              <a:gd name="adj" fmla="val 15000"/>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0" y="1188720"/>
            <a:ext cx="5029200" cy="914400"/>
          </a:xfrm>
          <a:prstGeom prst="rect">
            <a:avLst/>
          </a:prstGeom>
          <a:noFill/>
        </p:spPr>
        <p:txBody>
          <a:bodyPr wrap="none">
            <a:spAutoFit/>
          </a:bodyPr>
          <a:lstStyle/>
          <a:p>
            <a:pPr algn="ctr">
              <a:defRPr sz="2400" b="1">
                <a:solidFill>
                  <a:srgbClr val="FFFFFF"/>
                </a:solidFill>
              </a:defRPr>
            </a:pPr>
            <a:r>
              <a:t>KYANOS TRUST</a:t>
            </a:r>
          </a:p>
          <a:p>
            <a:pPr algn="ctr">
              <a:defRPr sz="1400">
                <a:solidFill>
                  <a:srgbClr val="BBDEFB"/>
                </a:solidFill>
              </a:defRPr>
            </a:pPr>
            <a:r>
              <a:t>Board of progressive leaders</a:t>
            </a:r>
          </a:p>
        </p:txBody>
      </p:sp>
      <p:sp>
        <p:nvSpPr>
          <p:cNvPr id="5" name="Down Arrow 4"/>
          <p:cNvSpPr/>
          <p:nvPr/>
        </p:nvSpPr>
        <p:spPr>
          <a:xfrm>
            <a:off x="5852160" y="2286000"/>
            <a:ext cx="640080" cy="548640"/>
          </a:xfrm>
          <a:prstGeom prst="downArrow">
            <a:avLst/>
          </a:prstGeom>
          <a:solidFill>
            <a:srgbClr val="007B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3657600" y="2926080"/>
            <a:ext cx="5029200" cy="914400"/>
          </a:xfrm>
          <a:prstGeom prst="roundRect">
            <a:avLst>
              <a:gd name="adj" fmla="val 15000"/>
            </a:avLst>
          </a:prstGeom>
          <a:solidFill>
            <a:srgbClr val="007B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0" y="3108960"/>
            <a:ext cx="5029200" cy="548640"/>
          </a:xfrm>
          <a:prstGeom prst="rect">
            <a:avLst/>
          </a:prstGeom>
          <a:noFill/>
        </p:spPr>
        <p:txBody>
          <a:bodyPr wrap="none">
            <a:spAutoFit/>
          </a:bodyPr>
          <a:lstStyle/>
          <a:p>
            <a:pPr algn="ctr">
              <a:defRPr sz="2000" b="1">
                <a:solidFill>
                  <a:srgbClr val="FFFFFF"/>
                </a:solidFill>
              </a:defRPr>
            </a:pPr>
            <a:r>
              <a:t>KYANOS LLC (100% trust-owned)</a:t>
            </a:r>
          </a:p>
        </p:txBody>
      </p:sp>
      <p:sp>
        <p:nvSpPr>
          <p:cNvPr id="8" name="TextBox 7"/>
          <p:cNvSpPr txBox="1"/>
          <p:nvPr/>
        </p:nvSpPr>
        <p:spPr>
          <a:xfrm>
            <a:off x="457200" y="1371600"/>
            <a:ext cx="3017520" cy="457200"/>
          </a:xfrm>
          <a:prstGeom prst="rect">
            <a:avLst/>
          </a:prstGeom>
          <a:noFill/>
        </p:spPr>
        <p:txBody>
          <a:bodyPr wrap="none">
            <a:spAutoFit/>
          </a:bodyPr>
          <a:lstStyle/>
          <a:p>
            <a:pPr>
              <a:defRPr sz="1600">
                <a:solidFill>
                  <a:srgbClr val="2ECC71"/>
                </a:solidFill>
              </a:defRPr>
            </a:pPr>
            <a:r>
              <a:t>✓ Mission locked to progressives</a:t>
            </a:r>
          </a:p>
        </p:txBody>
      </p:sp>
      <p:sp>
        <p:nvSpPr>
          <p:cNvPr id="9" name="TextBox 8"/>
          <p:cNvSpPr txBox="1"/>
          <p:nvPr/>
        </p:nvSpPr>
        <p:spPr>
          <a:xfrm>
            <a:off x="457200" y="1920240"/>
            <a:ext cx="3017520" cy="457200"/>
          </a:xfrm>
          <a:prstGeom prst="rect">
            <a:avLst/>
          </a:prstGeom>
          <a:noFill/>
        </p:spPr>
        <p:txBody>
          <a:bodyPr wrap="none">
            <a:spAutoFit/>
          </a:bodyPr>
          <a:lstStyle/>
          <a:p>
            <a:pPr>
              <a:defRPr sz="1600">
                <a:solidFill>
                  <a:srgbClr val="2ECC71"/>
                </a:solidFill>
              </a:defRPr>
            </a:pPr>
            <a:r>
              <a:t>✓ Cannot be sold to opponents</a:t>
            </a:r>
          </a:p>
        </p:txBody>
      </p:sp>
      <p:sp>
        <p:nvSpPr>
          <p:cNvPr id="10" name="TextBox 9"/>
          <p:cNvSpPr txBox="1"/>
          <p:nvPr/>
        </p:nvSpPr>
        <p:spPr>
          <a:xfrm>
            <a:off x="457200" y="2468880"/>
            <a:ext cx="3017520" cy="457200"/>
          </a:xfrm>
          <a:prstGeom prst="rect">
            <a:avLst/>
          </a:prstGeom>
          <a:noFill/>
        </p:spPr>
        <p:txBody>
          <a:bodyPr wrap="none">
            <a:spAutoFit/>
          </a:bodyPr>
          <a:lstStyle/>
          <a:p>
            <a:pPr>
              <a:defRPr sz="1600">
                <a:solidFill>
                  <a:srgbClr val="2ECC71"/>
                </a:solidFill>
              </a:defRPr>
            </a:pPr>
            <a:r>
              <a:t>✓ No equity, no exits</a:t>
            </a:r>
          </a:p>
        </p:txBody>
      </p:sp>
      <p:sp>
        <p:nvSpPr>
          <p:cNvPr id="11" name="TextBox 10"/>
          <p:cNvSpPr txBox="1"/>
          <p:nvPr/>
        </p:nvSpPr>
        <p:spPr>
          <a:xfrm>
            <a:off x="8961120" y="1371600"/>
            <a:ext cx="3017520" cy="457200"/>
          </a:xfrm>
          <a:prstGeom prst="rect">
            <a:avLst/>
          </a:prstGeom>
          <a:noFill/>
        </p:spPr>
        <p:txBody>
          <a:bodyPr wrap="none">
            <a:spAutoFit/>
          </a:bodyPr>
          <a:lstStyle/>
          <a:p>
            <a:pPr>
              <a:defRPr sz="1600">
                <a:solidFill>
                  <a:srgbClr val="1A365D"/>
                </a:solidFill>
              </a:defRPr>
            </a:pPr>
            <a:r>
              <a:t>Major funders get board seats</a:t>
            </a:r>
          </a:p>
        </p:txBody>
      </p:sp>
      <p:sp>
        <p:nvSpPr>
          <p:cNvPr id="12" name="TextBox 11"/>
          <p:cNvSpPr txBox="1"/>
          <p:nvPr/>
        </p:nvSpPr>
        <p:spPr>
          <a:xfrm>
            <a:off x="8961120" y="1920240"/>
            <a:ext cx="3017520" cy="457200"/>
          </a:xfrm>
          <a:prstGeom prst="rect">
            <a:avLst/>
          </a:prstGeom>
          <a:noFill/>
        </p:spPr>
        <p:txBody>
          <a:bodyPr wrap="none">
            <a:spAutoFit/>
          </a:bodyPr>
          <a:lstStyle/>
          <a:p>
            <a:pPr>
              <a:defRPr sz="1600">
                <a:solidFill>
                  <a:srgbClr val="1A365D"/>
                </a:solidFill>
              </a:defRPr>
            </a:pPr>
            <a:r>
              <a:t>Transparent governance</a:t>
            </a:r>
          </a:p>
        </p:txBody>
      </p:sp>
      <p:sp>
        <p:nvSpPr>
          <p:cNvPr id="13" name="TextBox 12"/>
          <p:cNvSpPr txBox="1"/>
          <p:nvPr/>
        </p:nvSpPr>
        <p:spPr>
          <a:xfrm>
            <a:off x="8961120" y="2468880"/>
            <a:ext cx="3017520" cy="457200"/>
          </a:xfrm>
          <a:prstGeom prst="rect">
            <a:avLst/>
          </a:prstGeom>
          <a:noFill/>
        </p:spPr>
        <p:txBody>
          <a:bodyPr wrap="none">
            <a:spAutoFit/>
          </a:bodyPr>
          <a:lstStyle/>
          <a:p>
            <a:pPr>
              <a:defRPr sz="1600">
                <a:solidFill>
                  <a:srgbClr val="1A365D"/>
                </a:solidFill>
              </a:defRPr>
            </a:pPr>
            <a:r>
              <a:t>Permanent infrastructure</a:t>
            </a:r>
          </a:p>
        </p:txBody>
      </p:sp>
      <p:sp>
        <p:nvSpPr>
          <p:cNvPr id="14" name="Rounded Rectangle 13"/>
          <p:cNvSpPr/>
          <p:nvPr/>
        </p:nvSpPr>
        <p:spPr>
          <a:xfrm>
            <a:off x="731520" y="4206240"/>
            <a:ext cx="10789920" cy="2011680"/>
          </a:xfrm>
          <a:prstGeom prst="roundRect">
            <a:avLst>
              <a:gd name="adj" fmla="val 5000"/>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1520" y="4389120"/>
            <a:ext cx="10789920" cy="457200"/>
          </a:xfrm>
          <a:prstGeom prst="rect">
            <a:avLst/>
          </a:prstGeom>
          <a:noFill/>
        </p:spPr>
        <p:txBody>
          <a:bodyPr wrap="none">
            <a:spAutoFit/>
          </a:bodyPr>
          <a:lstStyle/>
          <a:p>
            <a:pPr algn="ctr">
              <a:defRPr sz="1800" b="1">
                <a:solidFill>
                  <a:srgbClr val="1A365D"/>
                </a:solidFill>
              </a:defRPr>
            </a:pPr>
            <a:r>
              <a:t>THE CATALIST PRECEDENT</a:t>
            </a:r>
          </a:p>
        </p:txBody>
      </p:sp>
      <p:sp>
        <p:nvSpPr>
          <p:cNvPr id="16" name="TextBox 15"/>
          <p:cNvSpPr txBox="1"/>
          <p:nvPr/>
        </p:nvSpPr>
        <p:spPr>
          <a:xfrm>
            <a:off x="1371600" y="4937760"/>
            <a:ext cx="2286000" cy="548640"/>
          </a:xfrm>
          <a:prstGeom prst="rect">
            <a:avLst/>
          </a:prstGeom>
          <a:noFill/>
        </p:spPr>
        <p:txBody>
          <a:bodyPr wrap="none">
            <a:spAutoFit/>
          </a:bodyPr>
          <a:lstStyle/>
          <a:p>
            <a:pPr algn="ctr">
              <a:defRPr sz="2800" b="1">
                <a:solidFill>
                  <a:srgbClr val="007BC0"/>
                </a:solidFill>
              </a:defRPr>
            </a:pPr>
            <a:r>
              <a:t>2006</a:t>
            </a:r>
          </a:p>
        </p:txBody>
      </p:sp>
      <p:sp>
        <p:nvSpPr>
          <p:cNvPr id="17" name="TextBox 16"/>
          <p:cNvSpPr txBox="1"/>
          <p:nvPr/>
        </p:nvSpPr>
        <p:spPr>
          <a:xfrm>
            <a:off x="1371600" y="5486400"/>
            <a:ext cx="2286000" cy="548640"/>
          </a:xfrm>
          <a:prstGeom prst="rect">
            <a:avLst/>
          </a:prstGeom>
          <a:noFill/>
        </p:spPr>
        <p:txBody>
          <a:bodyPr wrap="none">
            <a:spAutoFit/>
          </a:bodyPr>
          <a:lstStyle/>
          <a:p>
            <a:pPr algn="ctr">
              <a:defRPr sz="1200">
                <a:solidFill>
                  <a:srgbClr val="6C757D"/>
                </a:solidFill>
              </a:defRPr>
            </a:pPr>
            <a:r>
              <a:t>Founded</a:t>
            </a:r>
          </a:p>
        </p:txBody>
      </p:sp>
      <p:sp>
        <p:nvSpPr>
          <p:cNvPr id="18" name="TextBox 17"/>
          <p:cNvSpPr txBox="1"/>
          <p:nvPr/>
        </p:nvSpPr>
        <p:spPr>
          <a:xfrm>
            <a:off x="4114800" y="4937760"/>
            <a:ext cx="2286000" cy="548640"/>
          </a:xfrm>
          <a:prstGeom prst="rect">
            <a:avLst/>
          </a:prstGeom>
          <a:noFill/>
        </p:spPr>
        <p:txBody>
          <a:bodyPr wrap="none">
            <a:spAutoFit/>
          </a:bodyPr>
          <a:lstStyle/>
          <a:p>
            <a:pPr algn="ctr">
              <a:defRPr sz="2800" b="1">
                <a:solidFill>
                  <a:srgbClr val="007BC0"/>
                </a:solidFill>
              </a:defRPr>
            </a:pPr>
            <a:r>
              <a:t>$5M+</a:t>
            </a:r>
          </a:p>
        </p:txBody>
      </p:sp>
      <p:sp>
        <p:nvSpPr>
          <p:cNvPr id="19" name="TextBox 18"/>
          <p:cNvSpPr txBox="1"/>
          <p:nvPr/>
        </p:nvSpPr>
        <p:spPr>
          <a:xfrm>
            <a:off x="4114800" y="5486400"/>
            <a:ext cx="2286000" cy="548640"/>
          </a:xfrm>
          <a:prstGeom prst="rect">
            <a:avLst/>
          </a:prstGeom>
          <a:noFill/>
        </p:spPr>
        <p:txBody>
          <a:bodyPr wrap="none">
            <a:spAutoFit/>
          </a:bodyPr>
          <a:lstStyle/>
          <a:p>
            <a:pPr algn="ctr">
              <a:defRPr sz="1200">
                <a:solidFill>
                  <a:srgbClr val="6C757D"/>
                </a:solidFill>
              </a:defRPr>
            </a:pPr>
            <a:r>
              <a:t>Initial funding</a:t>
            </a:r>
          </a:p>
        </p:txBody>
      </p:sp>
      <p:sp>
        <p:nvSpPr>
          <p:cNvPr id="20" name="TextBox 19"/>
          <p:cNvSpPr txBox="1"/>
          <p:nvPr/>
        </p:nvSpPr>
        <p:spPr>
          <a:xfrm>
            <a:off x="6858000" y="4937760"/>
            <a:ext cx="2286000" cy="548640"/>
          </a:xfrm>
          <a:prstGeom prst="rect">
            <a:avLst/>
          </a:prstGeom>
          <a:noFill/>
        </p:spPr>
        <p:txBody>
          <a:bodyPr wrap="none">
            <a:spAutoFit/>
          </a:bodyPr>
          <a:lstStyle/>
          <a:p>
            <a:pPr algn="ctr">
              <a:defRPr sz="2800" b="1">
                <a:solidFill>
                  <a:srgbClr val="007BC0"/>
                </a:solidFill>
              </a:defRPr>
            </a:pPr>
            <a:r>
              <a:t>Trust LLC</a:t>
            </a:r>
          </a:p>
        </p:txBody>
      </p:sp>
      <p:sp>
        <p:nvSpPr>
          <p:cNvPr id="21" name="TextBox 20"/>
          <p:cNvSpPr txBox="1"/>
          <p:nvPr/>
        </p:nvSpPr>
        <p:spPr>
          <a:xfrm>
            <a:off x="6858000" y="5486400"/>
            <a:ext cx="2286000" cy="548640"/>
          </a:xfrm>
          <a:prstGeom prst="rect">
            <a:avLst/>
          </a:prstGeom>
          <a:noFill/>
        </p:spPr>
        <p:txBody>
          <a:bodyPr wrap="none">
            <a:spAutoFit/>
          </a:bodyPr>
          <a:lstStyle/>
          <a:p>
            <a:pPr algn="ctr">
              <a:defRPr sz="1200">
                <a:solidFill>
                  <a:srgbClr val="6C757D"/>
                </a:solidFill>
              </a:defRPr>
            </a:pPr>
            <a:r>
              <a:t>Structure</a:t>
            </a:r>
          </a:p>
        </p:txBody>
      </p:sp>
      <p:sp>
        <p:nvSpPr>
          <p:cNvPr id="22" name="TextBox 21"/>
          <p:cNvSpPr txBox="1"/>
          <p:nvPr/>
        </p:nvSpPr>
        <p:spPr>
          <a:xfrm>
            <a:off x="9601200" y="4937760"/>
            <a:ext cx="2286000" cy="548640"/>
          </a:xfrm>
          <a:prstGeom prst="rect">
            <a:avLst/>
          </a:prstGeom>
          <a:noFill/>
        </p:spPr>
        <p:txBody>
          <a:bodyPr wrap="none">
            <a:spAutoFit/>
          </a:bodyPr>
          <a:lstStyle/>
          <a:p>
            <a:pPr algn="ctr">
              <a:defRPr sz="2800" b="1">
                <a:solidFill>
                  <a:srgbClr val="007BC0"/>
                </a:solidFill>
              </a:defRPr>
            </a:pPr>
            <a:r>
              <a:t>Every major</a:t>
            </a:r>
            <a:br/>
            <a:r>
              <a:t>Dem campaign</a:t>
            </a:r>
          </a:p>
        </p:txBody>
      </p:sp>
      <p:sp>
        <p:nvSpPr>
          <p:cNvPr id="23" name="TextBox 22"/>
          <p:cNvSpPr txBox="1"/>
          <p:nvPr/>
        </p:nvSpPr>
        <p:spPr>
          <a:xfrm>
            <a:off x="9601200" y="5486400"/>
            <a:ext cx="2286000" cy="548640"/>
          </a:xfrm>
          <a:prstGeom prst="rect">
            <a:avLst/>
          </a:prstGeom>
          <a:noFill/>
        </p:spPr>
        <p:txBody>
          <a:bodyPr wrap="none">
            <a:spAutoFit/>
          </a:bodyPr>
          <a:lstStyle/>
          <a:p>
            <a:pPr algn="ctr">
              <a:defRPr sz="1200">
                <a:solidFill>
                  <a:srgbClr val="6C757D"/>
                </a:solidFill>
              </a:defRPr>
            </a:pPr>
            <a:r>
              <a:t>Today serves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77295" cy="731520"/>
          </a:xfrm>
          <a:prstGeom prst="rect">
            <a:avLst/>
          </a:prstGeom>
          <a:noFill/>
        </p:spPr>
        <p:txBody>
          <a:bodyPr wrap="none">
            <a:spAutoFit/>
          </a:bodyPr>
          <a:lstStyle/>
          <a:p>
            <a:pPr>
              <a:defRPr sz="4000" b="1">
                <a:solidFill>
                  <a:srgbClr val="1A365D"/>
                </a:solidFill>
              </a:defRPr>
            </a:pPr>
            <a:r>
              <a:t>The Path to 466 Clients</a:t>
            </a:r>
          </a:p>
        </p:txBody>
      </p:sp>
      <p:sp>
        <p:nvSpPr>
          <p:cNvPr id="3" name="Rounded Rectangle 2"/>
          <p:cNvSpPr/>
          <p:nvPr/>
        </p:nvSpPr>
        <p:spPr>
          <a:xfrm>
            <a:off x="731520" y="1188720"/>
            <a:ext cx="3474720" cy="3200400"/>
          </a:xfrm>
          <a:prstGeom prst="roundRect">
            <a:avLst>
              <a:gd name="adj" fmla="val 8000"/>
            </a:avLst>
          </a:prstGeom>
          <a:solidFill>
            <a:srgbClr val="E3F2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371600"/>
            <a:ext cx="3474720" cy="457200"/>
          </a:xfrm>
          <a:prstGeom prst="rect">
            <a:avLst/>
          </a:prstGeom>
          <a:noFill/>
        </p:spPr>
        <p:txBody>
          <a:bodyPr wrap="none">
            <a:spAutoFit/>
          </a:bodyPr>
          <a:lstStyle/>
          <a:p>
            <a:pPr algn="ctr">
              <a:defRPr sz="3200" b="1">
                <a:solidFill>
                  <a:srgbClr val="1A365D"/>
                </a:solidFill>
              </a:defRPr>
            </a:pPr>
            <a:r>
              <a:t>2026</a:t>
            </a:r>
          </a:p>
        </p:txBody>
      </p:sp>
      <p:sp>
        <p:nvSpPr>
          <p:cNvPr id="5" name="TextBox 4"/>
          <p:cNvSpPr txBox="1"/>
          <p:nvPr/>
        </p:nvSpPr>
        <p:spPr>
          <a:xfrm>
            <a:off x="731520" y="1828800"/>
            <a:ext cx="3474720" cy="365760"/>
          </a:xfrm>
          <a:prstGeom prst="rect">
            <a:avLst/>
          </a:prstGeom>
          <a:noFill/>
        </p:spPr>
        <p:txBody>
          <a:bodyPr wrap="none">
            <a:spAutoFit/>
          </a:bodyPr>
          <a:lstStyle/>
          <a:p>
            <a:pPr algn="ctr">
              <a:defRPr sz="1400">
                <a:solidFill>
                  <a:srgbClr val="6C757D"/>
                </a:solidFill>
              </a:defRPr>
            </a:pPr>
            <a:r>
              <a:t>FREE YEAR</a:t>
            </a:r>
          </a:p>
        </p:txBody>
      </p:sp>
      <p:sp>
        <p:nvSpPr>
          <p:cNvPr id="6" name="TextBox 5"/>
          <p:cNvSpPr txBox="1"/>
          <p:nvPr/>
        </p:nvSpPr>
        <p:spPr>
          <a:xfrm>
            <a:off x="731520" y="2286000"/>
            <a:ext cx="3474720" cy="822960"/>
          </a:xfrm>
          <a:prstGeom prst="rect">
            <a:avLst/>
          </a:prstGeom>
          <a:noFill/>
        </p:spPr>
        <p:txBody>
          <a:bodyPr wrap="none">
            <a:spAutoFit/>
          </a:bodyPr>
          <a:lstStyle/>
          <a:p>
            <a:pPr algn="ctr">
              <a:defRPr sz="5600" b="1">
                <a:solidFill>
                  <a:srgbClr val="007BC0"/>
                </a:solidFill>
              </a:defRPr>
            </a:pPr>
            <a:r>
              <a:t>200</a:t>
            </a:r>
          </a:p>
        </p:txBody>
      </p:sp>
      <p:sp>
        <p:nvSpPr>
          <p:cNvPr id="7" name="TextBox 6"/>
          <p:cNvSpPr txBox="1"/>
          <p:nvPr/>
        </p:nvSpPr>
        <p:spPr>
          <a:xfrm>
            <a:off x="731520" y="3108960"/>
            <a:ext cx="3474720" cy="365760"/>
          </a:xfrm>
          <a:prstGeom prst="rect">
            <a:avLst/>
          </a:prstGeom>
          <a:noFill/>
        </p:spPr>
        <p:txBody>
          <a:bodyPr wrap="none">
            <a:spAutoFit/>
          </a:bodyPr>
          <a:lstStyle/>
          <a:p>
            <a:pPr algn="ctr">
              <a:defRPr sz="1600">
                <a:solidFill>
                  <a:srgbClr val="6C757D"/>
                </a:solidFill>
              </a:defRPr>
            </a:pPr>
            <a:r>
              <a:t>campaigns</a:t>
            </a:r>
          </a:p>
        </p:txBody>
      </p:sp>
      <p:sp>
        <p:nvSpPr>
          <p:cNvPr id="8" name="TextBox 7"/>
          <p:cNvSpPr txBox="1"/>
          <p:nvPr/>
        </p:nvSpPr>
        <p:spPr>
          <a:xfrm>
            <a:off x="731520" y="3566160"/>
            <a:ext cx="3474720" cy="457200"/>
          </a:xfrm>
          <a:prstGeom prst="rect">
            <a:avLst/>
          </a:prstGeom>
          <a:noFill/>
        </p:spPr>
        <p:txBody>
          <a:bodyPr wrap="none">
            <a:spAutoFit/>
          </a:bodyPr>
          <a:lstStyle/>
          <a:p>
            <a:pPr algn="ctr">
              <a:defRPr sz="2400" b="1">
                <a:solidFill>
                  <a:srgbClr val="6C757D"/>
                </a:solidFill>
              </a:defRPr>
            </a:pPr>
            <a:r>
              <a:t>$0</a:t>
            </a:r>
          </a:p>
        </p:txBody>
      </p:sp>
      <p:sp>
        <p:nvSpPr>
          <p:cNvPr id="9" name="TextBox 8"/>
          <p:cNvSpPr txBox="1"/>
          <p:nvPr/>
        </p:nvSpPr>
        <p:spPr>
          <a:xfrm>
            <a:off x="731520" y="4023360"/>
            <a:ext cx="3474720" cy="274320"/>
          </a:xfrm>
          <a:prstGeom prst="rect">
            <a:avLst/>
          </a:prstGeom>
          <a:noFill/>
        </p:spPr>
        <p:txBody>
          <a:bodyPr wrap="none">
            <a:spAutoFit/>
          </a:bodyPr>
          <a:lstStyle/>
          <a:p>
            <a:pPr algn="ctr">
              <a:defRPr sz="1200">
                <a:solidFill>
                  <a:srgbClr val="6C757D"/>
                </a:solidFill>
              </a:defRPr>
            </a:pPr>
            <a:r>
              <a:t>Build reference base</a:t>
            </a:r>
          </a:p>
        </p:txBody>
      </p:sp>
      <p:sp>
        <p:nvSpPr>
          <p:cNvPr id="10" name="Right Arrow 9"/>
          <p:cNvSpPr/>
          <p:nvPr/>
        </p:nvSpPr>
        <p:spPr>
          <a:xfrm>
            <a:off x="4389120" y="2743200"/>
            <a:ext cx="365760" cy="365760"/>
          </a:xfrm>
          <a:prstGeom prst="rightArrow">
            <a:avLst/>
          </a:prstGeom>
          <a:solidFill>
            <a:srgbClr val="6C75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572000" y="1188720"/>
            <a:ext cx="3474720" cy="3200400"/>
          </a:xfrm>
          <a:prstGeom prst="roundRect">
            <a:avLst>
              <a:gd name="adj" fmla="val 8000"/>
            </a:avLst>
          </a:prstGeom>
          <a:solidFill>
            <a:srgbClr val="C8E6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0" y="1371600"/>
            <a:ext cx="3474720" cy="457200"/>
          </a:xfrm>
          <a:prstGeom prst="rect">
            <a:avLst/>
          </a:prstGeom>
          <a:noFill/>
        </p:spPr>
        <p:txBody>
          <a:bodyPr wrap="none">
            <a:spAutoFit/>
          </a:bodyPr>
          <a:lstStyle/>
          <a:p>
            <a:pPr algn="ctr">
              <a:defRPr sz="3200" b="1">
                <a:solidFill>
                  <a:srgbClr val="1A365D"/>
                </a:solidFill>
              </a:defRPr>
            </a:pPr>
            <a:r>
              <a:t>2027</a:t>
            </a:r>
          </a:p>
        </p:txBody>
      </p:sp>
      <p:sp>
        <p:nvSpPr>
          <p:cNvPr id="13" name="TextBox 12"/>
          <p:cNvSpPr txBox="1"/>
          <p:nvPr/>
        </p:nvSpPr>
        <p:spPr>
          <a:xfrm>
            <a:off x="4572000" y="1828800"/>
            <a:ext cx="3474720" cy="365760"/>
          </a:xfrm>
          <a:prstGeom prst="rect">
            <a:avLst/>
          </a:prstGeom>
          <a:noFill/>
        </p:spPr>
        <p:txBody>
          <a:bodyPr wrap="none">
            <a:spAutoFit/>
          </a:bodyPr>
          <a:lstStyle/>
          <a:p>
            <a:pPr algn="ctr">
              <a:defRPr sz="1400">
                <a:solidFill>
                  <a:srgbClr val="6C757D"/>
                </a:solidFill>
              </a:defRPr>
            </a:pPr>
            <a:r>
              <a:t>LAUNCH</a:t>
            </a:r>
          </a:p>
        </p:txBody>
      </p:sp>
      <p:sp>
        <p:nvSpPr>
          <p:cNvPr id="14" name="TextBox 13"/>
          <p:cNvSpPr txBox="1"/>
          <p:nvPr/>
        </p:nvSpPr>
        <p:spPr>
          <a:xfrm>
            <a:off x="4572000" y="2286000"/>
            <a:ext cx="3474720" cy="822960"/>
          </a:xfrm>
          <a:prstGeom prst="rect">
            <a:avLst/>
          </a:prstGeom>
          <a:noFill/>
        </p:spPr>
        <p:txBody>
          <a:bodyPr wrap="none">
            <a:spAutoFit/>
          </a:bodyPr>
          <a:lstStyle/>
          <a:p>
            <a:pPr algn="ctr">
              <a:defRPr sz="5600" b="1">
                <a:solidFill>
                  <a:srgbClr val="007BC0"/>
                </a:solidFill>
              </a:defRPr>
            </a:pPr>
            <a:r>
              <a:t>150</a:t>
            </a:r>
          </a:p>
        </p:txBody>
      </p:sp>
      <p:sp>
        <p:nvSpPr>
          <p:cNvPr id="15" name="TextBox 14"/>
          <p:cNvSpPr txBox="1"/>
          <p:nvPr/>
        </p:nvSpPr>
        <p:spPr>
          <a:xfrm>
            <a:off x="4572000" y="3108960"/>
            <a:ext cx="3474720" cy="365760"/>
          </a:xfrm>
          <a:prstGeom prst="rect">
            <a:avLst/>
          </a:prstGeom>
          <a:noFill/>
        </p:spPr>
        <p:txBody>
          <a:bodyPr wrap="none">
            <a:spAutoFit/>
          </a:bodyPr>
          <a:lstStyle/>
          <a:p>
            <a:pPr algn="ctr">
              <a:defRPr sz="1600">
                <a:solidFill>
                  <a:srgbClr val="6C757D"/>
                </a:solidFill>
              </a:defRPr>
            </a:pPr>
            <a:r>
              <a:t>clients</a:t>
            </a:r>
          </a:p>
        </p:txBody>
      </p:sp>
      <p:sp>
        <p:nvSpPr>
          <p:cNvPr id="16" name="TextBox 15"/>
          <p:cNvSpPr txBox="1"/>
          <p:nvPr/>
        </p:nvSpPr>
        <p:spPr>
          <a:xfrm>
            <a:off x="4572000" y="3566160"/>
            <a:ext cx="3474720" cy="457200"/>
          </a:xfrm>
          <a:prstGeom prst="rect">
            <a:avLst/>
          </a:prstGeom>
          <a:noFill/>
        </p:spPr>
        <p:txBody>
          <a:bodyPr wrap="none">
            <a:spAutoFit/>
          </a:bodyPr>
          <a:lstStyle/>
          <a:p>
            <a:pPr algn="ctr">
              <a:defRPr sz="2400" b="1">
                <a:solidFill>
                  <a:srgbClr val="2ECC71"/>
                </a:solidFill>
              </a:defRPr>
            </a:pPr>
            <a:r>
              <a:t>$1.2M</a:t>
            </a:r>
          </a:p>
        </p:txBody>
      </p:sp>
      <p:sp>
        <p:nvSpPr>
          <p:cNvPr id="17" name="TextBox 16"/>
          <p:cNvSpPr txBox="1"/>
          <p:nvPr/>
        </p:nvSpPr>
        <p:spPr>
          <a:xfrm>
            <a:off x="4572000" y="4023360"/>
            <a:ext cx="3474720" cy="274320"/>
          </a:xfrm>
          <a:prstGeom prst="rect">
            <a:avLst/>
          </a:prstGeom>
          <a:noFill/>
        </p:spPr>
        <p:txBody>
          <a:bodyPr wrap="none">
            <a:spAutoFit/>
          </a:bodyPr>
          <a:lstStyle/>
          <a:p>
            <a:pPr algn="ctr">
              <a:defRPr sz="1200">
                <a:solidFill>
                  <a:srgbClr val="6C757D"/>
                </a:solidFill>
              </a:defRPr>
            </a:pPr>
            <a:r>
              <a:t>Breakeven</a:t>
            </a:r>
          </a:p>
        </p:txBody>
      </p:sp>
      <p:sp>
        <p:nvSpPr>
          <p:cNvPr id="18" name="Right Arrow 17"/>
          <p:cNvSpPr/>
          <p:nvPr/>
        </p:nvSpPr>
        <p:spPr>
          <a:xfrm>
            <a:off x="8229600" y="2743200"/>
            <a:ext cx="365760" cy="365760"/>
          </a:xfrm>
          <a:prstGeom prst="rightArrow">
            <a:avLst/>
          </a:prstGeom>
          <a:solidFill>
            <a:srgbClr val="6C75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412480" y="1188720"/>
            <a:ext cx="3474720" cy="3200400"/>
          </a:xfrm>
          <a:prstGeom prst="roundRect">
            <a:avLst>
              <a:gd name="adj" fmla="val 8000"/>
            </a:avLst>
          </a:prstGeom>
          <a:solidFill>
            <a:srgbClr val="BBDE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412480" y="1371600"/>
            <a:ext cx="3474720" cy="457200"/>
          </a:xfrm>
          <a:prstGeom prst="rect">
            <a:avLst/>
          </a:prstGeom>
          <a:noFill/>
        </p:spPr>
        <p:txBody>
          <a:bodyPr wrap="none">
            <a:spAutoFit/>
          </a:bodyPr>
          <a:lstStyle/>
          <a:p>
            <a:pPr algn="ctr">
              <a:defRPr sz="3200" b="1">
                <a:solidFill>
                  <a:srgbClr val="1A365D"/>
                </a:solidFill>
              </a:defRPr>
            </a:pPr>
            <a:r>
              <a:t>2028</a:t>
            </a:r>
          </a:p>
        </p:txBody>
      </p:sp>
      <p:sp>
        <p:nvSpPr>
          <p:cNvPr id="21" name="TextBox 20"/>
          <p:cNvSpPr txBox="1"/>
          <p:nvPr/>
        </p:nvSpPr>
        <p:spPr>
          <a:xfrm>
            <a:off x="8412480" y="1828800"/>
            <a:ext cx="3474720" cy="365760"/>
          </a:xfrm>
          <a:prstGeom prst="rect">
            <a:avLst/>
          </a:prstGeom>
          <a:noFill/>
        </p:spPr>
        <p:txBody>
          <a:bodyPr wrap="none">
            <a:spAutoFit/>
          </a:bodyPr>
          <a:lstStyle/>
          <a:p>
            <a:pPr algn="ctr">
              <a:defRPr sz="1400">
                <a:solidFill>
                  <a:srgbClr val="6C757D"/>
                </a:solidFill>
              </a:defRPr>
            </a:pPr>
            <a:r>
              <a:t>SCALE</a:t>
            </a:r>
          </a:p>
        </p:txBody>
      </p:sp>
      <p:sp>
        <p:nvSpPr>
          <p:cNvPr id="22" name="TextBox 21"/>
          <p:cNvSpPr txBox="1"/>
          <p:nvPr/>
        </p:nvSpPr>
        <p:spPr>
          <a:xfrm>
            <a:off x="8412480" y="2286000"/>
            <a:ext cx="3474720" cy="822960"/>
          </a:xfrm>
          <a:prstGeom prst="rect">
            <a:avLst/>
          </a:prstGeom>
          <a:noFill/>
        </p:spPr>
        <p:txBody>
          <a:bodyPr wrap="none">
            <a:spAutoFit/>
          </a:bodyPr>
          <a:lstStyle/>
          <a:p>
            <a:pPr algn="ctr">
              <a:defRPr sz="5600" b="1">
                <a:solidFill>
                  <a:srgbClr val="007BC0"/>
                </a:solidFill>
              </a:defRPr>
            </a:pPr>
            <a:r>
              <a:t>466</a:t>
            </a:r>
          </a:p>
        </p:txBody>
      </p:sp>
      <p:sp>
        <p:nvSpPr>
          <p:cNvPr id="23" name="TextBox 22"/>
          <p:cNvSpPr txBox="1"/>
          <p:nvPr/>
        </p:nvSpPr>
        <p:spPr>
          <a:xfrm>
            <a:off x="8412480" y="3108960"/>
            <a:ext cx="3474720" cy="365760"/>
          </a:xfrm>
          <a:prstGeom prst="rect">
            <a:avLst/>
          </a:prstGeom>
          <a:noFill/>
        </p:spPr>
        <p:txBody>
          <a:bodyPr wrap="none">
            <a:spAutoFit/>
          </a:bodyPr>
          <a:lstStyle/>
          <a:p>
            <a:pPr algn="ctr">
              <a:defRPr sz="1600">
                <a:solidFill>
                  <a:srgbClr val="6C757D"/>
                </a:solidFill>
              </a:defRPr>
            </a:pPr>
            <a:r>
              <a:t>clients</a:t>
            </a:r>
          </a:p>
        </p:txBody>
      </p:sp>
      <p:sp>
        <p:nvSpPr>
          <p:cNvPr id="24" name="TextBox 23"/>
          <p:cNvSpPr txBox="1"/>
          <p:nvPr/>
        </p:nvSpPr>
        <p:spPr>
          <a:xfrm>
            <a:off x="8412480" y="3566160"/>
            <a:ext cx="3474720" cy="457200"/>
          </a:xfrm>
          <a:prstGeom prst="rect">
            <a:avLst/>
          </a:prstGeom>
          <a:noFill/>
        </p:spPr>
        <p:txBody>
          <a:bodyPr wrap="none">
            <a:spAutoFit/>
          </a:bodyPr>
          <a:lstStyle/>
          <a:p>
            <a:pPr algn="ctr">
              <a:defRPr sz="2400" b="1">
                <a:solidFill>
                  <a:srgbClr val="2ECC71"/>
                </a:solidFill>
              </a:defRPr>
            </a:pPr>
            <a:r>
              <a:t>$2.8M</a:t>
            </a:r>
          </a:p>
        </p:txBody>
      </p:sp>
      <p:sp>
        <p:nvSpPr>
          <p:cNvPr id="25" name="TextBox 24"/>
          <p:cNvSpPr txBox="1"/>
          <p:nvPr/>
        </p:nvSpPr>
        <p:spPr>
          <a:xfrm>
            <a:off x="8412480" y="4023360"/>
            <a:ext cx="3474720" cy="274320"/>
          </a:xfrm>
          <a:prstGeom prst="rect">
            <a:avLst/>
          </a:prstGeom>
          <a:noFill/>
        </p:spPr>
        <p:txBody>
          <a:bodyPr wrap="none">
            <a:spAutoFit/>
          </a:bodyPr>
          <a:lstStyle/>
          <a:p>
            <a:pPr algn="ctr">
              <a:defRPr sz="1200">
                <a:solidFill>
                  <a:srgbClr val="6C757D"/>
                </a:solidFill>
              </a:defRPr>
            </a:pPr>
            <a:r>
              <a:t>+$850K net</a:t>
            </a:r>
          </a:p>
        </p:txBody>
      </p:sp>
      <p:sp>
        <p:nvSpPr>
          <p:cNvPr id="26" name="TextBox 25"/>
          <p:cNvSpPr txBox="1"/>
          <p:nvPr/>
        </p:nvSpPr>
        <p:spPr>
          <a:xfrm>
            <a:off x="731520" y="4663440"/>
            <a:ext cx="10972800" cy="365760"/>
          </a:xfrm>
          <a:prstGeom prst="rect">
            <a:avLst/>
          </a:prstGeom>
          <a:noFill/>
        </p:spPr>
        <p:txBody>
          <a:bodyPr wrap="none">
            <a:spAutoFit/>
          </a:bodyPr>
          <a:lstStyle/>
          <a:p>
            <a:pPr>
              <a:defRPr sz="1400" b="1">
                <a:solidFill>
                  <a:srgbClr val="1A365D"/>
                </a:solidFill>
              </a:defRPr>
            </a:pPr>
            <a:r>
              <a:t>2026 Free Year Breakdown:</a:t>
            </a:r>
          </a:p>
        </p:txBody>
      </p:sp>
      <p:sp>
        <p:nvSpPr>
          <p:cNvPr id="27" name="Rounded Rectangle 26"/>
          <p:cNvSpPr/>
          <p:nvPr/>
        </p:nvSpPr>
        <p:spPr>
          <a:xfrm>
            <a:off x="914400" y="5029200"/>
            <a:ext cx="2286000" cy="1097280"/>
          </a:xfrm>
          <a:prstGeom prst="roundRect">
            <a:avLst>
              <a:gd name="adj" fmla="val 15000"/>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4400" y="5120640"/>
            <a:ext cx="2286000" cy="548640"/>
          </a:xfrm>
          <a:prstGeom prst="rect">
            <a:avLst/>
          </a:prstGeom>
          <a:noFill/>
        </p:spPr>
        <p:txBody>
          <a:bodyPr wrap="none">
            <a:spAutoFit/>
          </a:bodyPr>
          <a:lstStyle/>
          <a:p>
            <a:pPr algn="ctr">
              <a:defRPr sz="3200" b="1">
                <a:solidFill>
                  <a:srgbClr val="007BC0"/>
                </a:solidFill>
              </a:defRPr>
            </a:pPr>
            <a:r>
              <a:t>15</a:t>
            </a:r>
          </a:p>
        </p:txBody>
      </p:sp>
      <p:sp>
        <p:nvSpPr>
          <p:cNvPr id="29" name="TextBox 28"/>
          <p:cNvSpPr txBox="1"/>
          <p:nvPr/>
        </p:nvSpPr>
        <p:spPr>
          <a:xfrm>
            <a:off x="914400" y="5669280"/>
            <a:ext cx="2286000" cy="274320"/>
          </a:xfrm>
          <a:prstGeom prst="rect">
            <a:avLst/>
          </a:prstGeom>
          <a:noFill/>
        </p:spPr>
        <p:txBody>
          <a:bodyPr wrap="none">
            <a:spAutoFit/>
          </a:bodyPr>
          <a:lstStyle/>
          <a:p>
            <a:pPr algn="ctr">
              <a:defRPr sz="1200">
                <a:solidFill>
                  <a:srgbClr val="6C757D"/>
                </a:solidFill>
              </a:defRPr>
            </a:pPr>
            <a:r>
              <a:t>Statewide</a:t>
            </a:r>
          </a:p>
        </p:txBody>
      </p:sp>
      <p:sp>
        <p:nvSpPr>
          <p:cNvPr id="30" name="Rounded Rectangle 29"/>
          <p:cNvSpPr/>
          <p:nvPr/>
        </p:nvSpPr>
        <p:spPr>
          <a:xfrm>
            <a:off x="3657600" y="5029200"/>
            <a:ext cx="2286000" cy="1097280"/>
          </a:xfrm>
          <a:prstGeom prst="roundRect">
            <a:avLst>
              <a:gd name="adj" fmla="val 15000"/>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657600" y="5120640"/>
            <a:ext cx="2286000" cy="548640"/>
          </a:xfrm>
          <a:prstGeom prst="rect">
            <a:avLst/>
          </a:prstGeom>
          <a:noFill/>
        </p:spPr>
        <p:txBody>
          <a:bodyPr wrap="none">
            <a:spAutoFit/>
          </a:bodyPr>
          <a:lstStyle/>
          <a:p>
            <a:pPr algn="ctr">
              <a:defRPr sz="3200" b="1">
                <a:solidFill>
                  <a:srgbClr val="007BC0"/>
                </a:solidFill>
              </a:defRPr>
            </a:pPr>
            <a:r>
              <a:t>50</a:t>
            </a:r>
          </a:p>
        </p:txBody>
      </p:sp>
      <p:sp>
        <p:nvSpPr>
          <p:cNvPr id="32" name="TextBox 31"/>
          <p:cNvSpPr txBox="1"/>
          <p:nvPr/>
        </p:nvSpPr>
        <p:spPr>
          <a:xfrm>
            <a:off x="3657600" y="5669280"/>
            <a:ext cx="2286000" cy="274320"/>
          </a:xfrm>
          <a:prstGeom prst="rect">
            <a:avLst/>
          </a:prstGeom>
          <a:noFill/>
        </p:spPr>
        <p:txBody>
          <a:bodyPr wrap="none">
            <a:spAutoFit/>
          </a:bodyPr>
          <a:lstStyle/>
          <a:p>
            <a:pPr algn="ctr">
              <a:defRPr sz="1200">
                <a:solidFill>
                  <a:srgbClr val="6C757D"/>
                </a:solidFill>
              </a:defRPr>
            </a:pPr>
            <a:r>
              <a:t>Congress</a:t>
            </a:r>
          </a:p>
        </p:txBody>
      </p:sp>
      <p:sp>
        <p:nvSpPr>
          <p:cNvPr id="33" name="Rounded Rectangle 32"/>
          <p:cNvSpPr/>
          <p:nvPr/>
        </p:nvSpPr>
        <p:spPr>
          <a:xfrm>
            <a:off x="6400800" y="5029200"/>
            <a:ext cx="2286000" cy="1097280"/>
          </a:xfrm>
          <a:prstGeom prst="roundRect">
            <a:avLst>
              <a:gd name="adj" fmla="val 15000"/>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400800" y="5120640"/>
            <a:ext cx="2286000" cy="548640"/>
          </a:xfrm>
          <a:prstGeom prst="rect">
            <a:avLst/>
          </a:prstGeom>
          <a:noFill/>
        </p:spPr>
        <p:txBody>
          <a:bodyPr wrap="none">
            <a:spAutoFit/>
          </a:bodyPr>
          <a:lstStyle/>
          <a:p>
            <a:pPr algn="ctr">
              <a:defRPr sz="3200" b="1">
                <a:solidFill>
                  <a:srgbClr val="007BC0"/>
                </a:solidFill>
              </a:defRPr>
            </a:pPr>
            <a:r>
              <a:t>110</a:t>
            </a:r>
          </a:p>
        </p:txBody>
      </p:sp>
      <p:sp>
        <p:nvSpPr>
          <p:cNvPr id="35" name="TextBox 34"/>
          <p:cNvSpPr txBox="1"/>
          <p:nvPr/>
        </p:nvSpPr>
        <p:spPr>
          <a:xfrm>
            <a:off x="6400800" y="5669280"/>
            <a:ext cx="2286000" cy="274320"/>
          </a:xfrm>
          <a:prstGeom prst="rect">
            <a:avLst/>
          </a:prstGeom>
          <a:noFill/>
        </p:spPr>
        <p:txBody>
          <a:bodyPr wrap="none">
            <a:spAutoFit/>
          </a:bodyPr>
          <a:lstStyle/>
          <a:p>
            <a:pPr algn="ctr">
              <a:defRPr sz="1200">
                <a:solidFill>
                  <a:srgbClr val="6C757D"/>
                </a:solidFill>
              </a:defRPr>
            </a:pPr>
            <a:r>
              <a:t>Local</a:t>
            </a:r>
          </a:p>
        </p:txBody>
      </p:sp>
      <p:sp>
        <p:nvSpPr>
          <p:cNvPr id="36" name="Rounded Rectangle 35"/>
          <p:cNvSpPr/>
          <p:nvPr/>
        </p:nvSpPr>
        <p:spPr>
          <a:xfrm>
            <a:off x="9144000" y="5029200"/>
            <a:ext cx="2286000" cy="1097280"/>
          </a:xfrm>
          <a:prstGeom prst="roundRect">
            <a:avLst>
              <a:gd name="adj" fmla="val 15000"/>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144000" y="5120640"/>
            <a:ext cx="2286000" cy="548640"/>
          </a:xfrm>
          <a:prstGeom prst="rect">
            <a:avLst/>
          </a:prstGeom>
          <a:noFill/>
        </p:spPr>
        <p:txBody>
          <a:bodyPr wrap="none">
            <a:spAutoFit/>
          </a:bodyPr>
          <a:lstStyle/>
          <a:p>
            <a:pPr algn="ctr">
              <a:defRPr sz="3200" b="1">
                <a:solidFill>
                  <a:srgbClr val="007BC0"/>
                </a:solidFill>
              </a:defRPr>
            </a:pPr>
            <a:r>
              <a:t>25</a:t>
            </a:r>
          </a:p>
        </p:txBody>
      </p:sp>
      <p:sp>
        <p:nvSpPr>
          <p:cNvPr id="38" name="TextBox 37"/>
          <p:cNvSpPr txBox="1"/>
          <p:nvPr/>
        </p:nvSpPr>
        <p:spPr>
          <a:xfrm>
            <a:off x="9144000" y="5669280"/>
            <a:ext cx="2286000" cy="274320"/>
          </a:xfrm>
          <a:prstGeom prst="rect">
            <a:avLst/>
          </a:prstGeom>
          <a:noFill/>
        </p:spPr>
        <p:txBody>
          <a:bodyPr wrap="none">
            <a:spAutoFit/>
          </a:bodyPr>
          <a:lstStyle/>
          <a:p>
            <a:pPr algn="ctr">
              <a:defRPr sz="1200">
                <a:solidFill>
                  <a:srgbClr val="6C757D"/>
                </a:solidFill>
              </a:defRPr>
            </a:pPr>
            <a:r>
              <a:t>Other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77295" cy="731520"/>
          </a:xfrm>
          <a:prstGeom prst="rect">
            <a:avLst/>
          </a:prstGeom>
          <a:noFill/>
        </p:spPr>
        <p:txBody>
          <a:bodyPr wrap="none">
            <a:spAutoFit/>
          </a:bodyPr>
          <a:lstStyle/>
          <a:p>
            <a:pPr>
              <a:defRPr sz="4000" b="1">
                <a:solidFill>
                  <a:srgbClr val="1A365D"/>
                </a:solidFill>
              </a:defRPr>
            </a:pPr>
            <a:r>
              <a:t>First Mover in Progressive AI Monitoring</a:t>
            </a:r>
          </a:p>
        </p:txBody>
      </p:sp>
      <p:sp>
        <p:nvSpPr>
          <p:cNvPr id="3" name="TextBox 2"/>
          <p:cNvSpPr txBox="1"/>
          <p:nvPr/>
        </p:nvSpPr>
        <p:spPr>
          <a:xfrm>
            <a:off x="731520" y="1188720"/>
            <a:ext cx="2286000" cy="731520"/>
          </a:xfrm>
          <a:prstGeom prst="rect">
            <a:avLst/>
          </a:prstGeom>
          <a:noFill/>
        </p:spPr>
        <p:txBody>
          <a:bodyPr wrap="none">
            <a:spAutoFit/>
          </a:bodyPr>
          <a:lstStyle/>
          <a:p>
            <a:pPr algn="ctr">
              <a:defRPr sz="1200" b="1">
                <a:solidFill>
                  <a:srgbClr val="1A365D"/>
                </a:solidFill>
              </a:defRPr>
            </a:pPr>
          </a:p>
        </p:txBody>
      </p:sp>
      <p:sp>
        <p:nvSpPr>
          <p:cNvPr id="4" name="TextBox 3"/>
          <p:cNvSpPr txBox="1"/>
          <p:nvPr/>
        </p:nvSpPr>
        <p:spPr>
          <a:xfrm>
            <a:off x="2560320" y="1188720"/>
            <a:ext cx="1645920" cy="731520"/>
          </a:xfrm>
          <a:prstGeom prst="rect">
            <a:avLst/>
          </a:prstGeom>
          <a:noFill/>
        </p:spPr>
        <p:txBody>
          <a:bodyPr wrap="none">
            <a:spAutoFit/>
          </a:bodyPr>
          <a:lstStyle/>
          <a:p>
            <a:pPr algn="ctr">
              <a:defRPr sz="1200" b="1">
                <a:solidFill>
                  <a:srgbClr val="1A365D"/>
                </a:solidFill>
              </a:defRPr>
            </a:pPr>
            <a:r>
              <a:t>Political</a:t>
            </a:r>
            <a:br/>
            <a:r>
              <a:t>Context</a:t>
            </a:r>
          </a:p>
        </p:txBody>
      </p:sp>
      <p:sp>
        <p:nvSpPr>
          <p:cNvPr id="5" name="TextBox 4"/>
          <p:cNvSpPr txBox="1"/>
          <p:nvPr/>
        </p:nvSpPr>
        <p:spPr>
          <a:xfrm>
            <a:off x="4389120" y="1188720"/>
            <a:ext cx="1645920" cy="731520"/>
          </a:xfrm>
          <a:prstGeom prst="rect">
            <a:avLst/>
          </a:prstGeom>
          <a:noFill/>
        </p:spPr>
        <p:txBody>
          <a:bodyPr wrap="none">
            <a:spAutoFit/>
          </a:bodyPr>
          <a:lstStyle/>
          <a:p>
            <a:pPr algn="ctr">
              <a:defRPr sz="1200" b="1">
                <a:solidFill>
                  <a:srgbClr val="1A365D"/>
                </a:solidFill>
              </a:defRPr>
            </a:pPr>
            <a:r>
              <a:t>AI-</a:t>
            </a:r>
            <a:br/>
            <a:r>
              <a:t>Native</a:t>
            </a:r>
          </a:p>
        </p:txBody>
      </p:sp>
      <p:sp>
        <p:nvSpPr>
          <p:cNvPr id="6" name="TextBox 5"/>
          <p:cNvSpPr txBox="1"/>
          <p:nvPr/>
        </p:nvSpPr>
        <p:spPr>
          <a:xfrm>
            <a:off x="6217920" y="1188720"/>
            <a:ext cx="1645920" cy="731520"/>
          </a:xfrm>
          <a:prstGeom prst="rect">
            <a:avLst/>
          </a:prstGeom>
          <a:noFill/>
        </p:spPr>
        <p:txBody>
          <a:bodyPr wrap="none">
            <a:spAutoFit/>
          </a:bodyPr>
          <a:lstStyle/>
          <a:p>
            <a:pPr algn="ctr">
              <a:defRPr sz="1200" b="1">
                <a:solidFill>
                  <a:srgbClr val="1A365D"/>
                </a:solidFill>
              </a:defRPr>
            </a:pPr>
            <a:r>
              <a:t>Root</a:t>
            </a:r>
            <a:br/>
            <a:r>
              <a:t>Causes</a:t>
            </a:r>
          </a:p>
        </p:txBody>
      </p:sp>
      <p:sp>
        <p:nvSpPr>
          <p:cNvPr id="7" name="TextBox 6"/>
          <p:cNvSpPr txBox="1"/>
          <p:nvPr/>
        </p:nvSpPr>
        <p:spPr>
          <a:xfrm>
            <a:off x="8046720" y="1188720"/>
            <a:ext cx="1645920" cy="731520"/>
          </a:xfrm>
          <a:prstGeom prst="rect">
            <a:avLst/>
          </a:prstGeom>
          <a:noFill/>
        </p:spPr>
        <p:txBody>
          <a:bodyPr wrap="none">
            <a:spAutoFit/>
          </a:bodyPr>
          <a:lstStyle/>
          <a:p>
            <a:pPr algn="ctr">
              <a:defRPr sz="1200" b="1">
                <a:solidFill>
                  <a:srgbClr val="1A365D"/>
                </a:solidFill>
              </a:defRPr>
            </a:pPr>
            <a:r>
              <a:t>Actionable</a:t>
            </a:r>
            <a:br/>
            <a:r>
              <a:t>Fixes</a:t>
            </a:r>
          </a:p>
        </p:txBody>
      </p:sp>
      <p:sp>
        <p:nvSpPr>
          <p:cNvPr id="8" name="TextBox 7"/>
          <p:cNvSpPr txBox="1"/>
          <p:nvPr/>
        </p:nvSpPr>
        <p:spPr>
          <a:xfrm>
            <a:off x="9875520" y="1188720"/>
            <a:ext cx="1645920" cy="731520"/>
          </a:xfrm>
          <a:prstGeom prst="rect">
            <a:avLst/>
          </a:prstGeom>
          <a:noFill/>
        </p:spPr>
        <p:txBody>
          <a:bodyPr wrap="none">
            <a:spAutoFit/>
          </a:bodyPr>
          <a:lstStyle/>
          <a:p>
            <a:pPr algn="ctr">
              <a:defRPr sz="1200" b="1">
                <a:solidFill>
                  <a:srgbClr val="1A365D"/>
                </a:solidFill>
              </a:defRPr>
            </a:pPr>
            <a:r>
              <a:t>Progressive</a:t>
            </a:r>
            <a:br/>
            <a:r>
              <a:t>Only</a:t>
            </a:r>
          </a:p>
        </p:txBody>
      </p:sp>
      <p:sp>
        <p:nvSpPr>
          <p:cNvPr id="9" name="TextBox 8"/>
          <p:cNvSpPr txBox="1"/>
          <p:nvPr/>
        </p:nvSpPr>
        <p:spPr>
          <a:xfrm>
            <a:off x="731520" y="2057400"/>
            <a:ext cx="2286000" cy="548640"/>
          </a:xfrm>
          <a:prstGeom prst="rect">
            <a:avLst/>
          </a:prstGeom>
          <a:noFill/>
        </p:spPr>
        <p:txBody>
          <a:bodyPr wrap="none">
            <a:spAutoFit/>
          </a:bodyPr>
          <a:lstStyle/>
          <a:p>
            <a:pPr>
              <a:defRPr sz="1600" b="0">
                <a:solidFill>
                  <a:srgbClr val="6C757D"/>
                </a:solidFill>
              </a:defRPr>
            </a:pPr>
            <a:r>
              <a:t>SEMrush / Ahrefs</a:t>
            </a:r>
          </a:p>
        </p:txBody>
      </p:sp>
      <p:sp>
        <p:nvSpPr>
          <p:cNvPr id="10" name="TextBox 9"/>
          <p:cNvSpPr txBox="1"/>
          <p:nvPr/>
        </p:nvSpPr>
        <p:spPr>
          <a:xfrm>
            <a:off x="3017520" y="2011680"/>
            <a:ext cx="1645920" cy="548640"/>
          </a:xfrm>
          <a:prstGeom prst="rect">
            <a:avLst/>
          </a:prstGeom>
          <a:noFill/>
        </p:spPr>
        <p:txBody>
          <a:bodyPr wrap="none">
            <a:spAutoFit/>
          </a:bodyPr>
          <a:lstStyle/>
          <a:p>
            <a:pPr algn="ctr">
              <a:defRPr sz="2400">
                <a:solidFill>
                  <a:srgbClr val="CCCCCC"/>
                </a:solidFill>
              </a:defRPr>
            </a:pPr>
            <a:r>
              <a:t>❌</a:t>
            </a:r>
          </a:p>
        </p:txBody>
      </p:sp>
      <p:sp>
        <p:nvSpPr>
          <p:cNvPr id="11" name="TextBox 10"/>
          <p:cNvSpPr txBox="1"/>
          <p:nvPr/>
        </p:nvSpPr>
        <p:spPr>
          <a:xfrm>
            <a:off x="4846320" y="2011680"/>
            <a:ext cx="1645920" cy="548640"/>
          </a:xfrm>
          <a:prstGeom prst="rect">
            <a:avLst/>
          </a:prstGeom>
          <a:noFill/>
        </p:spPr>
        <p:txBody>
          <a:bodyPr wrap="none">
            <a:spAutoFit/>
          </a:bodyPr>
          <a:lstStyle/>
          <a:p>
            <a:pPr algn="ctr">
              <a:defRPr sz="2400">
                <a:solidFill>
                  <a:srgbClr val="CCCCCC"/>
                </a:solidFill>
              </a:defRPr>
            </a:pPr>
            <a:r>
              <a:t>❌</a:t>
            </a:r>
          </a:p>
        </p:txBody>
      </p:sp>
      <p:sp>
        <p:nvSpPr>
          <p:cNvPr id="12" name="TextBox 11"/>
          <p:cNvSpPr txBox="1"/>
          <p:nvPr/>
        </p:nvSpPr>
        <p:spPr>
          <a:xfrm>
            <a:off x="6675120" y="2011680"/>
            <a:ext cx="1645920" cy="548640"/>
          </a:xfrm>
          <a:prstGeom prst="rect">
            <a:avLst/>
          </a:prstGeom>
          <a:noFill/>
        </p:spPr>
        <p:txBody>
          <a:bodyPr wrap="none">
            <a:spAutoFit/>
          </a:bodyPr>
          <a:lstStyle/>
          <a:p>
            <a:pPr algn="ctr">
              <a:defRPr sz="2400">
                <a:solidFill>
                  <a:srgbClr val="CCCCCC"/>
                </a:solidFill>
              </a:defRPr>
            </a:pPr>
            <a:r>
              <a:t>❌</a:t>
            </a:r>
          </a:p>
        </p:txBody>
      </p:sp>
      <p:sp>
        <p:nvSpPr>
          <p:cNvPr id="13" name="TextBox 12"/>
          <p:cNvSpPr txBox="1"/>
          <p:nvPr/>
        </p:nvSpPr>
        <p:spPr>
          <a:xfrm>
            <a:off x="8503920" y="2011680"/>
            <a:ext cx="1645920" cy="548640"/>
          </a:xfrm>
          <a:prstGeom prst="rect">
            <a:avLst/>
          </a:prstGeom>
          <a:noFill/>
        </p:spPr>
        <p:txBody>
          <a:bodyPr wrap="none">
            <a:spAutoFit/>
          </a:bodyPr>
          <a:lstStyle/>
          <a:p>
            <a:pPr algn="ctr">
              <a:defRPr sz="2400">
                <a:solidFill>
                  <a:srgbClr val="CCCCCC"/>
                </a:solidFill>
              </a:defRPr>
            </a:pPr>
            <a:r>
              <a:t>❌</a:t>
            </a:r>
          </a:p>
        </p:txBody>
      </p:sp>
      <p:sp>
        <p:nvSpPr>
          <p:cNvPr id="14" name="TextBox 13"/>
          <p:cNvSpPr txBox="1"/>
          <p:nvPr/>
        </p:nvSpPr>
        <p:spPr>
          <a:xfrm>
            <a:off x="10332720" y="2011680"/>
            <a:ext cx="1645920" cy="548640"/>
          </a:xfrm>
          <a:prstGeom prst="rect">
            <a:avLst/>
          </a:prstGeom>
          <a:noFill/>
        </p:spPr>
        <p:txBody>
          <a:bodyPr wrap="none">
            <a:spAutoFit/>
          </a:bodyPr>
          <a:lstStyle/>
          <a:p>
            <a:pPr algn="ctr">
              <a:defRPr sz="2400">
                <a:solidFill>
                  <a:srgbClr val="CCCCCC"/>
                </a:solidFill>
              </a:defRPr>
            </a:pPr>
            <a:r>
              <a:t>❌</a:t>
            </a:r>
          </a:p>
        </p:txBody>
      </p:sp>
      <p:sp>
        <p:nvSpPr>
          <p:cNvPr id="15" name="TextBox 14"/>
          <p:cNvSpPr txBox="1"/>
          <p:nvPr/>
        </p:nvSpPr>
        <p:spPr>
          <a:xfrm>
            <a:off x="731520" y="3063240"/>
            <a:ext cx="2286000" cy="548640"/>
          </a:xfrm>
          <a:prstGeom prst="rect">
            <a:avLst/>
          </a:prstGeom>
          <a:noFill/>
        </p:spPr>
        <p:txBody>
          <a:bodyPr wrap="none">
            <a:spAutoFit/>
          </a:bodyPr>
          <a:lstStyle/>
          <a:p>
            <a:pPr>
              <a:defRPr sz="1600" b="0">
                <a:solidFill>
                  <a:srgbClr val="6C757D"/>
                </a:solidFill>
              </a:defRPr>
            </a:pPr>
            <a:r>
              <a:t>AI Monitoring Tools</a:t>
            </a:r>
          </a:p>
        </p:txBody>
      </p:sp>
      <p:sp>
        <p:nvSpPr>
          <p:cNvPr id="16" name="TextBox 15"/>
          <p:cNvSpPr txBox="1"/>
          <p:nvPr/>
        </p:nvSpPr>
        <p:spPr>
          <a:xfrm>
            <a:off x="3017520" y="3017520"/>
            <a:ext cx="1645920" cy="548640"/>
          </a:xfrm>
          <a:prstGeom prst="rect">
            <a:avLst/>
          </a:prstGeom>
          <a:noFill/>
        </p:spPr>
        <p:txBody>
          <a:bodyPr wrap="none">
            <a:spAutoFit/>
          </a:bodyPr>
          <a:lstStyle/>
          <a:p>
            <a:pPr algn="ctr">
              <a:defRPr sz="2400">
                <a:solidFill>
                  <a:srgbClr val="CCCCCC"/>
                </a:solidFill>
              </a:defRPr>
            </a:pPr>
            <a:r>
              <a:t>❌</a:t>
            </a:r>
          </a:p>
        </p:txBody>
      </p:sp>
      <p:sp>
        <p:nvSpPr>
          <p:cNvPr id="17" name="TextBox 16"/>
          <p:cNvSpPr txBox="1"/>
          <p:nvPr/>
        </p:nvSpPr>
        <p:spPr>
          <a:xfrm>
            <a:off x="4846320" y="3017520"/>
            <a:ext cx="1645920" cy="548640"/>
          </a:xfrm>
          <a:prstGeom prst="rect">
            <a:avLst/>
          </a:prstGeom>
          <a:noFill/>
        </p:spPr>
        <p:txBody>
          <a:bodyPr wrap="none">
            <a:spAutoFit/>
          </a:bodyPr>
          <a:lstStyle/>
          <a:p>
            <a:pPr algn="ctr">
              <a:defRPr sz="2400">
                <a:solidFill>
                  <a:srgbClr val="2ECC71"/>
                </a:solidFill>
              </a:defRPr>
            </a:pPr>
            <a:r>
              <a:t>✓</a:t>
            </a:r>
          </a:p>
        </p:txBody>
      </p:sp>
      <p:sp>
        <p:nvSpPr>
          <p:cNvPr id="18" name="TextBox 17"/>
          <p:cNvSpPr txBox="1"/>
          <p:nvPr/>
        </p:nvSpPr>
        <p:spPr>
          <a:xfrm>
            <a:off x="6675120" y="3017520"/>
            <a:ext cx="1645920" cy="548640"/>
          </a:xfrm>
          <a:prstGeom prst="rect">
            <a:avLst/>
          </a:prstGeom>
          <a:noFill/>
        </p:spPr>
        <p:txBody>
          <a:bodyPr wrap="none">
            <a:spAutoFit/>
          </a:bodyPr>
          <a:lstStyle/>
          <a:p>
            <a:pPr algn="ctr">
              <a:defRPr sz="2400">
                <a:solidFill>
                  <a:srgbClr val="CCCCCC"/>
                </a:solidFill>
              </a:defRPr>
            </a:pPr>
            <a:r>
              <a:t>❌</a:t>
            </a:r>
          </a:p>
        </p:txBody>
      </p:sp>
      <p:sp>
        <p:nvSpPr>
          <p:cNvPr id="19" name="TextBox 18"/>
          <p:cNvSpPr txBox="1"/>
          <p:nvPr/>
        </p:nvSpPr>
        <p:spPr>
          <a:xfrm>
            <a:off x="8503920" y="3017520"/>
            <a:ext cx="1645920" cy="548640"/>
          </a:xfrm>
          <a:prstGeom prst="rect">
            <a:avLst/>
          </a:prstGeom>
          <a:noFill/>
        </p:spPr>
        <p:txBody>
          <a:bodyPr wrap="none">
            <a:spAutoFit/>
          </a:bodyPr>
          <a:lstStyle/>
          <a:p>
            <a:pPr algn="ctr">
              <a:defRPr sz="2400">
                <a:solidFill>
                  <a:srgbClr val="CCCCCC"/>
                </a:solidFill>
              </a:defRPr>
            </a:pPr>
            <a:r>
              <a:t>❌</a:t>
            </a:r>
          </a:p>
        </p:txBody>
      </p:sp>
      <p:sp>
        <p:nvSpPr>
          <p:cNvPr id="20" name="TextBox 19"/>
          <p:cNvSpPr txBox="1"/>
          <p:nvPr/>
        </p:nvSpPr>
        <p:spPr>
          <a:xfrm>
            <a:off x="10332720" y="3017520"/>
            <a:ext cx="1645920" cy="548640"/>
          </a:xfrm>
          <a:prstGeom prst="rect">
            <a:avLst/>
          </a:prstGeom>
          <a:noFill/>
        </p:spPr>
        <p:txBody>
          <a:bodyPr wrap="none">
            <a:spAutoFit/>
          </a:bodyPr>
          <a:lstStyle/>
          <a:p>
            <a:pPr algn="ctr">
              <a:defRPr sz="2400">
                <a:solidFill>
                  <a:srgbClr val="CCCCCC"/>
                </a:solidFill>
              </a:defRPr>
            </a:pPr>
            <a:r>
              <a:t>❌</a:t>
            </a:r>
          </a:p>
        </p:txBody>
      </p:sp>
      <p:sp>
        <p:nvSpPr>
          <p:cNvPr id="21" name="TextBox 20"/>
          <p:cNvSpPr txBox="1"/>
          <p:nvPr/>
        </p:nvSpPr>
        <p:spPr>
          <a:xfrm>
            <a:off x="731520" y="4069080"/>
            <a:ext cx="2286000" cy="548640"/>
          </a:xfrm>
          <a:prstGeom prst="rect">
            <a:avLst/>
          </a:prstGeom>
          <a:noFill/>
        </p:spPr>
        <p:txBody>
          <a:bodyPr wrap="none">
            <a:spAutoFit/>
          </a:bodyPr>
          <a:lstStyle/>
          <a:p>
            <a:pPr>
              <a:defRPr sz="1600" b="0">
                <a:solidFill>
                  <a:srgbClr val="6C757D"/>
                </a:solidFill>
              </a:defRPr>
            </a:pPr>
            <a:r>
              <a:t>NGP VAN / Catalist</a:t>
            </a:r>
          </a:p>
        </p:txBody>
      </p:sp>
      <p:sp>
        <p:nvSpPr>
          <p:cNvPr id="22" name="TextBox 21"/>
          <p:cNvSpPr txBox="1"/>
          <p:nvPr/>
        </p:nvSpPr>
        <p:spPr>
          <a:xfrm>
            <a:off x="3017520" y="4023360"/>
            <a:ext cx="1645920" cy="548640"/>
          </a:xfrm>
          <a:prstGeom prst="rect">
            <a:avLst/>
          </a:prstGeom>
          <a:noFill/>
        </p:spPr>
        <p:txBody>
          <a:bodyPr wrap="none">
            <a:spAutoFit/>
          </a:bodyPr>
          <a:lstStyle/>
          <a:p>
            <a:pPr algn="ctr">
              <a:defRPr sz="2400">
                <a:solidFill>
                  <a:srgbClr val="2ECC71"/>
                </a:solidFill>
              </a:defRPr>
            </a:pPr>
            <a:r>
              <a:t>✓</a:t>
            </a:r>
          </a:p>
        </p:txBody>
      </p:sp>
      <p:sp>
        <p:nvSpPr>
          <p:cNvPr id="23" name="TextBox 22"/>
          <p:cNvSpPr txBox="1"/>
          <p:nvPr/>
        </p:nvSpPr>
        <p:spPr>
          <a:xfrm>
            <a:off x="4846320" y="4023360"/>
            <a:ext cx="1645920" cy="548640"/>
          </a:xfrm>
          <a:prstGeom prst="rect">
            <a:avLst/>
          </a:prstGeom>
          <a:noFill/>
        </p:spPr>
        <p:txBody>
          <a:bodyPr wrap="none">
            <a:spAutoFit/>
          </a:bodyPr>
          <a:lstStyle/>
          <a:p>
            <a:pPr algn="ctr">
              <a:defRPr sz="2400">
                <a:solidFill>
                  <a:srgbClr val="CCCCCC"/>
                </a:solidFill>
              </a:defRPr>
            </a:pPr>
            <a:r>
              <a:t>❌</a:t>
            </a:r>
          </a:p>
        </p:txBody>
      </p:sp>
      <p:sp>
        <p:nvSpPr>
          <p:cNvPr id="24" name="TextBox 23"/>
          <p:cNvSpPr txBox="1"/>
          <p:nvPr/>
        </p:nvSpPr>
        <p:spPr>
          <a:xfrm>
            <a:off x="6675120" y="4023360"/>
            <a:ext cx="1645920" cy="548640"/>
          </a:xfrm>
          <a:prstGeom prst="rect">
            <a:avLst/>
          </a:prstGeom>
          <a:noFill/>
        </p:spPr>
        <p:txBody>
          <a:bodyPr wrap="none">
            <a:spAutoFit/>
          </a:bodyPr>
          <a:lstStyle/>
          <a:p>
            <a:pPr algn="ctr">
              <a:defRPr sz="2400">
                <a:solidFill>
                  <a:srgbClr val="CCCCCC"/>
                </a:solidFill>
              </a:defRPr>
            </a:pPr>
            <a:r>
              <a:t>❌</a:t>
            </a:r>
          </a:p>
        </p:txBody>
      </p:sp>
      <p:sp>
        <p:nvSpPr>
          <p:cNvPr id="25" name="TextBox 24"/>
          <p:cNvSpPr txBox="1"/>
          <p:nvPr/>
        </p:nvSpPr>
        <p:spPr>
          <a:xfrm>
            <a:off x="8503920" y="4023360"/>
            <a:ext cx="1645920" cy="548640"/>
          </a:xfrm>
          <a:prstGeom prst="rect">
            <a:avLst/>
          </a:prstGeom>
          <a:noFill/>
        </p:spPr>
        <p:txBody>
          <a:bodyPr wrap="none">
            <a:spAutoFit/>
          </a:bodyPr>
          <a:lstStyle/>
          <a:p>
            <a:pPr algn="ctr">
              <a:defRPr sz="2400">
                <a:solidFill>
                  <a:srgbClr val="CCCCCC"/>
                </a:solidFill>
              </a:defRPr>
            </a:pPr>
            <a:r>
              <a:t>❌</a:t>
            </a:r>
          </a:p>
        </p:txBody>
      </p:sp>
      <p:sp>
        <p:nvSpPr>
          <p:cNvPr id="26" name="TextBox 25"/>
          <p:cNvSpPr txBox="1"/>
          <p:nvPr/>
        </p:nvSpPr>
        <p:spPr>
          <a:xfrm>
            <a:off x="10332720" y="4023360"/>
            <a:ext cx="1645920" cy="548640"/>
          </a:xfrm>
          <a:prstGeom prst="rect">
            <a:avLst/>
          </a:prstGeom>
          <a:noFill/>
        </p:spPr>
        <p:txBody>
          <a:bodyPr wrap="none">
            <a:spAutoFit/>
          </a:bodyPr>
          <a:lstStyle/>
          <a:p>
            <a:pPr algn="ctr">
              <a:defRPr sz="2400">
                <a:solidFill>
                  <a:srgbClr val="2ECC71"/>
                </a:solidFill>
              </a:defRPr>
            </a:pPr>
            <a:r>
              <a:t>✓</a:t>
            </a:r>
          </a:p>
        </p:txBody>
      </p:sp>
      <p:sp>
        <p:nvSpPr>
          <p:cNvPr id="27" name="Rounded Rectangle 26"/>
          <p:cNvSpPr/>
          <p:nvPr/>
        </p:nvSpPr>
        <p:spPr>
          <a:xfrm>
            <a:off x="548640" y="4846320"/>
            <a:ext cx="11155680" cy="914400"/>
          </a:xfrm>
          <a:prstGeom prst="roundRect">
            <a:avLst>
              <a:gd name="adj" fmla="val 15000"/>
            </a:avLst>
          </a:prstGeom>
          <a:solidFill>
            <a:srgbClr val="E3F2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31520" y="5074920"/>
            <a:ext cx="2286000" cy="548640"/>
          </a:xfrm>
          <a:prstGeom prst="rect">
            <a:avLst/>
          </a:prstGeom>
          <a:noFill/>
        </p:spPr>
        <p:txBody>
          <a:bodyPr wrap="none">
            <a:spAutoFit/>
          </a:bodyPr>
          <a:lstStyle/>
          <a:p>
            <a:pPr>
              <a:defRPr sz="1600" b="1">
                <a:solidFill>
                  <a:srgbClr val="007BC0"/>
                </a:solidFill>
              </a:defRPr>
            </a:pPr>
            <a:r>
              <a:t>KYANOS</a:t>
            </a:r>
          </a:p>
        </p:txBody>
      </p:sp>
      <p:sp>
        <p:nvSpPr>
          <p:cNvPr id="29" name="TextBox 28"/>
          <p:cNvSpPr txBox="1"/>
          <p:nvPr/>
        </p:nvSpPr>
        <p:spPr>
          <a:xfrm>
            <a:off x="3017520" y="5029200"/>
            <a:ext cx="1645920" cy="548640"/>
          </a:xfrm>
          <a:prstGeom prst="rect">
            <a:avLst/>
          </a:prstGeom>
          <a:noFill/>
        </p:spPr>
        <p:txBody>
          <a:bodyPr wrap="none">
            <a:spAutoFit/>
          </a:bodyPr>
          <a:lstStyle/>
          <a:p>
            <a:pPr algn="ctr">
              <a:defRPr sz="2400">
                <a:solidFill>
                  <a:srgbClr val="2ECC71"/>
                </a:solidFill>
              </a:defRPr>
            </a:pPr>
            <a:r>
              <a:t>✓</a:t>
            </a:r>
          </a:p>
        </p:txBody>
      </p:sp>
      <p:sp>
        <p:nvSpPr>
          <p:cNvPr id="30" name="TextBox 29"/>
          <p:cNvSpPr txBox="1"/>
          <p:nvPr/>
        </p:nvSpPr>
        <p:spPr>
          <a:xfrm>
            <a:off x="4846320" y="5029200"/>
            <a:ext cx="1645920" cy="548640"/>
          </a:xfrm>
          <a:prstGeom prst="rect">
            <a:avLst/>
          </a:prstGeom>
          <a:noFill/>
        </p:spPr>
        <p:txBody>
          <a:bodyPr wrap="none">
            <a:spAutoFit/>
          </a:bodyPr>
          <a:lstStyle/>
          <a:p>
            <a:pPr algn="ctr">
              <a:defRPr sz="2400">
                <a:solidFill>
                  <a:srgbClr val="2ECC71"/>
                </a:solidFill>
              </a:defRPr>
            </a:pPr>
            <a:r>
              <a:t>✓</a:t>
            </a:r>
          </a:p>
        </p:txBody>
      </p:sp>
      <p:sp>
        <p:nvSpPr>
          <p:cNvPr id="31" name="TextBox 30"/>
          <p:cNvSpPr txBox="1"/>
          <p:nvPr/>
        </p:nvSpPr>
        <p:spPr>
          <a:xfrm>
            <a:off x="6675120" y="5029200"/>
            <a:ext cx="1645920" cy="548640"/>
          </a:xfrm>
          <a:prstGeom prst="rect">
            <a:avLst/>
          </a:prstGeom>
          <a:noFill/>
        </p:spPr>
        <p:txBody>
          <a:bodyPr wrap="none">
            <a:spAutoFit/>
          </a:bodyPr>
          <a:lstStyle/>
          <a:p>
            <a:pPr algn="ctr">
              <a:defRPr sz="2400">
                <a:solidFill>
                  <a:srgbClr val="2ECC71"/>
                </a:solidFill>
              </a:defRPr>
            </a:pPr>
            <a:r>
              <a:t>✓</a:t>
            </a:r>
          </a:p>
        </p:txBody>
      </p:sp>
      <p:sp>
        <p:nvSpPr>
          <p:cNvPr id="32" name="TextBox 31"/>
          <p:cNvSpPr txBox="1"/>
          <p:nvPr/>
        </p:nvSpPr>
        <p:spPr>
          <a:xfrm>
            <a:off x="8503920" y="5029200"/>
            <a:ext cx="1645920" cy="548640"/>
          </a:xfrm>
          <a:prstGeom prst="rect">
            <a:avLst/>
          </a:prstGeom>
          <a:noFill/>
        </p:spPr>
        <p:txBody>
          <a:bodyPr wrap="none">
            <a:spAutoFit/>
          </a:bodyPr>
          <a:lstStyle/>
          <a:p>
            <a:pPr algn="ctr">
              <a:defRPr sz="2400">
                <a:solidFill>
                  <a:srgbClr val="2ECC71"/>
                </a:solidFill>
              </a:defRPr>
            </a:pPr>
            <a:r>
              <a:t>✓</a:t>
            </a:r>
          </a:p>
        </p:txBody>
      </p:sp>
      <p:sp>
        <p:nvSpPr>
          <p:cNvPr id="33" name="TextBox 32"/>
          <p:cNvSpPr txBox="1"/>
          <p:nvPr/>
        </p:nvSpPr>
        <p:spPr>
          <a:xfrm>
            <a:off x="10332720" y="5029200"/>
            <a:ext cx="1645920" cy="548640"/>
          </a:xfrm>
          <a:prstGeom prst="rect">
            <a:avLst/>
          </a:prstGeom>
          <a:noFill/>
        </p:spPr>
        <p:txBody>
          <a:bodyPr wrap="none">
            <a:spAutoFit/>
          </a:bodyPr>
          <a:lstStyle/>
          <a:p>
            <a:pPr algn="ctr">
              <a:defRPr sz="2400">
                <a:solidFill>
                  <a:srgbClr val="2ECC71"/>
                </a:solidFill>
              </a:defRPr>
            </a:pPr>
            <a:r>
              <a:t>✓</a:t>
            </a:r>
          </a:p>
        </p:txBody>
      </p:sp>
      <p:sp>
        <p:nvSpPr>
          <p:cNvPr id="34" name="Rounded Rectangle 33"/>
          <p:cNvSpPr/>
          <p:nvPr/>
        </p:nvSpPr>
        <p:spPr>
          <a:xfrm>
            <a:off x="731520" y="5303520"/>
            <a:ext cx="10789920" cy="1097280"/>
          </a:xfrm>
          <a:prstGeom prst="roundRect">
            <a:avLst>
              <a:gd name="adj" fmla="val 10000"/>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31520" y="5486400"/>
            <a:ext cx="10789920" cy="365760"/>
          </a:xfrm>
          <a:prstGeom prst="rect">
            <a:avLst/>
          </a:prstGeom>
          <a:noFill/>
        </p:spPr>
        <p:txBody>
          <a:bodyPr wrap="none">
            <a:spAutoFit/>
          </a:bodyPr>
          <a:lstStyle/>
          <a:p>
            <a:pPr algn="ctr">
              <a:defRPr sz="1400" b="1">
                <a:solidFill>
                  <a:srgbClr val="BBDEFB"/>
                </a:solidFill>
              </a:defRPr>
            </a:pPr>
            <a:r>
              <a:t>NETWORK EFFECTS</a:t>
            </a:r>
          </a:p>
        </p:txBody>
      </p:sp>
      <p:sp>
        <p:nvSpPr>
          <p:cNvPr id="36" name="TextBox 35"/>
          <p:cNvSpPr txBox="1"/>
          <p:nvPr/>
        </p:nvSpPr>
        <p:spPr>
          <a:xfrm>
            <a:off x="731520" y="5806440"/>
            <a:ext cx="10789920" cy="457200"/>
          </a:xfrm>
          <a:prstGeom prst="rect">
            <a:avLst/>
          </a:prstGeom>
          <a:noFill/>
        </p:spPr>
        <p:txBody>
          <a:bodyPr wrap="none">
            <a:spAutoFit/>
          </a:bodyPr>
          <a:lstStyle/>
          <a:p>
            <a:pPr algn="ctr">
              <a:defRPr sz="1800">
                <a:solidFill>
                  <a:srgbClr val="FFFFFF"/>
                </a:solidFill>
              </a:defRPr>
            </a:pPr>
            <a:r>
              <a:t>More campaigns → Better intelligence → Stronger platform accountability evidence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77295" cy="731520"/>
          </a:xfrm>
          <a:prstGeom prst="rect">
            <a:avLst/>
          </a:prstGeom>
          <a:noFill/>
        </p:spPr>
        <p:txBody>
          <a:bodyPr wrap="none">
            <a:spAutoFit/>
          </a:bodyPr>
          <a:lstStyle/>
          <a:p>
            <a:pPr>
              <a:defRPr sz="4000" b="1">
                <a:solidFill>
                  <a:srgbClr val="1A365D"/>
                </a:solidFill>
              </a:defRPr>
            </a:pPr>
            <a:r>
              <a:t>Built for Permanence</a:t>
            </a:r>
          </a:p>
        </p:txBody>
      </p:sp>
      <p:sp>
        <p:nvSpPr>
          <p:cNvPr id="3" name="Rounded Rectangle 2"/>
          <p:cNvSpPr/>
          <p:nvPr/>
        </p:nvSpPr>
        <p:spPr>
          <a:xfrm>
            <a:off x="731520" y="1097280"/>
            <a:ext cx="4572000" cy="2286000"/>
          </a:xfrm>
          <a:prstGeom prst="roundRect">
            <a:avLst>
              <a:gd name="adj" fmla="val 8000"/>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097280" y="1371600"/>
            <a:ext cx="1371600" cy="1371600"/>
          </a:xfrm>
          <a:prstGeom prst="ellipse">
            <a:avLst/>
          </a:prstGeom>
          <a:solidFill>
            <a:srgbClr val="4AB8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97280" y="1828800"/>
            <a:ext cx="1371600" cy="548640"/>
          </a:xfrm>
          <a:prstGeom prst="rect">
            <a:avLst/>
          </a:prstGeom>
          <a:noFill/>
        </p:spPr>
        <p:txBody>
          <a:bodyPr wrap="none">
            <a:spAutoFit/>
          </a:bodyPr>
          <a:lstStyle/>
          <a:p>
            <a:pPr algn="ctr">
              <a:defRPr sz="3200" b="1">
                <a:solidFill>
                  <a:srgbClr val="FFFFFF"/>
                </a:solidFill>
              </a:defRPr>
            </a:pPr>
            <a:r>
              <a:t>EF</a:t>
            </a:r>
          </a:p>
        </p:txBody>
      </p:sp>
      <p:sp>
        <p:nvSpPr>
          <p:cNvPr id="6" name="TextBox 5"/>
          <p:cNvSpPr txBox="1"/>
          <p:nvPr/>
        </p:nvSpPr>
        <p:spPr>
          <a:xfrm>
            <a:off x="2743200" y="1371600"/>
            <a:ext cx="2286000" cy="365760"/>
          </a:xfrm>
          <a:prstGeom prst="rect">
            <a:avLst/>
          </a:prstGeom>
          <a:noFill/>
        </p:spPr>
        <p:txBody>
          <a:bodyPr wrap="none">
            <a:spAutoFit/>
          </a:bodyPr>
          <a:lstStyle/>
          <a:p>
            <a:pPr>
              <a:defRPr sz="2000" b="1">
                <a:solidFill>
                  <a:srgbClr val="1A365D"/>
                </a:solidFill>
              </a:defRPr>
            </a:pPr>
            <a:r>
              <a:t>Ed Forman</a:t>
            </a:r>
          </a:p>
        </p:txBody>
      </p:sp>
      <p:sp>
        <p:nvSpPr>
          <p:cNvPr id="7" name="TextBox 6"/>
          <p:cNvSpPr txBox="1"/>
          <p:nvPr/>
        </p:nvSpPr>
        <p:spPr>
          <a:xfrm>
            <a:off x="2743200" y="1737360"/>
            <a:ext cx="2286000" cy="274320"/>
          </a:xfrm>
          <a:prstGeom prst="rect">
            <a:avLst/>
          </a:prstGeom>
          <a:noFill/>
        </p:spPr>
        <p:txBody>
          <a:bodyPr wrap="none">
            <a:spAutoFit/>
          </a:bodyPr>
          <a:lstStyle/>
          <a:p>
            <a:pPr>
              <a:defRPr sz="1400">
                <a:solidFill>
                  <a:srgbClr val="007BC0"/>
                </a:solidFill>
              </a:defRPr>
            </a:pPr>
            <a:r>
              <a:t>Founder &amp; Architect</a:t>
            </a:r>
          </a:p>
        </p:txBody>
      </p:sp>
      <p:sp>
        <p:nvSpPr>
          <p:cNvPr id="8" name="TextBox 7"/>
          <p:cNvSpPr txBox="1"/>
          <p:nvPr/>
        </p:nvSpPr>
        <p:spPr>
          <a:xfrm>
            <a:off x="2743200" y="2194560"/>
            <a:ext cx="2286000" cy="274320"/>
          </a:xfrm>
          <a:prstGeom prst="rect">
            <a:avLst/>
          </a:prstGeom>
          <a:noFill/>
        </p:spPr>
        <p:txBody>
          <a:bodyPr wrap="none">
            <a:spAutoFit/>
          </a:bodyPr>
          <a:lstStyle/>
          <a:p>
            <a:pPr>
              <a:defRPr sz="1200">
                <a:solidFill>
                  <a:srgbClr val="6C757D"/>
                </a:solidFill>
              </a:defRPr>
            </a:pPr>
            <a:r>
              <a:t>• 35 years Silicon Valley</a:t>
            </a:r>
          </a:p>
        </p:txBody>
      </p:sp>
      <p:sp>
        <p:nvSpPr>
          <p:cNvPr id="9" name="TextBox 8"/>
          <p:cNvSpPr txBox="1"/>
          <p:nvPr/>
        </p:nvSpPr>
        <p:spPr>
          <a:xfrm>
            <a:off x="2743200" y="2560320"/>
            <a:ext cx="2286000" cy="274320"/>
          </a:xfrm>
          <a:prstGeom prst="rect">
            <a:avLst/>
          </a:prstGeom>
          <a:noFill/>
        </p:spPr>
        <p:txBody>
          <a:bodyPr wrap="none">
            <a:spAutoFit/>
          </a:bodyPr>
          <a:lstStyle/>
          <a:p>
            <a:pPr>
              <a:defRPr sz="1200">
                <a:solidFill>
                  <a:srgbClr val="6C757D"/>
                </a:solidFill>
              </a:defRPr>
            </a:pPr>
            <a:r>
              <a:t>• 11 startups (early employee)</a:t>
            </a:r>
          </a:p>
        </p:txBody>
      </p:sp>
      <p:sp>
        <p:nvSpPr>
          <p:cNvPr id="10" name="TextBox 9"/>
          <p:cNvSpPr txBox="1"/>
          <p:nvPr/>
        </p:nvSpPr>
        <p:spPr>
          <a:xfrm>
            <a:off x="2743200" y="2926080"/>
            <a:ext cx="2286000" cy="274320"/>
          </a:xfrm>
          <a:prstGeom prst="rect">
            <a:avLst/>
          </a:prstGeom>
          <a:noFill/>
        </p:spPr>
        <p:txBody>
          <a:bodyPr wrap="none">
            <a:spAutoFit/>
          </a:bodyPr>
          <a:lstStyle/>
          <a:p>
            <a:pPr>
              <a:defRPr sz="1200">
                <a:solidFill>
                  <a:srgbClr val="6C757D"/>
                </a:solidFill>
              </a:defRPr>
            </a:pPr>
            <a:r>
              <a:t>• Stanford MBA, taught there</a:t>
            </a:r>
          </a:p>
        </p:txBody>
      </p:sp>
      <p:sp>
        <p:nvSpPr>
          <p:cNvPr id="11" name="TextBox 10"/>
          <p:cNvSpPr txBox="1"/>
          <p:nvPr/>
        </p:nvSpPr>
        <p:spPr>
          <a:xfrm>
            <a:off x="5760720" y="1097280"/>
            <a:ext cx="5669280" cy="365760"/>
          </a:xfrm>
          <a:prstGeom prst="rect">
            <a:avLst/>
          </a:prstGeom>
          <a:noFill/>
        </p:spPr>
        <p:txBody>
          <a:bodyPr wrap="none">
            <a:spAutoFit/>
          </a:bodyPr>
          <a:lstStyle/>
          <a:p>
            <a:pPr>
              <a:defRPr sz="1600" b="1">
                <a:solidFill>
                  <a:srgbClr val="1A365D"/>
                </a:solidFill>
              </a:defRPr>
            </a:pPr>
            <a:r>
              <a:t>LAUNCH TEAM (Q2 2026)</a:t>
            </a:r>
          </a:p>
        </p:txBody>
      </p:sp>
      <p:sp>
        <p:nvSpPr>
          <p:cNvPr id="12" name="Rounded Rectangle 11"/>
          <p:cNvSpPr/>
          <p:nvPr/>
        </p:nvSpPr>
        <p:spPr>
          <a:xfrm>
            <a:off x="5760720" y="1554480"/>
            <a:ext cx="1737360" cy="1005840"/>
          </a:xfrm>
          <a:prstGeom prst="roundRect">
            <a:avLst>
              <a:gd name="adj" fmla="val 15000"/>
            </a:avLst>
          </a:prstGeom>
          <a:solidFill>
            <a:srgbClr val="E3F2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760720" y="1691639"/>
            <a:ext cx="1737360" cy="365760"/>
          </a:xfrm>
          <a:prstGeom prst="rect">
            <a:avLst/>
          </a:prstGeom>
          <a:noFill/>
        </p:spPr>
        <p:txBody>
          <a:bodyPr wrap="none">
            <a:spAutoFit/>
          </a:bodyPr>
          <a:lstStyle/>
          <a:p>
            <a:pPr algn="ctr">
              <a:defRPr sz="1400" b="1">
                <a:solidFill>
                  <a:srgbClr val="1A365D"/>
                </a:solidFill>
              </a:defRPr>
            </a:pPr>
            <a:r>
              <a:t>CEO</a:t>
            </a:r>
          </a:p>
        </p:txBody>
      </p:sp>
      <p:sp>
        <p:nvSpPr>
          <p:cNvPr id="14" name="TextBox 13"/>
          <p:cNvSpPr txBox="1"/>
          <p:nvPr/>
        </p:nvSpPr>
        <p:spPr>
          <a:xfrm>
            <a:off x="5760720" y="2057400"/>
            <a:ext cx="1737360" cy="365760"/>
          </a:xfrm>
          <a:prstGeom prst="rect">
            <a:avLst/>
          </a:prstGeom>
          <a:noFill/>
        </p:spPr>
        <p:txBody>
          <a:bodyPr wrap="none">
            <a:spAutoFit/>
          </a:bodyPr>
          <a:lstStyle/>
          <a:p>
            <a:pPr algn="ctr">
              <a:defRPr sz="1000">
                <a:solidFill>
                  <a:srgbClr val="6C757D"/>
                </a:solidFill>
              </a:defRPr>
            </a:pPr>
            <a:r>
              <a:t>Strategy &amp; fundraising</a:t>
            </a:r>
          </a:p>
        </p:txBody>
      </p:sp>
      <p:sp>
        <p:nvSpPr>
          <p:cNvPr id="15" name="Rounded Rectangle 14"/>
          <p:cNvSpPr/>
          <p:nvPr/>
        </p:nvSpPr>
        <p:spPr>
          <a:xfrm>
            <a:off x="7680960" y="1554480"/>
            <a:ext cx="1737360" cy="1005840"/>
          </a:xfrm>
          <a:prstGeom prst="roundRect">
            <a:avLst>
              <a:gd name="adj" fmla="val 15000"/>
            </a:avLst>
          </a:prstGeom>
          <a:solidFill>
            <a:srgbClr val="E3F2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680960" y="1691639"/>
            <a:ext cx="1737360" cy="365760"/>
          </a:xfrm>
          <a:prstGeom prst="rect">
            <a:avLst/>
          </a:prstGeom>
          <a:noFill/>
        </p:spPr>
        <p:txBody>
          <a:bodyPr wrap="none">
            <a:spAutoFit/>
          </a:bodyPr>
          <a:lstStyle/>
          <a:p>
            <a:pPr algn="ctr">
              <a:defRPr sz="1400" b="1">
                <a:solidFill>
                  <a:srgbClr val="1A365D"/>
                </a:solidFill>
              </a:defRPr>
            </a:pPr>
            <a:r>
              <a:t>Tech Lead</a:t>
            </a:r>
          </a:p>
        </p:txBody>
      </p:sp>
      <p:sp>
        <p:nvSpPr>
          <p:cNvPr id="17" name="TextBox 16"/>
          <p:cNvSpPr txBox="1"/>
          <p:nvPr/>
        </p:nvSpPr>
        <p:spPr>
          <a:xfrm>
            <a:off x="7680960" y="2057400"/>
            <a:ext cx="1737360" cy="365760"/>
          </a:xfrm>
          <a:prstGeom prst="rect">
            <a:avLst/>
          </a:prstGeom>
          <a:noFill/>
        </p:spPr>
        <p:txBody>
          <a:bodyPr wrap="none">
            <a:spAutoFit/>
          </a:bodyPr>
          <a:lstStyle/>
          <a:p>
            <a:pPr algn="ctr">
              <a:defRPr sz="1000">
                <a:solidFill>
                  <a:srgbClr val="6C757D"/>
                </a:solidFill>
              </a:defRPr>
            </a:pPr>
            <a:r>
              <a:t>Bentham infrastructure</a:t>
            </a:r>
          </a:p>
        </p:txBody>
      </p:sp>
      <p:sp>
        <p:nvSpPr>
          <p:cNvPr id="18" name="Rounded Rectangle 17"/>
          <p:cNvSpPr/>
          <p:nvPr/>
        </p:nvSpPr>
        <p:spPr>
          <a:xfrm>
            <a:off x="9601200" y="1554480"/>
            <a:ext cx="1737360" cy="1005840"/>
          </a:xfrm>
          <a:prstGeom prst="roundRect">
            <a:avLst>
              <a:gd name="adj" fmla="val 15000"/>
            </a:avLst>
          </a:prstGeom>
          <a:solidFill>
            <a:srgbClr val="E3F2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601200" y="1691639"/>
            <a:ext cx="1737360" cy="365760"/>
          </a:xfrm>
          <a:prstGeom prst="rect">
            <a:avLst/>
          </a:prstGeom>
          <a:noFill/>
        </p:spPr>
        <p:txBody>
          <a:bodyPr wrap="none">
            <a:spAutoFit/>
          </a:bodyPr>
          <a:lstStyle/>
          <a:p>
            <a:pPr algn="ctr">
              <a:defRPr sz="1400" b="1">
                <a:solidFill>
                  <a:srgbClr val="1A365D"/>
                </a:solidFill>
              </a:defRPr>
            </a:pPr>
            <a:r>
              <a:t>Research Dir</a:t>
            </a:r>
          </a:p>
        </p:txBody>
      </p:sp>
      <p:sp>
        <p:nvSpPr>
          <p:cNvPr id="20" name="TextBox 19"/>
          <p:cNvSpPr txBox="1"/>
          <p:nvPr/>
        </p:nvSpPr>
        <p:spPr>
          <a:xfrm>
            <a:off x="9601200" y="2057400"/>
            <a:ext cx="1737360" cy="365760"/>
          </a:xfrm>
          <a:prstGeom prst="rect">
            <a:avLst/>
          </a:prstGeom>
          <a:noFill/>
        </p:spPr>
        <p:txBody>
          <a:bodyPr wrap="none">
            <a:spAutoFit/>
          </a:bodyPr>
          <a:lstStyle/>
          <a:p>
            <a:pPr algn="ctr">
              <a:defRPr sz="1000">
                <a:solidFill>
                  <a:srgbClr val="6C757D"/>
                </a:solidFill>
              </a:defRPr>
            </a:pPr>
            <a:r>
              <a:t>Methodology &amp; quality</a:t>
            </a:r>
          </a:p>
        </p:txBody>
      </p:sp>
      <p:sp>
        <p:nvSpPr>
          <p:cNvPr id="21" name="Rounded Rectangle 20"/>
          <p:cNvSpPr/>
          <p:nvPr/>
        </p:nvSpPr>
        <p:spPr>
          <a:xfrm>
            <a:off x="5760720" y="2743200"/>
            <a:ext cx="1737360" cy="1005840"/>
          </a:xfrm>
          <a:prstGeom prst="roundRect">
            <a:avLst>
              <a:gd name="adj" fmla="val 15000"/>
            </a:avLst>
          </a:prstGeom>
          <a:solidFill>
            <a:srgbClr val="E3F2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60720" y="2880360"/>
            <a:ext cx="1737360" cy="365760"/>
          </a:xfrm>
          <a:prstGeom prst="rect">
            <a:avLst/>
          </a:prstGeom>
          <a:noFill/>
        </p:spPr>
        <p:txBody>
          <a:bodyPr wrap="none">
            <a:spAutoFit/>
          </a:bodyPr>
          <a:lstStyle/>
          <a:p>
            <a:pPr algn="ctr">
              <a:defRPr sz="1400" b="1">
                <a:solidFill>
                  <a:srgbClr val="1A365D"/>
                </a:solidFill>
              </a:defRPr>
            </a:pPr>
            <a:r>
              <a:t>Ops Manager</a:t>
            </a:r>
          </a:p>
        </p:txBody>
      </p:sp>
      <p:sp>
        <p:nvSpPr>
          <p:cNvPr id="23" name="TextBox 22"/>
          <p:cNvSpPr txBox="1"/>
          <p:nvPr/>
        </p:nvSpPr>
        <p:spPr>
          <a:xfrm>
            <a:off x="5760720" y="3246120"/>
            <a:ext cx="1737360" cy="365760"/>
          </a:xfrm>
          <a:prstGeom prst="rect">
            <a:avLst/>
          </a:prstGeom>
          <a:noFill/>
        </p:spPr>
        <p:txBody>
          <a:bodyPr wrap="none">
            <a:spAutoFit/>
          </a:bodyPr>
          <a:lstStyle/>
          <a:p>
            <a:pPr algn="ctr">
              <a:defRPr sz="1000">
                <a:solidFill>
                  <a:srgbClr val="6C757D"/>
                </a:solidFill>
              </a:defRPr>
            </a:pPr>
            <a:r>
              <a:t>Client delivery</a:t>
            </a:r>
          </a:p>
        </p:txBody>
      </p:sp>
      <p:sp>
        <p:nvSpPr>
          <p:cNvPr id="24" name="Rounded Rectangle 23"/>
          <p:cNvSpPr/>
          <p:nvPr/>
        </p:nvSpPr>
        <p:spPr>
          <a:xfrm>
            <a:off x="7680960" y="2743200"/>
            <a:ext cx="1737360" cy="1005840"/>
          </a:xfrm>
          <a:prstGeom prst="roundRect">
            <a:avLst>
              <a:gd name="adj" fmla="val 15000"/>
            </a:avLst>
          </a:prstGeom>
          <a:solidFill>
            <a:srgbClr val="E3F2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680960" y="2880360"/>
            <a:ext cx="1737360" cy="365760"/>
          </a:xfrm>
          <a:prstGeom prst="rect">
            <a:avLst/>
          </a:prstGeom>
          <a:noFill/>
        </p:spPr>
        <p:txBody>
          <a:bodyPr wrap="none">
            <a:spAutoFit/>
          </a:bodyPr>
          <a:lstStyle/>
          <a:p>
            <a:pPr algn="ctr">
              <a:defRPr sz="1400" b="1">
                <a:solidFill>
                  <a:srgbClr val="1A365D"/>
                </a:solidFill>
              </a:defRPr>
            </a:pPr>
            <a:r>
              <a:t>Marketing</a:t>
            </a:r>
          </a:p>
        </p:txBody>
      </p:sp>
      <p:sp>
        <p:nvSpPr>
          <p:cNvPr id="26" name="TextBox 25"/>
          <p:cNvSpPr txBox="1"/>
          <p:nvPr/>
        </p:nvSpPr>
        <p:spPr>
          <a:xfrm>
            <a:off x="7680960" y="3246120"/>
            <a:ext cx="1737360" cy="365760"/>
          </a:xfrm>
          <a:prstGeom prst="rect">
            <a:avLst/>
          </a:prstGeom>
          <a:noFill/>
        </p:spPr>
        <p:txBody>
          <a:bodyPr wrap="none">
            <a:spAutoFit/>
          </a:bodyPr>
          <a:lstStyle/>
          <a:p>
            <a:pPr algn="ctr">
              <a:defRPr sz="1000">
                <a:solidFill>
                  <a:srgbClr val="6C757D"/>
                </a:solidFill>
              </a:defRPr>
            </a:pPr>
            <a:r>
              <a:t>Partnerships &amp; sales</a:t>
            </a:r>
          </a:p>
        </p:txBody>
      </p:sp>
      <p:sp>
        <p:nvSpPr>
          <p:cNvPr id="27" name="Rounded Rectangle 26"/>
          <p:cNvSpPr/>
          <p:nvPr/>
        </p:nvSpPr>
        <p:spPr>
          <a:xfrm>
            <a:off x="731520" y="3840480"/>
            <a:ext cx="10789920" cy="2286000"/>
          </a:xfrm>
          <a:prstGeom prst="roundRect">
            <a:avLst>
              <a:gd name="adj" fmla="val 5000"/>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31520" y="4023360"/>
            <a:ext cx="10789920" cy="365760"/>
          </a:xfrm>
          <a:prstGeom prst="rect">
            <a:avLst/>
          </a:prstGeom>
          <a:noFill/>
        </p:spPr>
        <p:txBody>
          <a:bodyPr wrap="none">
            <a:spAutoFit/>
          </a:bodyPr>
          <a:lstStyle/>
          <a:p>
            <a:pPr algn="ctr">
              <a:defRPr sz="1600" b="1">
                <a:solidFill>
                  <a:srgbClr val="1A365D"/>
                </a:solidFill>
              </a:defRPr>
            </a:pPr>
            <a:r>
              <a:t>BOARD OF TRUSTEES</a:t>
            </a:r>
          </a:p>
        </p:txBody>
      </p:sp>
      <p:sp>
        <p:nvSpPr>
          <p:cNvPr id="29" name="Rounded Rectangle 28"/>
          <p:cNvSpPr/>
          <p:nvPr/>
        </p:nvSpPr>
        <p:spPr>
          <a:xfrm>
            <a:off x="1097280" y="4572000"/>
            <a:ext cx="2286000" cy="1280160"/>
          </a:xfrm>
          <a:prstGeom prst="roundRect">
            <a:avLst>
              <a:gd name="adj" fmla="val 10000"/>
            </a:avLst>
          </a:prstGeom>
          <a:solidFill>
            <a:srgbClr val="FFFFFF"/>
          </a:solidFill>
          <a:ln w="25400">
            <a:solidFill>
              <a:srgbClr val="007BC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97280" y="4709160"/>
            <a:ext cx="2286000" cy="640080"/>
          </a:xfrm>
          <a:prstGeom prst="rect">
            <a:avLst/>
          </a:prstGeom>
          <a:noFill/>
        </p:spPr>
        <p:txBody>
          <a:bodyPr wrap="none">
            <a:spAutoFit/>
          </a:bodyPr>
          <a:lstStyle/>
          <a:p>
            <a:pPr algn="ctr">
              <a:defRPr sz="1400" b="1">
                <a:solidFill>
                  <a:srgbClr val="1A365D"/>
                </a:solidFill>
              </a:defRPr>
            </a:pPr>
            <a:r>
              <a:t>Progressive</a:t>
            </a:r>
            <a:br/>
            <a:r>
              <a:t>Leaders</a:t>
            </a:r>
          </a:p>
        </p:txBody>
      </p:sp>
      <p:sp>
        <p:nvSpPr>
          <p:cNvPr id="31" name="TextBox 30"/>
          <p:cNvSpPr txBox="1"/>
          <p:nvPr/>
        </p:nvSpPr>
        <p:spPr>
          <a:xfrm>
            <a:off x="1097280" y="5349240"/>
            <a:ext cx="2286000" cy="274320"/>
          </a:xfrm>
          <a:prstGeom prst="rect">
            <a:avLst/>
          </a:prstGeom>
          <a:noFill/>
        </p:spPr>
        <p:txBody>
          <a:bodyPr wrap="none">
            <a:spAutoFit/>
          </a:bodyPr>
          <a:lstStyle/>
          <a:p>
            <a:pPr algn="ctr">
              <a:defRPr sz="1100">
                <a:solidFill>
                  <a:srgbClr val="6C757D"/>
                </a:solidFill>
              </a:defRPr>
            </a:pPr>
            <a:r>
              <a:t>Mission fidelity</a:t>
            </a:r>
          </a:p>
        </p:txBody>
      </p:sp>
      <p:sp>
        <p:nvSpPr>
          <p:cNvPr id="32" name="Rounded Rectangle 31"/>
          <p:cNvSpPr/>
          <p:nvPr/>
        </p:nvSpPr>
        <p:spPr>
          <a:xfrm>
            <a:off x="3840480" y="4572000"/>
            <a:ext cx="2286000" cy="1280160"/>
          </a:xfrm>
          <a:prstGeom prst="roundRect">
            <a:avLst>
              <a:gd name="adj" fmla="val 10000"/>
            </a:avLst>
          </a:prstGeom>
          <a:solidFill>
            <a:srgbClr val="FFFFFF"/>
          </a:solidFill>
          <a:ln w="25400">
            <a:solidFill>
              <a:srgbClr val="007BC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3840480" y="4709160"/>
            <a:ext cx="2286000" cy="640080"/>
          </a:xfrm>
          <a:prstGeom prst="rect">
            <a:avLst/>
          </a:prstGeom>
          <a:noFill/>
        </p:spPr>
        <p:txBody>
          <a:bodyPr wrap="none">
            <a:spAutoFit/>
          </a:bodyPr>
          <a:lstStyle/>
          <a:p>
            <a:pPr algn="ctr">
              <a:defRPr sz="1400" b="1">
                <a:solidFill>
                  <a:srgbClr val="1A365D"/>
                </a:solidFill>
              </a:defRPr>
            </a:pPr>
            <a:r>
              <a:t>Foundation</a:t>
            </a:r>
            <a:br/>
            <a:r>
              <a:t>Reps</a:t>
            </a:r>
          </a:p>
        </p:txBody>
      </p:sp>
      <p:sp>
        <p:nvSpPr>
          <p:cNvPr id="34" name="TextBox 33"/>
          <p:cNvSpPr txBox="1"/>
          <p:nvPr/>
        </p:nvSpPr>
        <p:spPr>
          <a:xfrm>
            <a:off x="3840480" y="5349240"/>
            <a:ext cx="2286000" cy="274320"/>
          </a:xfrm>
          <a:prstGeom prst="rect">
            <a:avLst/>
          </a:prstGeom>
          <a:noFill/>
        </p:spPr>
        <p:txBody>
          <a:bodyPr wrap="none">
            <a:spAutoFit/>
          </a:bodyPr>
          <a:lstStyle/>
          <a:p>
            <a:pPr algn="ctr">
              <a:defRPr sz="1100">
                <a:solidFill>
                  <a:srgbClr val="6C757D"/>
                </a:solidFill>
              </a:defRPr>
            </a:pPr>
            <a:r>
              <a:t>Major funder seats</a:t>
            </a:r>
          </a:p>
        </p:txBody>
      </p:sp>
      <p:sp>
        <p:nvSpPr>
          <p:cNvPr id="35" name="Rounded Rectangle 34"/>
          <p:cNvSpPr/>
          <p:nvPr/>
        </p:nvSpPr>
        <p:spPr>
          <a:xfrm>
            <a:off x="6583680" y="4572000"/>
            <a:ext cx="2286000" cy="1280160"/>
          </a:xfrm>
          <a:prstGeom prst="roundRect">
            <a:avLst>
              <a:gd name="adj" fmla="val 10000"/>
            </a:avLst>
          </a:prstGeom>
          <a:solidFill>
            <a:srgbClr val="FFFFFF"/>
          </a:solidFill>
          <a:ln w="25400">
            <a:solidFill>
              <a:srgbClr val="007BC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583680" y="4709160"/>
            <a:ext cx="2286000" cy="640080"/>
          </a:xfrm>
          <a:prstGeom prst="rect">
            <a:avLst/>
          </a:prstGeom>
          <a:noFill/>
        </p:spPr>
        <p:txBody>
          <a:bodyPr wrap="none">
            <a:spAutoFit/>
          </a:bodyPr>
          <a:lstStyle/>
          <a:p>
            <a:pPr algn="ctr">
              <a:defRPr sz="1400" b="1">
                <a:solidFill>
                  <a:srgbClr val="1A365D"/>
                </a:solidFill>
              </a:defRPr>
            </a:pPr>
            <a:r>
              <a:t>Labor</a:t>
            </a:r>
            <a:br/>
            <a:r>
              <a:t>Reps</a:t>
            </a:r>
          </a:p>
        </p:txBody>
      </p:sp>
      <p:sp>
        <p:nvSpPr>
          <p:cNvPr id="37" name="TextBox 36"/>
          <p:cNvSpPr txBox="1"/>
          <p:nvPr/>
        </p:nvSpPr>
        <p:spPr>
          <a:xfrm>
            <a:off x="6583680" y="5349240"/>
            <a:ext cx="2286000" cy="274320"/>
          </a:xfrm>
          <a:prstGeom prst="rect">
            <a:avLst/>
          </a:prstGeom>
          <a:noFill/>
        </p:spPr>
        <p:txBody>
          <a:bodyPr wrap="none">
            <a:spAutoFit/>
          </a:bodyPr>
          <a:lstStyle/>
          <a:p>
            <a:pPr algn="ctr">
              <a:defRPr sz="1100">
                <a:solidFill>
                  <a:srgbClr val="6C757D"/>
                </a:solidFill>
              </a:defRPr>
            </a:pPr>
            <a:r>
              <a:t>Union alignment</a:t>
            </a:r>
          </a:p>
        </p:txBody>
      </p:sp>
      <p:sp>
        <p:nvSpPr>
          <p:cNvPr id="38" name="Rounded Rectangle 37"/>
          <p:cNvSpPr/>
          <p:nvPr/>
        </p:nvSpPr>
        <p:spPr>
          <a:xfrm>
            <a:off x="9326880" y="4572000"/>
            <a:ext cx="2286000" cy="1280160"/>
          </a:xfrm>
          <a:prstGeom prst="roundRect">
            <a:avLst>
              <a:gd name="adj" fmla="val 10000"/>
            </a:avLst>
          </a:prstGeom>
          <a:solidFill>
            <a:srgbClr val="FFFFFF"/>
          </a:solidFill>
          <a:ln w="25400">
            <a:solidFill>
              <a:srgbClr val="007BC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9326880" y="4709160"/>
            <a:ext cx="2286000" cy="640080"/>
          </a:xfrm>
          <a:prstGeom prst="rect">
            <a:avLst/>
          </a:prstGeom>
          <a:noFill/>
        </p:spPr>
        <p:txBody>
          <a:bodyPr wrap="none">
            <a:spAutoFit/>
          </a:bodyPr>
          <a:lstStyle/>
          <a:p>
            <a:pPr algn="ctr">
              <a:defRPr sz="1400" b="1">
                <a:solidFill>
                  <a:srgbClr val="1A365D"/>
                </a:solidFill>
              </a:defRPr>
            </a:pPr>
            <a:r>
              <a:t>Independent</a:t>
            </a:r>
            <a:br/>
            <a:r>
              <a:t>Expert</a:t>
            </a:r>
          </a:p>
        </p:txBody>
      </p:sp>
      <p:sp>
        <p:nvSpPr>
          <p:cNvPr id="40" name="TextBox 39"/>
          <p:cNvSpPr txBox="1"/>
          <p:nvPr/>
        </p:nvSpPr>
        <p:spPr>
          <a:xfrm>
            <a:off x="9326880" y="5349240"/>
            <a:ext cx="2286000" cy="274320"/>
          </a:xfrm>
          <a:prstGeom prst="rect">
            <a:avLst/>
          </a:prstGeom>
          <a:noFill/>
        </p:spPr>
        <p:txBody>
          <a:bodyPr wrap="none">
            <a:spAutoFit/>
          </a:bodyPr>
          <a:lstStyle/>
          <a:p>
            <a:pPr algn="ctr">
              <a:defRPr sz="1100">
                <a:solidFill>
                  <a:srgbClr val="6C757D"/>
                </a:solidFill>
              </a:defRPr>
            </a:pPr>
            <a:r>
              <a:t>Tech/political</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77295" cy="731520"/>
          </a:xfrm>
          <a:prstGeom prst="rect">
            <a:avLst/>
          </a:prstGeom>
          <a:noFill/>
        </p:spPr>
        <p:txBody>
          <a:bodyPr wrap="none">
            <a:spAutoFit/>
          </a:bodyPr>
          <a:lstStyle/>
          <a:p>
            <a:pPr>
              <a:defRPr sz="4000" b="1">
                <a:solidFill>
                  <a:srgbClr val="1A365D"/>
                </a:solidFill>
              </a:defRPr>
            </a:pPr>
            <a:r>
              <a:t>$1M to Build Progressive AI Infrastructure</a:t>
            </a:r>
          </a:p>
        </p:txBody>
      </p:sp>
      <p:sp>
        <p:nvSpPr>
          <p:cNvPr id="3" name="TextBox 2"/>
          <p:cNvSpPr txBox="1"/>
          <p:nvPr/>
        </p:nvSpPr>
        <p:spPr>
          <a:xfrm>
            <a:off x="457200" y="1097280"/>
            <a:ext cx="4572000" cy="1371600"/>
          </a:xfrm>
          <a:prstGeom prst="rect">
            <a:avLst/>
          </a:prstGeom>
          <a:noFill/>
        </p:spPr>
        <p:txBody>
          <a:bodyPr wrap="none">
            <a:spAutoFit/>
          </a:bodyPr>
          <a:lstStyle/>
          <a:p>
            <a:pPr>
              <a:defRPr sz="6400" b="1">
                <a:solidFill>
                  <a:srgbClr val="007BC0"/>
                </a:solidFill>
              </a:defRPr>
            </a:pPr>
            <a:r>
              <a:t>$1,000,000</a:t>
            </a:r>
          </a:p>
        </p:txBody>
      </p:sp>
      <p:sp>
        <p:nvSpPr>
          <p:cNvPr id="4" name="TextBox 3"/>
          <p:cNvSpPr txBox="1"/>
          <p:nvPr/>
        </p:nvSpPr>
        <p:spPr>
          <a:xfrm>
            <a:off x="457200" y="2377440"/>
            <a:ext cx="4572000" cy="731520"/>
          </a:xfrm>
          <a:prstGeom prst="rect">
            <a:avLst/>
          </a:prstGeom>
          <a:noFill/>
        </p:spPr>
        <p:txBody>
          <a:bodyPr wrap="none">
            <a:spAutoFit/>
          </a:bodyPr>
          <a:lstStyle/>
          <a:p>
            <a:pPr>
              <a:defRPr sz="1600">
                <a:solidFill>
                  <a:srgbClr val="6C757D"/>
                </a:solidFill>
              </a:defRPr>
            </a:pPr>
            <a:r>
              <a:t>Min: $750K  •  Target: $1M  •  Reach: $1.25M</a:t>
            </a:r>
          </a:p>
        </p:txBody>
      </p:sp>
      <p:sp>
        <p:nvSpPr>
          <p:cNvPr id="5" name="TextBox 4"/>
          <p:cNvSpPr txBox="1"/>
          <p:nvPr/>
        </p:nvSpPr>
        <p:spPr>
          <a:xfrm>
            <a:off x="457200" y="2926080"/>
            <a:ext cx="4572000" cy="457200"/>
          </a:xfrm>
          <a:prstGeom prst="rect">
            <a:avLst/>
          </a:prstGeom>
          <a:noFill/>
        </p:spPr>
        <p:txBody>
          <a:bodyPr wrap="none">
            <a:spAutoFit/>
          </a:bodyPr>
          <a:lstStyle/>
          <a:p>
            <a:pPr>
              <a:defRPr sz="1800" b="1">
                <a:solidFill>
                  <a:srgbClr val="FF6B35"/>
                </a:solidFill>
              </a:defRPr>
            </a:pPr>
            <a:r>
              <a:t>📅 Commitments by March 15, 2026</a:t>
            </a:r>
          </a:p>
        </p:txBody>
      </p:sp>
      <p:sp>
        <p:nvSpPr>
          <p:cNvPr id="6" name="TextBox 5"/>
          <p:cNvSpPr txBox="1"/>
          <p:nvPr/>
        </p:nvSpPr>
        <p:spPr>
          <a:xfrm>
            <a:off x="5486400" y="1097280"/>
            <a:ext cx="5943600" cy="365760"/>
          </a:xfrm>
          <a:prstGeom prst="rect">
            <a:avLst/>
          </a:prstGeom>
          <a:noFill/>
        </p:spPr>
        <p:txBody>
          <a:bodyPr wrap="none">
            <a:spAutoFit/>
          </a:bodyPr>
          <a:lstStyle/>
          <a:p>
            <a:pPr>
              <a:defRPr sz="1600" b="1">
                <a:solidFill>
                  <a:srgbClr val="1A365D"/>
                </a:solidFill>
              </a:defRPr>
            </a:pPr>
            <a:r>
              <a:t>USE OF FUNDS</a:t>
            </a:r>
          </a:p>
        </p:txBody>
      </p:sp>
      <p:sp>
        <p:nvSpPr>
          <p:cNvPr id="7" name="Rounded Rectangle 6"/>
          <p:cNvSpPr/>
          <p:nvPr/>
        </p:nvSpPr>
        <p:spPr>
          <a:xfrm>
            <a:off x="5486400" y="1554480"/>
            <a:ext cx="3268980" cy="457200"/>
          </a:xfrm>
          <a:prstGeom prst="roundRect">
            <a:avLst>
              <a:gd name="adj" fmla="val 20000"/>
            </a:avLst>
          </a:prstGeom>
          <a:solidFill>
            <a:srgbClr val="007B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577840" y="1600200"/>
            <a:ext cx="2743200" cy="365760"/>
          </a:xfrm>
          <a:prstGeom prst="rect">
            <a:avLst/>
          </a:prstGeom>
          <a:noFill/>
        </p:spPr>
        <p:txBody>
          <a:bodyPr wrap="none">
            <a:spAutoFit/>
          </a:bodyPr>
          <a:lstStyle/>
          <a:p>
            <a:pPr>
              <a:defRPr sz="1400" b="1">
                <a:solidFill>
                  <a:srgbClr val="FFFFFF"/>
                </a:solidFill>
              </a:defRPr>
            </a:pPr>
            <a:r>
              <a:t>Personnel: $650K</a:t>
            </a:r>
          </a:p>
        </p:txBody>
      </p:sp>
      <p:sp>
        <p:nvSpPr>
          <p:cNvPr id="9" name="TextBox 8"/>
          <p:cNvSpPr txBox="1"/>
          <p:nvPr/>
        </p:nvSpPr>
        <p:spPr>
          <a:xfrm>
            <a:off x="10515600" y="1600200"/>
            <a:ext cx="914400" cy="365760"/>
          </a:xfrm>
          <a:prstGeom prst="rect">
            <a:avLst/>
          </a:prstGeom>
          <a:noFill/>
        </p:spPr>
        <p:txBody>
          <a:bodyPr wrap="none">
            <a:spAutoFit/>
          </a:bodyPr>
          <a:lstStyle/>
          <a:p>
            <a:pPr>
              <a:defRPr sz="1400">
                <a:solidFill>
                  <a:srgbClr val="6C757D"/>
                </a:solidFill>
              </a:defRPr>
            </a:pPr>
            <a:r>
              <a:t>65%</a:t>
            </a:r>
          </a:p>
        </p:txBody>
      </p:sp>
      <p:sp>
        <p:nvSpPr>
          <p:cNvPr id="10" name="Rounded Rectangle 9"/>
          <p:cNvSpPr/>
          <p:nvPr/>
        </p:nvSpPr>
        <p:spPr>
          <a:xfrm>
            <a:off x="5486400" y="2194560"/>
            <a:ext cx="754380" cy="457200"/>
          </a:xfrm>
          <a:prstGeom prst="roundRect">
            <a:avLst>
              <a:gd name="adj" fmla="val 20000"/>
            </a:avLst>
          </a:prstGeom>
          <a:solidFill>
            <a:srgbClr val="4AB8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577840" y="2240279"/>
            <a:ext cx="2743200" cy="365760"/>
          </a:xfrm>
          <a:prstGeom prst="rect">
            <a:avLst/>
          </a:prstGeom>
          <a:noFill/>
        </p:spPr>
        <p:txBody>
          <a:bodyPr wrap="none">
            <a:spAutoFit/>
          </a:bodyPr>
          <a:lstStyle/>
          <a:p>
            <a:pPr>
              <a:defRPr sz="1400" b="1">
                <a:solidFill>
                  <a:srgbClr val="6C757D"/>
                </a:solidFill>
              </a:defRPr>
            </a:pPr>
            <a:r>
              <a:t>Contractors: $150K</a:t>
            </a:r>
          </a:p>
        </p:txBody>
      </p:sp>
      <p:sp>
        <p:nvSpPr>
          <p:cNvPr id="12" name="TextBox 11"/>
          <p:cNvSpPr txBox="1"/>
          <p:nvPr/>
        </p:nvSpPr>
        <p:spPr>
          <a:xfrm>
            <a:off x="10515600" y="2240279"/>
            <a:ext cx="914400" cy="365760"/>
          </a:xfrm>
          <a:prstGeom prst="rect">
            <a:avLst/>
          </a:prstGeom>
          <a:noFill/>
        </p:spPr>
        <p:txBody>
          <a:bodyPr wrap="none">
            <a:spAutoFit/>
          </a:bodyPr>
          <a:lstStyle/>
          <a:p>
            <a:pPr>
              <a:defRPr sz="1400">
                <a:solidFill>
                  <a:srgbClr val="6C757D"/>
                </a:solidFill>
              </a:defRPr>
            </a:pPr>
            <a:r>
              <a:t>15%</a:t>
            </a:r>
          </a:p>
        </p:txBody>
      </p:sp>
      <p:sp>
        <p:nvSpPr>
          <p:cNvPr id="13" name="Rounded Rectangle 12"/>
          <p:cNvSpPr/>
          <p:nvPr/>
        </p:nvSpPr>
        <p:spPr>
          <a:xfrm>
            <a:off x="5486400" y="2834639"/>
            <a:ext cx="251460" cy="457200"/>
          </a:xfrm>
          <a:prstGeom prst="roundRect">
            <a:avLst>
              <a:gd name="adj" fmla="val 20000"/>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577840" y="2880359"/>
            <a:ext cx="2743200" cy="365760"/>
          </a:xfrm>
          <a:prstGeom prst="rect">
            <a:avLst/>
          </a:prstGeom>
          <a:noFill/>
        </p:spPr>
        <p:txBody>
          <a:bodyPr wrap="none">
            <a:spAutoFit/>
          </a:bodyPr>
          <a:lstStyle/>
          <a:p>
            <a:pPr>
              <a:defRPr sz="1400" b="1">
                <a:solidFill>
                  <a:srgbClr val="6C757D"/>
                </a:solidFill>
              </a:defRPr>
            </a:pPr>
            <a:r>
              <a:t>Infrastructure: $48K</a:t>
            </a:r>
          </a:p>
        </p:txBody>
      </p:sp>
      <p:sp>
        <p:nvSpPr>
          <p:cNvPr id="15" name="TextBox 14"/>
          <p:cNvSpPr txBox="1"/>
          <p:nvPr/>
        </p:nvSpPr>
        <p:spPr>
          <a:xfrm>
            <a:off x="10515600" y="2880359"/>
            <a:ext cx="914400" cy="365760"/>
          </a:xfrm>
          <a:prstGeom prst="rect">
            <a:avLst/>
          </a:prstGeom>
          <a:noFill/>
        </p:spPr>
        <p:txBody>
          <a:bodyPr wrap="none">
            <a:spAutoFit/>
          </a:bodyPr>
          <a:lstStyle/>
          <a:p>
            <a:pPr>
              <a:defRPr sz="1400">
                <a:solidFill>
                  <a:srgbClr val="6C757D"/>
                </a:solidFill>
              </a:defRPr>
            </a:pPr>
            <a:r>
              <a:t>5%</a:t>
            </a:r>
          </a:p>
        </p:txBody>
      </p:sp>
      <p:sp>
        <p:nvSpPr>
          <p:cNvPr id="16" name="Rounded Rectangle 15"/>
          <p:cNvSpPr/>
          <p:nvPr/>
        </p:nvSpPr>
        <p:spPr>
          <a:xfrm>
            <a:off x="5486400" y="3474720"/>
            <a:ext cx="201168" cy="457200"/>
          </a:xfrm>
          <a:prstGeom prst="roundRect">
            <a:avLst>
              <a:gd name="adj" fmla="val 20000"/>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577840" y="3520439"/>
            <a:ext cx="2743200" cy="365760"/>
          </a:xfrm>
          <a:prstGeom prst="rect">
            <a:avLst/>
          </a:prstGeom>
          <a:noFill/>
        </p:spPr>
        <p:txBody>
          <a:bodyPr wrap="none">
            <a:spAutoFit/>
          </a:bodyPr>
          <a:lstStyle/>
          <a:p>
            <a:pPr>
              <a:defRPr sz="1400" b="1">
                <a:solidFill>
                  <a:srgbClr val="6C757D"/>
                </a:solidFill>
              </a:defRPr>
            </a:pPr>
            <a:r>
              <a:t>Marketing: $40K</a:t>
            </a:r>
          </a:p>
        </p:txBody>
      </p:sp>
      <p:sp>
        <p:nvSpPr>
          <p:cNvPr id="18" name="TextBox 17"/>
          <p:cNvSpPr txBox="1"/>
          <p:nvPr/>
        </p:nvSpPr>
        <p:spPr>
          <a:xfrm>
            <a:off x="10515600" y="3520439"/>
            <a:ext cx="914400" cy="365760"/>
          </a:xfrm>
          <a:prstGeom prst="rect">
            <a:avLst/>
          </a:prstGeom>
          <a:noFill/>
        </p:spPr>
        <p:txBody>
          <a:bodyPr wrap="none">
            <a:spAutoFit/>
          </a:bodyPr>
          <a:lstStyle/>
          <a:p>
            <a:pPr>
              <a:defRPr sz="1400">
                <a:solidFill>
                  <a:srgbClr val="6C757D"/>
                </a:solidFill>
              </a:defRPr>
            </a:pPr>
            <a:r>
              <a:t>4%</a:t>
            </a:r>
          </a:p>
        </p:txBody>
      </p:sp>
      <p:sp>
        <p:nvSpPr>
          <p:cNvPr id="19" name="Rounded Rectangle 18"/>
          <p:cNvSpPr/>
          <p:nvPr/>
        </p:nvSpPr>
        <p:spPr>
          <a:xfrm>
            <a:off x="5486400" y="4114800"/>
            <a:ext cx="553212" cy="457200"/>
          </a:xfrm>
          <a:prstGeom prst="roundRect">
            <a:avLst>
              <a:gd name="adj" fmla="val 20000"/>
            </a:avLst>
          </a:prstGeom>
          <a:solidFill>
            <a:srgbClr val="6C75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577840" y="4160520"/>
            <a:ext cx="2743200" cy="365760"/>
          </a:xfrm>
          <a:prstGeom prst="rect">
            <a:avLst/>
          </a:prstGeom>
          <a:noFill/>
        </p:spPr>
        <p:txBody>
          <a:bodyPr wrap="none">
            <a:spAutoFit/>
          </a:bodyPr>
          <a:lstStyle/>
          <a:p>
            <a:pPr>
              <a:defRPr sz="1400" b="1">
                <a:solidFill>
                  <a:srgbClr val="6C757D"/>
                </a:solidFill>
              </a:defRPr>
            </a:pPr>
            <a:r>
              <a:t>Other: $112K</a:t>
            </a:r>
          </a:p>
        </p:txBody>
      </p:sp>
      <p:sp>
        <p:nvSpPr>
          <p:cNvPr id="21" name="TextBox 20"/>
          <p:cNvSpPr txBox="1"/>
          <p:nvPr/>
        </p:nvSpPr>
        <p:spPr>
          <a:xfrm>
            <a:off x="10515600" y="4160520"/>
            <a:ext cx="914400" cy="365760"/>
          </a:xfrm>
          <a:prstGeom prst="rect">
            <a:avLst/>
          </a:prstGeom>
          <a:noFill/>
        </p:spPr>
        <p:txBody>
          <a:bodyPr wrap="none">
            <a:spAutoFit/>
          </a:bodyPr>
          <a:lstStyle/>
          <a:p>
            <a:pPr>
              <a:defRPr sz="1400">
                <a:solidFill>
                  <a:srgbClr val="6C757D"/>
                </a:solidFill>
              </a:defRPr>
            </a:pPr>
            <a:r>
              <a:t>11%</a:t>
            </a:r>
          </a:p>
        </p:txBody>
      </p:sp>
      <p:sp>
        <p:nvSpPr>
          <p:cNvPr id="22" name="Rounded Rectangle 21"/>
          <p:cNvSpPr/>
          <p:nvPr/>
        </p:nvSpPr>
        <p:spPr>
          <a:xfrm>
            <a:off x="731520" y="3931920"/>
            <a:ext cx="10789920" cy="2286000"/>
          </a:xfrm>
          <a:prstGeom prst="roundRect">
            <a:avLst>
              <a:gd name="adj" fmla="val 5000"/>
            </a:avLst>
          </a:prstGeom>
          <a:solidFill>
            <a:srgbClr val="E8F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31520" y="4114800"/>
            <a:ext cx="10789920" cy="365760"/>
          </a:xfrm>
          <a:prstGeom prst="rect">
            <a:avLst/>
          </a:prstGeom>
          <a:noFill/>
        </p:spPr>
        <p:txBody>
          <a:bodyPr wrap="none">
            <a:spAutoFit/>
          </a:bodyPr>
          <a:lstStyle/>
          <a:p>
            <a:pPr algn="ctr">
              <a:defRPr sz="1600" b="1">
                <a:solidFill>
                  <a:srgbClr val="2ECC71"/>
                </a:solidFill>
              </a:defRPr>
            </a:pPr>
            <a:r>
              <a:t>WHAT $1M ENABLES</a:t>
            </a:r>
          </a:p>
        </p:txBody>
      </p:sp>
      <p:sp>
        <p:nvSpPr>
          <p:cNvPr id="24" name="TextBox 23"/>
          <p:cNvSpPr txBox="1"/>
          <p:nvPr/>
        </p:nvSpPr>
        <p:spPr>
          <a:xfrm>
            <a:off x="1097280" y="4572000"/>
            <a:ext cx="2286000" cy="731520"/>
          </a:xfrm>
          <a:prstGeom prst="rect">
            <a:avLst/>
          </a:prstGeom>
          <a:noFill/>
        </p:spPr>
        <p:txBody>
          <a:bodyPr wrap="none">
            <a:spAutoFit/>
          </a:bodyPr>
          <a:lstStyle/>
          <a:p>
            <a:pPr algn="ctr">
              <a:defRPr sz="4400" b="1">
                <a:solidFill>
                  <a:srgbClr val="007BC0"/>
                </a:solidFill>
              </a:defRPr>
            </a:pPr>
            <a:r>
              <a:t>200</a:t>
            </a:r>
          </a:p>
        </p:txBody>
      </p:sp>
      <p:sp>
        <p:nvSpPr>
          <p:cNvPr id="25" name="TextBox 24"/>
          <p:cNvSpPr txBox="1"/>
          <p:nvPr/>
        </p:nvSpPr>
        <p:spPr>
          <a:xfrm>
            <a:off x="1097280" y="5303520"/>
            <a:ext cx="2286000" cy="731520"/>
          </a:xfrm>
          <a:prstGeom prst="rect">
            <a:avLst/>
          </a:prstGeom>
          <a:noFill/>
        </p:spPr>
        <p:txBody>
          <a:bodyPr wrap="none">
            <a:spAutoFit/>
          </a:bodyPr>
          <a:lstStyle/>
          <a:p>
            <a:pPr algn="ctr">
              <a:defRPr sz="1400">
                <a:solidFill>
                  <a:srgbClr val="6C757D"/>
                </a:solidFill>
              </a:defRPr>
            </a:pPr>
            <a:r>
              <a:t>campaigns</a:t>
            </a:r>
            <a:br/>
            <a:r>
              <a:t>served free</a:t>
            </a:r>
          </a:p>
        </p:txBody>
      </p:sp>
      <p:sp>
        <p:nvSpPr>
          <p:cNvPr id="26" name="TextBox 25"/>
          <p:cNvSpPr txBox="1"/>
          <p:nvPr/>
        </p:nvSpPr>
        <p:spPr>
          <a:xfrm>
            <a:off x="3840480" y="4572000"/>
            <a:ext cx="2286000" cy="731520"/>
          </a:xfrm>
          <a:prstGeom prst="rect">
            <a:avLst/>
          </a:prstGeom>
          <a:noFill/>
        </p:spPr>
        <p:txBody>
          <a:bodyPr wrap="none">
            <a:spAutoFit/>
          </a:bodyPr>
          <a:lstStyle/>
          <a:p>
            <a:pPr algn="ctr">
              <a:defRPr sz="4400" b="1">
                <a:solidFill>
                  <a:srgbClr val="007BC0"/>
                </a:solidFill>
              </a:defRPr>
            </a:pPr>
            <a:r>
              <a:t>5</a:t>
            </a:r>
          </a:p>
        </p:txBody>
      </p:sp>
      <p:sp>
        <p:nvSpPr>
          <p:cNvPr id="27" name="TextBox 26"/>
          <p:cNvSpPr txBox="1"/>
          <p:nvPr/>
        </p:nvSpPr>
        <p:spPr>
          <a:xfrm>
            <a:off x="3840480" y="5303520"/>
            <a:ext cx="2286000" cy="731520"/>
          </a:xfrm>
          <a:prstGeom prst="rect">
            <a:avLst/>
          </a:prstGeom>
          <a:noFill/>
        </p:spPr>
        <p:txBody>
          <a:bodyPr wrap="none">
            <a:spAutoFit/>
          </a:bodyPr>
          <a:lstStyle/>
          <a:p>
            <a:pPr algn="ctr">
              <a:defRPr sz="1400">
                <a:solidFill>
                  <a:srgbClr val="6C757D"/>
                </a:solidFill>
              </a:defRPr>
            </a:pPr>
            <a:r>
              <a:t>FTEs</a:t>
            </a:r>
            <a:br/>
            <a:r>
              <a:t>hired</a:t>
            </a:r>
          </a:p>
        </p:txBody>
      </p:sp>
      <p:sp>
        <p:nvSpPr>
          <p:cNvPr id="28" name="TextBox 27"/>
          <p:cNvSpPr txBox="1"/>
          <p:nvPr/>
        </p:nvSpPr>
        <p:spPr>
          <a:xfrm>
            <a:off x="6583680" y="4572000"/>
            <a:ext cx="2286000" cy="731520"/>
          </a:xfrm>
          <a:prstGeom prst="rect">
            <a:avLst/>
          </a:prstGeom>
          <a:noFill/>
        </p:spPr>
        <p:txBody>
          <a:bodyPr wrap="none">
            <a:spAutoFit/>
          </a:bodyPr>
          <a:lstStyle/>
          <a:p>
            <a:pPr algn="ctr">
              <a:defRPr sz="4400" b="1">
                <a:solidFill>
                  <a:srgbClr val="007BC0"/>
                </a:solidFill>
              </a:defRPr>
            </a:pPr>
            <a:r>
              <a:t>4</a:t>
            </a:r>
          </a:p>
        </p:txBody>
      </p:sp>
      <p:sp>
        <p:nvSpPr>
          <p:cNvPr id="29" name="TextBox 28"/>
          <p:cNvSpPr txBox="1"/>
          <p:nvPr/>
        </p:nvSpPr>
        <p:spPr>
          <a:xfrm>
            <a:off x="6583680" y="5303520"/>
            <a:ext cx="2286000" cy="731520"/>
          </a:xfrm>
          <a:prstGeom prst="rect">
            <a:avLst/>
          </a:prstGeom>
          <a:noFill/>
        </p:spPr>
        <p:txBody>
          <a:bodyPr wrap="none">
            <a:spAutoFit/>
          </a:bodyPr>
          <a:lstStyle/>
          <a:p>
            <a:pPr algn="ctr">
              <a:defRPr sz="1400">
                <a:solidFill>
                  <a:srgbClr val="6C757D"/>
                </a:solidFill>
              </a:defRPr>
            </a:pPr>
            <a:r>
              <a:t>products</a:t>
            </a:r>
            <a:br/>
            <a:r>
              <a:t>launched</a:t>
            </a:r>
          </a:p>
        </p:txBody>
      </p:sp>
      <p:sp>
        <p:nvSpPr>
          <p:cNvPr id="30" name="TextBox 29"/>
          <p:cNvSpPr txBox="1"/>
          <p:nvPr/>
        </p:nvSpPr>
        <p:spPr>
          <a:xfrm>
            <a:off x="9326880" y="4572000"/>
            <a:ext cx="2286000" cy="731520"/>
          </a:xfrm>
          <a:prstGeom prst="rect">
            <a:avLst/>
          </a:prstGeom>
          <a:noFill/>
        </p:spPr>
        <p:txBody>
          <a:bodyPr wrap="none">
            <a:spAutoFit/>
          </a:bodyPr>
          <a:lstStyle/>
          <a:p>
            <a:pPr algn="ctr">
              <a:defRPr sz="4400" b="1">
                <a:solidFill>
                  <a:srgbClr val="007BC0"/>
                </a:solidFill>
              </a:defRPr>
            </a:pPr>
            <a:r>
              <a:t>$850K</a:t>
            </a:r>
          </a:p>
        </p:txBody>
      </p:sp>
      <p:sp>
        <p:nvSpPr>
          <p:cNvPr id="31" name="TextBox 30"/>
          <p:cNvSpPr txBox="1"/>
          <p:nvPr/>
        </p:nvSpPr>
        <p:spPr>
          <a:xfrm>
            <a:off x="9326880" y="5303520"/>
            <a:ext cx="2286000" cy="731520"/>
          </a:xfrm>
          <a:prstGeom prst="rect">
            <a:avLst/>
          </a:prstGeom>
          <a:noFill/>
        </p:spPr>
        <p:txBody>
          <a:bodyPr wrap="none">
            <a:spAutoFit/>
          </a:bodyPr>
          <a:lstStyle/>
          <a:p>
            <a:pPr algn="ctr">
              <a:defRPr sz="1400">
                <a:solidFill>
                  <a:srgbClr val="6C757D"/>
                </a:solidFill>
              </a:defRPr>
            </a:pPr>
            <a:r>
              <a:t>surplus</a:t>
            </a:r>
            <a:br/>
            <a:r>
              <a:t>by 2028</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77295" cy="731520"/>
          </a:xfrm>
          <a:prstGeom prst="rect">
            <a:avLst/>
          </a:prstGeom>
          <a:noFill/>
        </p:spPr>
        <p:txBody>
          <a:bodyPr wrap="none">
            <a:spAutoFit/>
          </a:bodyPr>
          <a:lstStyle/>
          <a:p>
            <a:pPr>
              <a:defRPr sz="4000" b="1">
                <a:solidFill>
                  <a:srgbClr val="1A365D"/>
                </a:solidFill>
              </a:defRPr>
            </a:pPr>
            <a:r>
              <a:t>This Is What You Were Built For</a:t>
            </a:r>
          </a:p>
        </p:txBody>
      </p:sp>
      <p:sp>
        <p:nvSpPr>
          <p:cNvPr id="3" name="Rounded Rectangle 2"/>
          <p:cNvSpPr/>
          <p:nvPr/>
        </p:nvSpPr>
        <p:spPr>
          <a:xfrm>
            <a:off x="731520" y="1097280"/>
            <a:ext cx="10789920" cy="1188720"/>
          </a:xfrm>
          <a:prstGeom prst="roundRect">
            <a:avLst>
              <a:gd name="adj" fmla="val 10000"/>
            </a:avLst>
          </a:prstGeom>
          <a:solidFill>
            <a:srgbClr val="E3F2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280160"/>
            <a:ext cx="10789920" cy="548640"/>
          </a:xfrm>
          <a:prstGeom prst="rect">
            <a:avLst/>
          </a:prstGeom>
          <a:noFill/>
        </p:spPr>
        <p:txBody>
          <a:bodyPr wrap="none">
            <a:spAutoFit/>
          </a:bodyPr>
          <a:lstStyle/>
          <a:p>
            <a:pPr algn="ctr">
              <a:defRPr sz="2200" i="1">
                <a:solidFill>
                  <a:srgbClr val="1A365D"/>
                </a:solidFill>
              </a:defRPr>
            </a:pPr>
            <a:r>
              <a:t>"Technology is changing politics faster than politics is adapting to technology."</a:t>
            </a:r>
          </a:p>
        </p:txBody>
      </p:sp>
      <p:sp>
        <p:nvSpPr>
          <p:cNvPr id="5" name="TextBox 4"/>
          <p:cNvSpPr txBox="1"/>
          <p:nvPr/>
        </p:nvSpPr>
        <p:spPr>
          <a:xfrm>
            <a:off x="731520" y="1828800"/>
            <a:ext cx="10789920" cy="365760"/>
          </a:xfrm>
          <a:prstGeom prst="rect">
            <a:avLst/>
          </a:prstGeom>
          <a:noFill/>
        </p:spPr>
        <p:txBody>
          <a:bodyPr wrap="none">
            <a:spAutoFit/>
          </a:bodyPr>
          <a:lstStyle/>
          <a:p>
            <a:pPr algn="ctr">
              <a:defRPr sz="1400">
                <a:solidFill>
                  <a:srgbClr val="007BC0"/>
                </a:solidFill>
              </a:defRPr>
            </a:pPr>
            <a:r>
              <a:t>— Investing In US founding principle</a:t>
            </a:r>
          </a:p>
        </p:txBody>
      </p:sp>
      <p:sp>
        <p:nvSpPr>
          <p:cNvPr id="6" name="TextBox 5"/>
          <p:cNvSpPr txBox="1"/>
          <p:nvPr/>
        </p:nvSpPr>
        <p:spPr>
          <a:xfrm>
            <a:off x="731520" y="2560320"/>
            <a:ext cx="10789920" cy="365760"/>
          </a:xfrm>
          <a:prstGeom prst="rect">
            <a:avLst/>
          </a:prstGeom>
          <a:noFill/>
        </p:spPr>
        <p:txBody>
          <a:bodyPr wrap="none">
            <a:spAutoFit/>
          </a:bodyPr>
          <a:lstStyle/>
          <a:p>
            <a:pPr algn="ctr">
              <a:defRPr sz="1600" b="1">
                <a:solidFill>
                  <a:srgbClr val="1A365D"/>
                </a:solidFill>
              </a:defRPr>
            </a:pPr>
            <a:r>
              <a:t>KYANOS COMPLETES YOUR PORTFOLIO</a:t>
            </a:r>
          </a:p>
        </p:txBody>
      </p:sp>
      <p:sp>
        <p:nvSpPr>
          <p:cNvPr id="7" name="Rounded Rectangle 6"/>
          <p:cNvSpPr/>
          <p:nvPr/>
        </p:nvSpPr>
        <p:spPr>
          <a:xfrm>
            <a:off x="914400" y="3017520"/>
            <a:ext cx="2743200" cy="731520"/>
          </a:xfrm>
          <a:prstGeom prst="roundRect">
            <a:avLst>
              <a:gd name="adj" fmla="val 15000"/>
            </a:avLst>
          </a:prstGeom>
          <a:solidFill>
            <a:srgbClr val="4AB8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3108960"/>
            <a:ext cx="2743200" cy="274320"/>
          </a:xfrm>
          <a:prstGeom prst="rect">
            <a:avLst/>
          </a:prstGeom>
          <a:noFill/>
        </p:spPr>
        <p:txBody>
          <a:bodyPr wrap="none">
            <a:spAutoFit/>
          </a:bodyPr>
          <a:lstStyle/>
          <a:p>
            <a:pPr algn="ctr">
              <a:defRPr sz="1400" b="1">
                <a:solidFill>
                  <a:srgbClr val="FFFFFF"/>
                </a:solidFill>
              </a:defRPr>
            </a:pPr>
            <a:r>
              <a:t>Vote.org</a:t>
            </a:r>
          </a:p>
        </p:txBody>
      </p:sp>
      <p:sp>
        <p:nvSpPr>
          <p:cNvPr id="9" name="TextBox 8"/>
          <p:cNvSpPr txBox="1"/>
          <p:nvPr/>
        </p:nvSpPr>
        <p:spPr>
          <a:xfrm>
            <a:off x="914400" y="3429000"/>
            <a:ext cx="2743200" cy="274320"/>
          </a:xfrm>
          <a:prstGeom prst="rect">
            <a:avLst/>
          </a:prstGeom>
          <a:noFill/>
        </p:spPr>
        <p:txBody>
          <a:bodyPr wrap="none">
            <a:spAutoFit/>
          </a:bodyPr>
          <a:lstStyle/>
          <a:p>
            <a:pPr algn="ctr">
              <a:defRPr sz="1100">
                <a:solidFill>
                  <a:srgbClr val="FFFFFF"/>
                </a:solidFill>
              </a:defRPr>
            </a:pPr>
            <a:r>
              <a:t>Voter registration</a:t>
            </a:r>
          </a:p>
        </p:txBody>
      </p:sp>
      <p:sp>
        <p:nvSpPr>
          <p:cNvPr id="10" name="Right Arrow 9"/>
          <p:cNvSpPr/>
          <p:nvPr/>
        </p:nvSpPr>
        <p:spPr>
          <a:xfrm>
            <a:off x="3840480" y="3246120"/>
            <a:ext cx="457200" cy="274320"/>
          </a:xfrm>
          <a:prstGeom prst="rightArrow">
            <a:avLst/>
          </a:prstGeom>
          <a:solidFill>
            <a:srgbClr val="6C75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0" y="3200400"/>
            <a:ext cx="6400800" cy="365760"/>
          </a:xfrm>
          <a:prstGeom prst="rect">
            <a:avLst/>
          </a:prstGeom>
          <a:noFill/>
        </p:spPr>
        <p:txBody>
          <a:bodyPr wrap="none">
            <a:spAutoFit/>
          </a:bodyPr>
          <a:lstStyle/>
          <a:p>
            <a:pPr>
              <a:defRPr sz="1400">
                <a:solidFill>
                  <a:srgbClr val="2ECC71"/>
                </a:solidFill>
              </a:defRPr>
            </a:pPr>
            <a:r>
              <a:t>→ We ensure they find accurate info</a:t>
            </a:r>
          </a:p>
        </p:txBody>
      </p:sp>
      <p:sp>
        <p:nvSpPr>
          <p:cNvPr id="12" name="Rounded Rectangle 11"/>
          <p:cNvSpPr/>
          <p:nvPr/>
        </p:nvSpPr>
        <p:spPr>
          <a:xfrm>
            <a:off x="914400" y="3931920"/>
            <a:ext cx="2743200" cy="731520"/>
          </a:xfrm>
          <a:prstGeom prst="roundRect">
            <a:avLst>
              <a:gd name="adj" fmla="val 15000"/>
            </a:avLst>
          </a:prstGeom>
          <a:solidFill>
            <a:srgbClr val="4AB8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4023359"/>
            <a:ext cx="2743200" cy="274320"/>
          </a:xfrm>
          <a:prstGeom prst="rect">
            <a:avLst/>
          </a:prstGeom>
          <a:noFill/>
        </p:spPr>
        <p:txBody>
          <a:bodyPr wrap="none">
            <a:spAutoFit/>
          </a:bodyPr>
          <a:lstStyle/>
          <a:p>
            <a:pPr algn="ctr">
              <a:defRPr sz="1400" b="1">
                <a:solidFill>
                  <a:srgbClr val="FFFFFF"/>
                </a:solidFill>
              </a:defRPr>
            </a:pPr>
            <a:r>
              <a:t>News for Democracy</a:t>
            </a:r>
          </a:p>
        </p:txBody>
      </p:sp>
      <p:sp>
        <p:nvSpPr>
          <p:cNvPr id="14" name="TextBox 13"/>
          <p:cNvSpPr txBox="1"/>
          <p:nvPr/>
        </p:nvSpPr>
        <p:spPr>
          <a:xfrm>
            <a:off x="914400" y="4343400"/>
            <a:ext cx="2743200" cy="274320"/>
          </a:xfrm>
          <a:prstGeom prst="rect">
            <a:avLst/>
          </a:prstGeom>
          <a:noFill/>
        </p:spPr>
        <p:txBody>
          <a:bodyPr wrap="none">
            <a:spAutoFit/>
          </a:bodyPr>
          <a:lstStyle/>
          <a:p>
            <a:pPr algn="ctr">
              <a:defRPr sz="1100">
                <a:solidFill>
                  <a:srgbClr val="FFFFFF"/>
                </a:solidFill>
              </a:defRPr>
            </a:pPr>
            <a:r>
              <a:t>Media ecosystem</a:t>
            </a:r>
          </a:p>
        </p:txBody>
      </p:sp>
      <p:sp>
        <p:nvSpPr>
          <p:cNvPr id="15" name="Right Arrow 14"/>
          <p:cNvSpPr/>
          <p:nvPr/>
        </p:nvSpPr>
        <p:spPr>
          <a:xfrm>
            <a:off x="3840480" y="4160520"/>
            <a:ext cx="457200" cy="274320"/>
          </a:xfrm>
          <a:prstGeom prst="rightArrow">
            <a:avLst/>
          </a:prstGeom>
          <a:solidFill>
            <a:srgbClr val="6C75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0" y="4114800"/>
            <a:ext cx="6400800" cy="365760"/>
          </a:xfrm>
          <a:prstGeom prst="rect">
            <a:avLst/>
          </a:prstGeom>
          <a:noFill/>
        </p:spPr>
        <p:txBody>
          <a:bodyPr wrap="none">
            <a:spAutoFit/>
          </a:bodyPr>
          <a:lstStyle/>
          <a:p>
            <a:pPr>
              <a:defRPr sz="1400">
                <a:solidFill>
                  <a:srgbClr val="2ECC71"/>
                </a:solidFill>
              </a:defRPr>
            </a:pPr>
            <a:r>
              <a:t>→ We ensure AI surfaces accurate news</a:t>
            </a:r>
          </a:p>
        </p:txBody>
      </p:sp>
      <p:sp>
        <p:nvSpPr>
          <p:cNvPr id="17" name="Rounded Rectangle 16"/>
          <p:cNvSpPr/>
          <p:nvPr/>
        </p:nvSpPr>
        <p:spPr>
          <a:xfrm>
            <a:off x="914400" y="4846320"/>
            <a:ext cx="2743200" cy="731520"/>
          </a:xfrm>
          <a:prstGeom prst="roundRect">
            <a:avLst>
              <a:gd name="adj" fmla="val 15000"/>
            </a:avLst>
          </a:prstGeom>
          <a:solidFill>
            <a:srgbClr val="4AB8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4400" y="4937759"/>
            <a:ext cx="2743200" cy="274320"/>
          </a:xfrm>
          <a:prstGeom prst="rect">
            <a:avLst/>
          </a:prstGeom>
          <a:noFill/>
        </p:spPr>
        <p:txBody>
          <a:bodyPr wrap="none">
            <a:spAutoFit/>
          </a:bodyPr>
          <a:lstStyle/>
          <a:p>
            <a:pPr algn="ctr">
              <a:defRPr sz="1400" b="1">
                <a:solidFill>
                  <a:srgbClr val="FFFFFF"/>
                </a:solidFill>
              </a:defRPr>
            </a:pPr>
            <a:r>
              <a:t>Run for Something</a:t>
            </a:r>
          </a:p>
        </p:txBody>
      </p:sp>
      <p:sp>
        <p:nvSpPr>
          <p:cNvPr id="19" name="TextBox 18"/>
          <p:cNvSpPr txBox="1"/>
          <p:nvPr/>
        </p:nvSpPr>
        <p:spPr>
          <a:xfrm>
            <a:off x="914400" y="5257800"/>
            <a:ext cx="2743200" cy="274320"/>
          </a:xfrm>
          <a:prstGeom prst="rect">
            <a:avLst/>
          </a:prstGeom>
          <a:noFill/>
        </p:spPr>
        <p:txBody>
          <a:bodyPr wrap="none">
            <a:spAutoFit/>
          </a:bodyPr>
          <a:lstStyle/>
          <a:p>
            <a:pPr algn="ctr">
              <a:defRPr sz="1100">
                <a:solidFill>
                  <a:srgbClr val="FFFFFF"/>
                </a:solidFill>
              </a:defRPr>
            </a:pPr>
            <a:r>
              <a:t>Candidate pipeline</a:t>
            </a:r>
          </a:p>
        </p:txBody>
      </p:sp>
      <p:sp>
        <p:nvSpPr>
          <p:cNvPr id="20" name="Right Arrow 19"/>
          <p:cNvSpPr/>
          <p:nvPr/>
        </p:nvSpPr>
        <p:spPr>
          <a:xfrm>
            <a:off x="3840480" y="5074920"/>
            <a:ext cx="457200" cy="274320"/>
          </a:xfrm>
          <a:prstGeom prst="rightArrow">
            <a:avLst/>
          </a:prstGeom>
          <a:solidFill>
            <a:srgbClr val="6C75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72000" y="5029200"/>
            <a:ext cx="6400800" cy="365760"/>
          </a:xfrm>
          <a:prstGeom prst="rect">
            <a:avLst/>
          </a:prstGeom>
          <a:noFill/>
        </p:spPr>
        <p:txBody>
          <a:bodyPr wrap="none">
            <a:spAutoFit/>
          </a:bodyPr>
          <a:lstStyle/>
          <a:p>
            <a:pPr>
              <a:defRPr sz="1400">
                <a:solidFill>
                  <a:srgbClr val="2ECC71"/>
                </a:solidFill>
              </a:defRPr>
            </a:pPr>
            <a:r>
              <a:t>→ We help them compete in AI</a:t>
            </a:r>
          </a:p>
        </p:txBody>
      </p:sp>
      <p:sp>
        <p:nvSpPr>
          <p:cNvPr id="22" name="Rounded Rectangle 21"/>
          <p:cNvSpPr/>
          <p:nvPr/>
        </p:nvSpPr>
        <p:spPr>
          <a:xfrm>
            <a:off x="731520" y="5669280"/>
            <a:ext cx="10789920" cy="914400"/>
          </a:xfrm>
          <a:prstGeom prst="roundRect">
            <a:avLst>
              <a:gd name="adj" fmla="val 15000"/>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31520" y="5852160"/>
            <a:ext cx="10789920" cy="548640"/>
          </a:xfrm>
          <a:prstGeom prst="rect">
            <a:avLst/>
          </a:prstGeom>
          <a:noFill/>
        </p:spPr>
        <p:txBody>
          <a:bodyPr wrap="none">
            <a:spAutoFit/>
          </a:bodyPr>
          <a:lstStyle/>
          <a:p>
            <a:pPr algn="ctr">
              <a:defRPr sz="2400" b="1">
                <a:solidFill>
                  <a:srgbClr val="FFFFFF"/>
                </a:solidFill>
              </a:defRPr>
            </a:pPr>
            <a:r>
              <a:t>Help us keep progressives visible in the AI era.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